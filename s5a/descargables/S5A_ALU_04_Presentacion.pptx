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extraordinaria, agregada por la publicación del 24 de septiembre de 2026 en el DOF.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La sesión 6 se recorre al 6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663CC"/>
        </a:solidFill>
      </p:bgPr>
    </p:bg>
    <p:spTree>
      <p:nvGrpSpPr>
        <p:cNvPr id="1" name=""/>
        <p:cNvGrpSpPr/>
        <p:nvPr/>
      </p:nvGrpSpPr>
      <p:grpSpPr>
        <a:xfrm>
          <a:off x="0" y="0"/>
          <a:ext cx="0" cy="0"/>
          <a:chOff x="0" y="0"/>
          <a:chExt cx="0" cy="0"/>
        </a:xfrm>
      </p:grpSpPr>
      <p:sp>
        <p:nvSpPr>
          <p:cNvPr id="2" name="Shape 0"/>
          <p:cNvSpPr/>
          <p:nvPr/>
        </p:nvSpPr>
        <p:spPr>
          <a:xfrm>
            <a:off x="822960" y="1078992"/>
            <a:ext cx="1371600" cy="50292"/>
          </a:xfrm>
          <a:prstGeom prst="rect">
            <a:avLst/>
          </a:prstGeom>
          <a:solidFill>
            <a:srgbClr val="87D895"/>
          </a:solidFill>
          <a:ln/>
        </p:spPr>
      </p:sp>
      <p:sp>
        <p:nvSpPr>
          <p:cNvPr id="3" name="Text 1"/>
          <p:cNvSpPr txBox="1"/>
          <p:nvPr/>
        </p:nvSpPr>
        <p:spPr>
          <a:xfrm>
            <a:off x="822960" y="1280160"/>
            <a:ext cx="7680960" cy="310896"/>
          </a:xfrm>
          <a:prstGeom prst="rect">
            <a:avLst/>
          </a:prstGeom>
          <a:noFill/>
          <a:ln/>
        </p:spPr>
        <p:txBody>
          <a:bodyPr wrap="square" lIns="0" tIns="0" rIns="0" bIns="0" rtlCol="0" anchor="ctr"/>
          <a:lstStyle/>
          <a:p>
            <a:pPr indent="0" marL="0">
              <a:buNone/>
            </a:pPr>
            <a:r>
              <a:rPr lang="en-US" sz="1200" b="1" spc="150" kern="0" dirty="0">
                <a:solidFill>
                  <a:srgbClr val="FFFFFF"/>
                </a:solidFill>
                <a:latin typeface="Arial" pitchFamily="34" charset="0"/>
                <a:ea typeface="Arial" pitchFamily="34" charset="-122"/>
                <a:cs typeface="Arial" pitchFamily="34" charset="-120"/>
              </a:rPr>
              <a:t>TALLER ANTILAVADO 360 · DE LA LEY A LA PRÁCTICA</a:t>
            </a:r>
            <a:endParaRPr lang="en-US" sz="1200" dirty="0"/>
          </a:p>
        </p:txBody>
      </p:sp>
      <p:sp>
        <p:nvSpPr>
          <p:cNvPr id="4" name="Text 2"/>
          <p:cNvSpPr txBox="1"/>
          <p:nvPr/>
        </p:nvSpPr>
        <p:spPr>
          <a:xfrm>
            <a:off x="822960" y="1719072"/>
            <a:ext cx="7680960" cy="1463040"/>
          </a:xfrm>
          <a:prstGeom prst="rect">
            <a:avLst/>
          </a:prstGeom>
          <a:noFill/>
          <a:ln/>
        </p:spPr>
        <p:txBody>
          <a:bodyPr wrap="square" lIns="0" tIns="0" rIns="0" bIns="0" rtlCol="0" anchor="ctr"/>
          <a:lstStyle/>
          <a:p>
            <a:pPr indent="0" marL="0">
              <a:lnSpc>
                <a:spcPct val="118000"/>
              </a:lnSpc>
              <a:buNone/>
            </a:pPr>
            <a:r>
              <a:rPr lang="en-US" sz="3400" b="1" dirty="0">
                <a:solidFill>
                  <a:srgbClr val="FFFFFF"/>
                </a:solidFill>
                <a:latin typeface="Arial" pitchFamily="34" charset="0"/>
                <a:ea typeface="Arial" pitchFamily="34" charset="-122"/>
                <a:cs typeface="Arial" pitchFamily="34" charset="-120"/>
              </a:rPr>
              <a:t>Los Anexos:</a:t>
            </a:r>
            <a:endParaRPr lang="en-US" sz="3400" dirty="0"/>
          </a:p>
          <a:p>
            <a:pPr indent="0" marL="0">
              <a:lnSpc>
                <a:spcPct val="118000"/>
              </a:lnSpc>
              <a:buNone/>
            </a:pPr>
            <a:r>
              <a:rPr lang="en-US" sz="3400" b="1" dirty="0">
                <a:solidFill>
                  <a:srgbClr val="FFFFFF"/>
                </a:solidFill>
                <a:latin typeface="Arial" pitchFamily="34" charset="0"/>
                <a:ea typeface="Arial" pitchFamily="34" charset="-122"/>
                <a:cs typeface="Arial" pitchFamily="34" charset="-120"/>
              </a:rPr>
              <a:t>los nuevos formatos de Avisos</a:t>
            </a:r>
            <a:endParaRPr lang="en-US" sz="3400" dirty="0"/>
          </a:p>
        </p:txBody>
      </p:sp>
      <p:sp>
        <p:nvSpPr>
          <p:cNvPr id="5" name="Text 3"/>
          <p:cNvSpPr txBox="1"/>
          <p:nvPr/>
        </p:nvSpPr>
        <p:spPr>
          <a:xfrm>
            <a:off x="822960" y="3291840"/>
            <a:ext cx="768096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Sesión extraordinaria 5.A · Martes 29 de septiembre de 2026 · 16:00 a 18:00 h</a:t>
            </a:r>
            <a:endParaRPr lang="en-US" sz="1300" dirty="0"/>
          </a:p>
        </p:txBody>
      </p:sp>
      <p:sp>
        <p:nvSpPr>
          <p:cNvPr id="6" name="Text 4"/>
          <p:cNvSpPr txBox="1"/>
          <p:nvPr/>
        </p:nvSpPr>
        <p:spPr>
          <a:xfrm>
            <a:off x="822960" y="3630168"/>
            <a:ext cx="768096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Maribel Vázquez Menchaca · 360Educa · GMC360 · ASONOC</a:t>
            </a:r>
            <a:endParaRPr lang="en-US" sz="1100" dirty="0"/>
          </a:p>
        </p:txBody>
      </p:sp>
      <p:sp>
        <p:nvSpPr>
          <p:cNvPr id="7" name="Shape 5"/>
          <p:cNvSpPr/>
          <p:nvPr/>
        </p:nvSpPr>
        <p:spPr>
          <a:xfrm>
            <a:off x="0" y="4846320"/>
            <a:ext cx="9144000" cy="13716"/>
          </a:xfrm>
          <a:prstGeom prst="rect">
            <a:avLst/>
          </a:prstGeom>
          <a:solidFill>
            <a:srgbClr val="C79AE0"/>
          </a:solidFill>
          <a:ln/>
        </p:spPr>
      </p:sp>
      <p:sp>
        <p:nvSpPr>
          <p:cNvPr id="8" name="Text 6"/>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9" name="Text 7"/>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POR QUÉ HAY UNA SESIÓN MÁS</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24 de septiembre cambió el examen</a:t>
            </a:r>
            <a:endParaRPr lang="en-US" sz="2700" dirty="0"/>
          </a:p>
        </p:txBody>
      </p:sp>
      <p:sp>
        <p:nvSpPr>
          <p:cNvPr id="9" name="Shape 7"/>
          <p:cNvSpPr/>
          <p:nvPr/>
        </p:nvSpPr>
        <p:spPr>
          <a:xfrm>
            <a:off x="502920" y="1645920"/>
            <a:ext cx="2618232" cy="1265428"/>
          </a:xfrm>
          <a:prstGeom prst="rect">
            <a:avLst/>
          </a:prstGeom>
          <a:solidFill>
            <a:srgbClr val="FFFFFF"/>
          </a:solidFill>
          <a:ln w="6350">
            <a:solidFill>
              <a:srgbClr val="747975"/>
            </a:solidFill>
            <a:prstDash val="solid"/>
          </a:ln>
        </p:spPr>
      </p:sp>
      <p:sp>
        <p:nvSpPr>
          <p:cNvPr id="10" name="Text 8"/>
          <p:cNvSpPr txBox="1"/>
          <p:nvPr/>
        </p:nvSpPr>
        <p:spPr>
          <a:xfrm>
            <a:off x="649224" y="1792224"/>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Qué se publicó</a:t>
            </a:r>
            <a:endParaRPr lang="en-US" sz="1150" dirty="0"/>
          </a:p>
        </p:txBody>
      </p:sp>
      <p:sp>
        <p:nvSpPr>
          <p:cNvPr id="11" name="Text 9"/>
          <p:cNvSpPr txBox="1"/>
          <p:nvPr/>
        </p:nvSpPr>
        <p:spPr>
          <a:xfrm>
            <a:off x="649224" y="2103120"/>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Dos Resoluciones en el Diario Oficial: los formatos de Avisos e Informes —22 anexos, 4,182 campos— y el formato de alta y registro.</a:t>
            </a:r>
            <a:endParaRPr lang="en-US" sz="950" dirty="0"/>
          </a:p>
        </p:txBody>
      </p:sp>
      <p:sp>
        <p:nvSpPr>
          <p:cNvPr id="12" name="Shape 10"/>
          <p:cNvSpPr/>
          <p:nvPr/>
        </p:nvSpPr>
        <p:spPr>
          <a:xfrm>
            <a:off x="3262884" y="1645920"/>
            <a:ext cx="2618232" cy="1265428"/>
          </a:xfrm>
          <a:prstGeom prst="rect">
            <a:avLst/>
          </a:prstGeom>
          <a:solidFill>
            <a:srgbClr val="FFFFFF"/>
          </a:solidFill>
          <a:ln w="6350">
            <a:solidFill>
              <a:srgbClr val="747975"/>
            </a:solidFill>
            <a:prstDash val="solid"/>
          </a:ln>
        </p:spPr>
      </p:sp>
      <p:sp>
        <p:nvSpPr>
          <p:cNvPr id="13" name="Text 11"/>
          <p:cNvSpPr txBox="1"/>
          <p:nvPr/>
        </p:nvSpPr>
        <p:spPr>
          <a:xfrm>
            <a:off x="3409188" y="1792224"/>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A qué sustituyen</a:t>
            </a:r>
            <a:endParaRPr lang="en-US" sz="1150" dirty="0"/>
          </a:p>
        </p:txBody>
      </p:sp>
      <p:sp>
        <p:nvSpPr>
          <p:cNvPr id="14" name="Text 12"/>
          <p:cNvSpPr txBox="1"/>
          <p:nvPr/>
        </p:nvSpPr>
        <p:spPr>
          <a:xfrm>
            <a:off x="3409188" y="2103120"/>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A los formatos de 2013 con sus reformas hasta el 24 de mayo de 2021: 3,501 campos en 20 anexos. Todo lo que usamos hoy.</a:t>
            </a:r>
            <a:endParaRPr lang="en-US" sz="950" dirty="0"/>
          </a:p>
        </p:txBody>
      </p:sp>
      <p:sp>
        <p:nvSpPr>
          <p:cNvPr id="15" name="Shape 13"/>
          <p:cNvSpPr/>
          <p:nvPr/>
        </p:nvSpPr>
        <p:spPr>
          <a:xfrm>
            <a:off x="6022848" y="1645920"/>
            <a:ext cx="2618232" cy="1265428"/>
          </a:xfrm>
          <a:prstGeom prst="rect">
            <a:avLst/>
          </a:prstGeom>
          <a:solidFill>
            <a:srgbClr val="FFFFFF"/>
          </a:solidFill>
          <a:ln w="6350">
            <a:solidFill>
              <a:srgbClr val="747975"/>
            </a:solidFill>
            <a:prstDash val="solid"/>
          </a:ln>
        </p:spPr>
      </p:sp>
      <p:sp>
        <p:nvSpPr>
          <p:cNvPr id="16" name="Text 14"/>
          <p:cNvSpPr txBox="1"/>
          <p:nvPr/>
        </p:nvSpPr>
        <p:spPr>
          <a:xfrm>
            <a:off x="6169152" y="1792224"/>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Qué hacemos con eso</a:t>
            </a:r>
            <a:endParaRPr lang="en-US" sz="1150" dirty="0"/>
          </a:p>
        </p:txBody>
      </p:sp>
      <p:sp>
        <p:nvSpPr>
          <p:cNvPr id="17" name="Text 15"/>
          <p:cNvSpPr txBox="1"/>
          <p:nvPr/>
        </p:nvSpPr>
        <p:spPr>
          <a:xfrm>
            <a:off x="6169152" y="2103120"/>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Hoy no estudiamos los 22 anexos. Cada quien trabaja el suyo, saca su número de brecha y se lleva qué entregarle a su proveedor.</a:t>
            </a:r>
            <a:endParaRPr lang="en-US" sz="950" dirty="0"/>
          </a:p>
        </p:txBody>
      </p:sp>
      <p:sp>
        <p:nvSpPr>
          <p:cNvPr id="18" name="Shape 16"/>
          <p:cNvSpPr/>
          <p:nvPr/>
        </p:nvSpPr>
        <p:spPr>
          <a:xfrm>
            <a:off x="502920" y="4014470"/>
            <a:ext cx="8138160" cy="630682"/>
          </a:xfrm>
          <a:prstGeom prst="rect">
            <a:avLst/>
          </a:prstGeom>
          <a:solidFill>
            <a:srgbClr val="80BCB5"/>
          </a:solidFill>
          <a:ln/>
        </p:spPr>
      </p:sp>
      <p:sp>
        <p:nvSpPr>
          <p:cNvPr id="19" name="Text 17"/>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Lo que se entrega en 2027 se construye durante 2026. Ningún expediente se reconstruye el mes anterior.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3</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LO QUE SE LLEVAN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Los tres mensajes de hoy</a:t>
            </a:r>
            <a:endParaRPr lang="en-US" sz="2700" dirty="0"/>
          </a:p>
        </p:txBody>
      </p:sp>
      <p:sp>
        <p:nvSpPr>
          <p:cNvPr id="9" name="Shape 7"/>
          <p:cNvSpPr/>
          <p:nvPr/>
        </p:nvSpPr>
        <p:spPr>
          <a:xfrm>
            <a:off x="502920" y="1645920"/>
            <a:ext cx="2618232" cy="1530350"/>
          </a:xfrm>
          <a:prstGeom prst="rect">
            <a:avLst/>
          </a:prstGeom>
          <a:solidFill>
            <a:srgbClr val="FFFFFF"/>
          </a:solidFill>
          <a:ln w="6350">
            <a:solidFill>
              <a:srgbClr val="747975"/>
            </a:solidFill>
            <a:prstDash val="solid"/>
          </a:ln>
        </p:spPr>
      </p:sp>
      <p:sp>
        <p:nvSpPr>
          <p:cNvPr id="10" name="Shape 8"/>
          <p:cNvSpPr/>
          <p:nvPr/>
        </p:nvSpPr>
        <p:spPr>
          <a:xfrm>
            <a:off x="649224" y="1792224"/>
            <a:ext cx="274320" cy="274320"/>
          </a:xfrm>
          <a:prstGeom prst="rect">
            <a:avLst/>
          </a:prstGeom>
          <a:solidFill>
            <a:srgbClr val="80BCB5"/>
          </a:solidFill>
          <a:ln/>
        </p:spPr>
      </p:sp>
      <p:sp>
        <p:nvSpPr>
          <p:cNvPr id="11" name="Text 9"/>
          <p:cNvSpPr txBox="1"/>
          <p:nvPr/>
        </p:nvSpPr>
        <p:spPr>
          <a:xfrm>
            <a:off x="649224"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792224"/>
            <a:ext cx="1959864" cy="35636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El Dueño Beneficiario desaparece</a:t>
            </a:r>
            <a:endParaRPr lang="en-US" sz="1150" dirty="0"/>
          </a:p>
        </p:txBody>
      </p:sp>
      <p:sp>
        <p:nvSpPr>
          <p:cNvPr id="13" name="Text 11"/>
          <p:cNvSpPr txBox="1"/>
          <p:nvPr/>
        </p:nvSpPr>
        <p:spPr>
          <a:xfrm>
            <a:off x="649224" y="2240026"/>
            <a:ext cx="2325624" cy="588772"/>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bloque ya no admite persona moral ni fideicomiso. Hay que llegar a la persona física y declarar cuántas figuras hay en medio.</a:t>
            </a:r>
            <a:endParaRPr lang="en-US" sz="950" dirty="0"/>
          </a:p>
        </p:txBody>
      </p:sp>
      <p:sp>
        <p:nvSpPr>
          <p:cNvPr id="14" name="Text 12"/>
          <p:cNvSpPr txBox="1"/>
          <p:nvPr/>
        </p:nvSpPr>
        <p:spPr>
          <a:xfrm>
            <a:off x="649224" y="2920238"/>
            <a:ext cx="2325624" cy="182880"/>
          </a:xfrm>
          <a:prstGeom prst="rect">
            <a:avLst/>
          </a:prstGeom>
          <a:noFill/>
          <a:ln/>
        </p:spPr>
        <p:txBody>
          <a:bodyPr wrap="square" lIns="0" tIns="0" rIns="0" bIns="0" rtlCol="0" anchor="ctr"/>
          <a:lstStyle/>
          <a:p>
            <a:pPr indent="0" marL="0">
              <a:buNone/>
            </a:pPr>
            <a:r>
              <a:rPr lang="en-US" sz="850" b="1" dirty="0">
                <a:solidFill>
                  <a:srgbClr val="393E41"/>
                </a:solidFill>
                <a:latin typeface="Arial" pitchFamily="34" charset="0"/>
                <a:ea typeface="Arial" pitchFamily="34" charset="-122"/>
                <a:cs typeface="Arial" pitchFamily="34" charset="-120"/>
              </a:rPr>
              <a:t>20 de 22 anexos</a:t>
            </a:r>
            <a:endParaRPr lang="en-US" sz="850" dirty="0"/>
          </a:p>
        </p:txBody>
      </p:sp>
      <p:sp>
        <p:nvSpPr>
          <p:cNvPr id="15" name="Shape 13"/>
          <p:cNvSpPr/>
          <p:nvPr/>
        </p:nvSpPr>
        <p:spPr>
          <a:xfrm>
            <a:off x="3262884" y="1645920"/>
            <a:ext cx="2618232" cy="1530350"/>
          </a:xfrm>
          <a:prstGeom prst="rect">
            <a:avLst/>
          </a:prstGeom>
          <a:solidFill>
            <a:srgbClr val="FFFFFF"/>
          </a:solidFill>
          <a:ln w="6350">
            <a:solidFill>
              <a:srgbClr val="747975"/>
            </a:solidFill>
            <a:prstDash val="solid"/>
          </a:ln>
        </p:spPr>
      </p:sp>
      <p:sp>
        <p:nvSpPr>
          <p:cNvPr id="16" name="Shape 14"/>
          <p:cNvSpPr/>
          <p:nvPr/>
        </p:nvSpPr>
        <p:spPr>
          <a:xfrm>
            <a:off x="3409188" y="1792224"/>
            <a:ext cx="274320" cy="274320"/>
          </a:xfrm>
          <a:prstGeom prst="rect">
            <a:avLst/>
          </a:prstGeom>
          <a:solidFill>
            <a:srgbClr val="80BCB5"/>
          </a:solidFill>
          <a:ln/>
        </p:spPr>
      </p:sp>
      <p:sp>
        <p:nvSpPr>
          <p:cNvPr id="17" name="Text 15"/>
          <p:cNvSpPr txBox="1"/>
          <p:nvPr/>
        </p:nvSpPr>
        <p:spPr>
          <a:xfrm>
            <a:off x="3409188"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8" name="Text 16"/>
          <p:cNvSpPr txBox="1"/>
          <p:nvPr/>
        </p:nvSpPr>
        <p:spPr>
          <a:xfrm>
            <a:off x="3765804" y="1792224"/>
            <a:ext cx="1959864" cy="35636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«Opcional» no es «no se pide»</a:t>
            </a:r>
            <a:endParaRPr lang="en-US" sz="1150" dirty="0"/>
          </a:p>
        </p:txBody>
      </p:sp>
      <p:sp>
        <p:nvSpPr>
          <p:cNvPr id="19" name="Text 17"/>
          <p:cNvSpPr txBox="1"/>
          <p:nvPr/>
        </p:nvSpPr>
        <p:spPr>
          <a:xfrm>
            <a:off x="3409188" y="2240026"/>
            <a:ext cx="2325624" cy="588772"/>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Opcional significa que el XML valida sin el dato. La obligación de tenerlo en el expediente viene de la Ley y ya está vigente.</a:t>
            </a:r>
            <a:endParaRPr lang="en-US" sz="950" dirty="0"/>
          </a:p>
        </p:txBody>
      </p:sp>
      <p:sp>
        <p:nvSpPr>
          <p:cNvPr id="20" name="Text 18"/>
          <p:cNvSpPr txBox="1"/>
          <p:nvPr/>
        </p:nvSpPr>
        <p:spPr>
          <a:xfrm>
            <a:off x="3409188" y="2920238"/>
            <a:ext cx="2325624" cy="182880"/>
          </a:xfrm>
          <a:prstGeom prst="rect">
            <a:avLst/>
          </a:prstGeom>
          <a:noFill/>
          <a:ln/>
        </p:spPr>
        <p:txBody>
          <a:bodyPr wrap="square" lIns="0" tIns="0" rIns="0" bIns="0" rtlCol="0" anchor="ctr"/>
          <a:lstStyle/>
          <a:p>
            <a:pPr indent="0" marL="0">
              <a:buNone/>
            </a:pPr>
            <a:r>
              <a:rPr lang="en-US" sz="850" b="1" dirty="0">
                <a:solidFill>
                  <a:srgbClr val="393E41"/>
                </a:solidFill>
                <a:latin typeface="Arial" pitchFamily="34" charset="0"/>
                <a:ea typeface="Arial" pitchFamily="34" charset="-122"/>
                <a:cs typeface="Arial" pitchFamily="34" charset="-120"/>
              </a:rPr>
              <a:t>L 18 · R · RCG</a:t>
            </a:r>
            <a:endParaRPr lang="en-US" sz="850" dirty="0"/>
          </a:p>
        </p:txBody>
      </p:sp>
      <p:sp>
        <p:nvSpPr>
          <p:cNvPr id="21" name="Shape 19"/>
          <p:cNvSpPr/>
          <p:nvPr/>
        </p:nvSpPr>
        <p:spPr>
          <a:xfrm>
            <a:off x="6022848" y="1645920"/>
            <a:ext cx="2618232" cy="1530350"/>
          </a:xfrm>
          <a:prstGeom prst="rect">
            <a:avLst/>
          </a:prstGeom>
          <a:solidFill>
            <a:srgbClr val="FFFFFF"/>
          </a:solidFill>
          <a:ln w="6350">
            <a:solidFill>
              <a:srgbClr val="747975"/>
            </a:solidFill>
            <a:prstDash val="solid"/>
          </a:ln>
        </p:spPr>
      </p:sp>
      <p:sp>
        <p:nvSpPr>
          <p:cNvPr id="22" name="Shape 20"/>
          <p:cNvSpPr/>
          <p:nvPr/>
        </p:nvSpPr>
        <p:spPr>
          <a:xfrm>
            <a:off x="6169152" y="1792224"/>
            <a:ext cx="274320" cy="274320"/>
          </a:xfrm>
          <a:prstGeom prst="rect">
            <a:avLst/>
          </a:prstGeom>
          <a:solidFill>
            <a:srgbClr val="80BCB5"/>
          </a:solidFill>
          <a:ln/>
        </p:spPr>
      </p:sp>
      <p:sp>
        <p:nvSpPr>
          <p:cNvPr id="23" name="Text 21"/>
          <p:cNvSpPr txBox="1"/>
          <p:nvPr/>
        </p:nvSpPr>
        <p:spPr>
          <a:xfrm>
            <a:off x="6169152"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4" name="Text 22"/>
          <p:cNvSpPr txBox="1"/>
          <p:nvPr/>
        </p:nvSpPr>
        <p:spPr>
          <a:xfrm>
            <a:off x="6525768" y="1792224"/>
            <a:ext cx="1959864" cy="35636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Su número de brecha</a:t>
            </a:r>
            <a:endParaRPr lang="en-US" sz="1150" dirty="0"/>
          </a:p>
        </p:txBody>
      </p:sp>
      <p:sp>
        <p:nvSpPr>
          <p:cNvPr id="25" name="Text 23"/>
          <p:cNvSpPr txBox="1"/>
          <p:nvPr/>
        </p:nvSpPr>
        <p:spPr>
          <a:xfrm>
            <a:off x="6169152" y="2240026"/>
            <a:ext cx="2325624" cy="588772"/>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Al minuto 90 cada quien sabe cuántos campos de su anexo hoy no captura, con fecha y responsable por renglón.</a:t>
            </a:r>
            <a:endParaRPr lang="en-US" sz="950" dirty="0"/>
          </a:p>
        </p:txBody>
      </p:sp>
      <p:sp>
        <p:nvSpPr>
          <p:cNvPr id="26" name="Text 24"/>
          <p:cNvSpPr txBox="1"/>
          <p:nvPr/>
        </p:nvSpPr>
        <p:spPr>
          <a:xfrm>
            <a:off x="6169152" y="2920238"/>
            <a:ext cx="2325624" cy="182880"/>
          </a:xfrm>
          <a:prstGeom prst="rect">
            <a:avLst/>
          </a:prstGeom>
          <a:noFill/>
          <a:ln/>
        </p:spPr>
        <p:txBody>
          <a:bodyPr wrap="square" lIns="0" tIns="0" rIns="0" bIns="0" rtlCol="0" anchor="ctr"/>
          <a:lstStyle/>
          <a:p>
            <a:pPr indent="0" marL="0">
              <a:buNone/>
            </a:pPr>
            <a:r>
              <a:rPr lang="en-US" sz="850" b="1" dirty="0">
                <a:solidFill>
                  <a:srgbClr val="393E41"/>
                </a:solidFill>
                <a:latin typeface="Arial" pitchFamily="34" charset="0"/>
                <a:ea typeface="Arial" pitchFamily="34" charset="-122"/>
                <a:cs typeface="Arial" pitchFamily="34" charset="-120"/>
              </a:rPr>
              <a:t>Hoja «Mi brecha»</a:t>
            </a:r>
            <a:endParaRPr lang="en-US" sz="850" dirty="0"/>
          </a:p>
        </p:txBody>
      </p:sp>
      <p:sp>
        <p:nvSpPr>
          <p:cNvPr id="27" name="Shape 25"/>
          <p:cNvSpPr/>
          <p:nvPr/>
        </p:nvSpPr>
        <p:spPr>
          <a:xfrm>
            <a:off x="502920" y="4078224"/>
            <a:ext cx="8138160" cy="566928"/>
          </a:xfrm>
          <a:prstGeom prst="rect">
            <a:avLst/>
          </a:prstGeom>
          <a:solidFill>
            <a:srgbClr val="80BCB5"/>
          </a:solidFill>
          <a:ln/>
        </p:spPr>
      </p:sp>
      <p:sp>
        <p:nvSpPr>
          <p:cNvPr id="28" name="Text 26"/>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Si al salir de aquí usted no puede decir su número, la sesión no funcionó.</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4</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CUÁNDO</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Las fechas son de 2027. El trabajo es de ahora</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1417320"/>
                <a:gridCol w="4709160"/>
                <a:gridCol w="2011680"/>
              </a:tblGrid>
              <a:tr h="2743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Fecha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 pasa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Fundamento</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74320">
                <a:tc>
                  <a:txBody>
                    <a:bodyPr/>
                    <a:lstStyle/>
                    <a:p>
                      <a:pPr indent="0" marL="0">
                        <a:buNone/>
                      </a:pPr>
                      <a:r>
                        <a:rPr lang="en-US" sz="1000" dirty="0">
                          <a:solidFill>
                            <a:srgbClr val="1B1B1E"/>
                          </a:solidFill>
                          <a:latin typeface="Arial" pitchFamily="34" charset="0"/>
                          <a:ea typeface="Arial" pitchFamily="34" charset="-122"/>
                          <a:cs typeface="Arial" pitchFamily="34" charset="-120"/>
                        </a:rPr>
                        <a:t>1 oct 2026</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Vencía el plazo de la UIF para instructivos y catálogos</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Trans. Sexto · Avisos</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E"/>
                          </a:solidFill>
                          <a:latin typeface="Arial" pitchFamily="34" charset="0"/>
                          <a:ea typeface="Arial" pitchFamily="34" charset="-122"/>
                          <a:cs typeface="Arial" pitchFamily="34" charset="-120"/>
                        </a:rPr>
                        <a:t>1 feb 2027</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Formato nuevo de alta y registro. Baja y re-alta de quien cambia de supuesto</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Trans. Primero y Tercero · Alta</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E"/>
                          </a:solidFill>
                          <a:latin typeface="Arial" pitchFamily="34" charset="0"/>
                          <a:ea typeface="Arial" pitchFamily="34" charset="-122"/>
                          <a:cs typeface="Arial" pitchFamily="34" charset="-120"/>
                        </a:rPr>
                        <a:t>1 jun 2027</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Todos los Avisos con formato nuevo — y aplica hacia atrás</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Trans. Primero y Segundo · Avisos</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E"/>
                          </a:solidFill>
                          <a:latin typeface="Arial" pitchFamily="34" charset="0"/>
                          <a:ea typeface="Arial" pitchFamily="34" charset="-122"/>
                          <a:cs typeface="Arial" pitchFamily="34" charset="-120"/>
                        </a:rPr>
                        <a:t>30 jun 2027</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Último modificatorio con el formato anterior</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Art. 8 del Reglamento</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E"/>
                          </a:solidFill>
                          <a:latin typeface="Arial" pitchFamily="34" charset="0"/>
                          <a:ea typeface="Arial" pitchFamily="34" charset="-122"/>
                          <a:cs typeface="Arial" pitchFamily="34" charset="-120"/>
                        </a:rPr>
                        <a:t>1 jul 2027</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Se retiran los formatos anteriores</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Resolución de Avisos</a:t>
                      </a:r>
                      <a:endParaRPr lang="en-US" sz="10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14470"/>
            <a:ext cx="8138160" cy="630682"/>
          </a:xfrm>
          <a:prstGeom prst="rect">
            <a:avLst/>
          </a:prstGeom>
          <a:solidFill>
            <a:srgbClr val="80BCB5"/>
          </a:solidFill>
          <a:ln/>
        </p:spPr>
      </p:sp>
      <p:sp>
        <p:nvSpPr>
          <p:cNvPr id="11" name="Text 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El Aviso de mayo de 2027, que se presenta el 17 de junio, YA va en formato nuevo. El sistema tiene que estar listo antes.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5</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1 · 0 a 8 min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 básico, para que nadie se quede fuera</a:t>
            </a:r>
            <a:endParaRPr lang="en-US" sz="2700" dirty="0"/>
          </a:p>
        </p:txBody>
      </p:sp>
      <p:sp>
        <p:nvSpPr>
          <p:cNvPr id="9" name="Text 7"/>
          <p:cNvSpPr txBox="1"/>
          <p:nvPr/>
        </p:nvSpPr>
        <p:spPr>
          <a:xfrm>
            <a:off x="502920" y="1645920"/>
            <a:ext cx="8138160" cy="457708"/>
          </a:xfrm>
          <a:prstGeom prst="rect">
            <a:avLst/>
          </a:prstGeom>
          <a:noFill/>
          <a:ln/>
        </p:spPr>
        <p:txBody>
          <a:bodyPr wrap="square" lIns="0" tIns="0" rIns="0" bIns="0" rtlCol="0" anchor="ctr"/>
          <a:lstStyle/>
          <a:p>
            <a:pPr indent="0" marL="0">
              <a:lnSpc>
                <a:spcPct val="120000"/>
              </a:lnSpc>
              <a:buNone/>
            </a:pPr>
            <a:r>
              <a:rPr lang="en-US" sz="1300" dirty="0">
                <a:solidFill>
                  <a:srgbClr val="393E41"/>
                </a:solidFill>
                <a:latin typeface="Arial" pitchFamily="34" charset="0"/>
                <a:ea typeface="Arial" pitchFamily="34" charset="-122"/>
                <a:cs typeface="Arial" pitchFamily="34" charset="-120"/>
              </a:rPr>
              <a:t>Si usted ya presenta avisos todos los meses, estos ocho minutos son repaso. Si nunca ha abierto un layout, son los que hacen que el resto se entienda.</a:t>
            </a:r>
            <a:endParaRPr lang="en-US" sz="1300" dirty="0"/>
          </a:p>
        </p:txBody>
      </p:sp>
      <p:sp>
        <p:nvSpPr>
          <p:cNvPr id="10" name="Shape 8"/>
          <p:cNvSpPr/>
          <p:nvPr/>
        </p:nvSpPr>
        <p:spPr>
          <a:xfrm>
            <a:off x="502920" y="2286508"/>
            <a:ext cx="2602992" cy="1389761"/>
          </a:xfrm>
          <a:prstGeom prst="rect">
            <a:avLst/>
          </a:prstGeom>
          <a:solidFill>
            <a:srgbClr val="FFFFFF"/>
          </a:solidFill>
          <a:ln w="6350">
            <a:solidFill>
              <a:srgbClr val="747975"/>
            </a:solidFill>
            <a:prstDash val="solid"/>
          </a:ln>
        </p:spPr>
      </p:sp>
      <p:sp>
        <p:nvSpPr>
          <p:cNvPr id="11" name="Text 9"/>
          <p:cNvSpPr txBox="1"/>
          <p:nvPr/>
        </p:nvSpPr>
        <p:spPr>
          <a:xfrm>
            <a:off x="704088" y="2396236"/>
            <a:ext cx="2200656" cy="566928"/>
          </a:xfrm>
          <a:prstGeom prst="rect">
            <a:avLst/>
          </a:prstGeom>
          <a:noFill/>
          <a:ln/>
        </p:spPr>
        <p:txBody>
          <a:bodyPr wrap="square" lIns="0" tIns="0" rIns="0" bIns="0" rtlCol="0" anchor="ctr"/>
          <a:lstStyle/>
          <a:p>
            <a:pPr indent="0" marL="0">
              <a:buNone/>
            </a:pPr>
            <a:r>
              <a:rPr lang="en-US" sz="3800" b="1" dirty="0">
                <a:solidFill>
                  <a:srgbClr val="A663CC"/>
                </a:solidFill>
                <a:latin typeface="Arial" pitchFamily="34" charset="0"/>
                <a:ea typeface="Arial" pitchFamily="34" charset="-122"/>
                <a:cs typeface="Arial" pitchFamily="34" charset="-120"/>
              </a:rPr>
              <a:t>4,182</a:t>
            </a:r>
            <a:endParaRPr lang="en-US" sz="3800" dirty="0"/>
          </a:p>
        </p:txBody>
      </p:sp>
      <p:sp>
        <p:nvSpPr>
          <p:cNvPr id="12" name="Text 10"/>
          <p:cNvSpPr txBox="1"/>
          <p:nvPr/>
        </p:nvSpPr>
        <p:spPr>
          <a:xfrm>
            <a:off x="704088" y="2981452"/>
            <a:ext cx="2200656"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campos publicados</a:t>
            </a:r>
            <a:endParaRPr lang="en-US" sz="1150" dirty="0"/>
          </a:p>
        </p:txBody>
      </p:sp>
      <p:sp>
        <p:nvSpPr>
          <p:cNvPr id="13" name="Text 11"/>
          <p:cNvSpPr txBox="1"/>
          <p:nvPr/>
        </p:nvSpPr>
        <p:spPr>
          <a:xfrm>
            <a:off x="704088" y="3196209"/>
            <a:ext cx="2200656" cy="388620"/>
          </a:xfrm>
          <a:prstGeom prst="rect">
            <a:avLst/>
          </a:prstGeom>
          <a:noFill/>
          <a:ln/>
        </p:spPr>
        <p:txBody>
          <a:bodyPr wrap="square" lIns="0" tIns="0" rIns="0" bIns="0" rtlCol="0" anchor="ctr"/>
          <a:lstStyle/>
          <a:p>
            <a:pPr indent="0" marL="0">
              <a:lnSpc>
                <a:spcPct val="110000"/>
              </a:lnSpc>
              <a:buNone/>
            </a:pPr>
            <a:r>
              <a:rPr lang="en-US" sz="900" dirty="0">
                <a:solidFill>
                  <a:srgbClr val="393E41"/>
                </a:solidFill>
                <a:latin typeface="Arial" pitchFamily="34" charset="0"/>
                <a:ea typeface="Arial" pitchFamily="34" charset="-122"/>
                <a:cs typeface="Arial" pitchFamily="34" charset="-120"/>
              </a:rPr>
              <a:t>En los 22 anexos del DOF del 24-sep-2026</a:t>
            </a:r>
            <a:endParaRPr lang="en-US" sz="900" dirty="0"/>
          </a:p>
        </p:txBody>
      </p:sp>
      <p:sp>
        <p:nvSpPr>
          <p:cNvPr id="14" name="Shape 12"/>
          <p:cNvSpPr/>
          <p:nvPr/>
        </p:nvSpPr>
        <p:spPr>
          <a:xfrm>
            <a:off x="3270504" y="2286508"/>
            <a:ext cx="2602992" cy="1389761"/>
          </a:xfrm>
          <a:prstGeom prst="rect">
            <a:avLst/>
          </a:prstGeom>
          <a:solidFill>
            <a:srgbClr val="FFFFFF"/>
          </a:solidFill>
          <a:ln w="6350">
            <a:solidFill>
              <a:srgbClr val="747975"/>
            </a:solidFill>
            <a:prstDash val="solid"/>
          </a:ln>
        </p:spPr>
      </p:sp>
      <p:sp>
        <p:nvSpPr>
          <p:cNvPr id="15" name="Text 13"/>
          <p:cNvSpPr txBox="1"/>
          <p:nvPr/>
        </p:nvSpPr>
        <p:spPr>
          <a:xfrm>
            <a:off x="3471672" y="2396236"/>
            <a:ext cx="2200656" cy="566928"/>
          </a:xfrm>
          <a:prstGeom prst="rect">
            <a:avLst/>
          </a:prstGeom>
          <a:noFill/>
          <a:ln/>
        </p:spPr>
        <p:txBody>
          <a:bodyPr wrap="square" lIns="0" tIns="0" rIns="0" bIns="0" rtlCol="0" anchor="ctr"/>
          <a:lstStyle/>
          <a:p>
            <a:pPr indent="0" marL="0">
              <a:buNone/>
            </a:pPr>
            <a:r>
              <a:rPr lang="en-US" sz="3800" b="1" dirty="0">
                <a:solidFill>
                  <a:srgbClr val="A663CC"/>
                </a:solidFill>
                <a:latin typeface="Arial" pitchFamily="34" charset="0"/>
                <a:ea typeface="Arial" pitchFamily="34" charset="-122"/>
                <a:cs typeface="Arial" pitchFamily="34" charset="-120"/>
              </a:rPr>
              <a:t>1,031</a:t>
            </a:r>
            <a:endParaRPr lang="en-US" sz="3800" dirty="0"/>
          </a:p>
        </p:txBody>
      </p:sp>
      <p:sp>
        <p:nvSpPr>
          <p:cNvPr id="16" name="Text 14"/>
          <p:cNvSpPr txBox="1"/>
          <p:nvPr/>
        </p:nvSpPr>
        <p:spPr>
          <a:xfrm>
            <a:off x="3471672" y="2981452"/>
            <a:ext cx="2200656"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son etiquetas</a:t>
            </a:r>
            <a:endParaRPr lang="en-US" sz="1150" dirty="0"/>
          </a:p>
        </p:txBody>
      </p:sp>
      <p:sp>
        <p:nvSpPr>
          <p:cNvPr id="17" name="Text 15"/>
          <p:cNvSpPr txBox="1"/>
          <p:nvPr/>
        </p:nvSpPr>
        <p:spPr>
          <a:xfrm>
            <a:off x="3471672" y="3196209"/>
            <a:ext cx="2200656" cy="388620"/>
          </a:xfrm>
          <a:prstGeom prst="rect">
            <a:avLst/>
          </a:prstGeom>
          <a:noFill/>
          <a:ln/>
        </p:spPr>
        <p:txBody>
          <a:bodyPr wrap="square" lIns="0" tIns="0" rIns="0" bIns="0" rtlCol="0" anchor="ctr"/>
          <a:lstStyle/>
          <a:p>
            <a:pPr indent="0" marL="0">
              <a:lnSpc>
                <a:spcPct val="110000"/>
              </a:lnSpc>
              <a:buNone/>
            </a:pPr>
            <a:r>
              <a:rPr lang="en-US" sz="900" dirty="0">
                <a:solidFill>
                  <a:srgbClr val="393E41"/>
                </a:solidFill>
                <a:latin typeface="Arial" pitchFamily="34" charset="0"/>
                <a:ea typeface="Arial" pitchFamily="34" charset="-122"/>
                <a:cs typeface="Arial" pitchFamily="34" charset="-120"/>
              </a:rPr>
              <a:t>Contenedores que no se llenan</a:t>
            </a:r>
            <a:endParaRPr lang="en-US" sz="900" dirty="0"/>
          </a:p>
        </p:txBody>
      </p:sp>
      <p:sp>
        <p:nvSpPr>
          <p:cNvPr id="18" name="Shape 16"/>
          <p:cNvSpPr/>
          <p:nvPr/>
        </p:nvSpPr>
        <p:spPr>
          <a:xfrm>
            <a:off x="6038088" y="2286508"/>
            <a:ext cx="2602992" cy="1389761"/>
          </a:xfrm>
          <a:prstGeom prst="rect">
            <a:avLst/>
          </a:prstGeom>
          <a:solidFill>
            <a:srgbClr val="FF8361"/>
          </a:solidFill>
          <a:ln w="6350">
            <a:solidFill>
              <a:srgbClr val="FF8361"/>
            </a:solidFill>
            <a:prstDash val="solid"/>
          </a:ln>
        </p:spPr>
      </p:sp>
      <p:sp>
        <p:nvSpPr>
          <p:cNvPr id="19" name="Text 17"/>
          <p:cNvSpPr txBox="1"/>
          <p:nvPr/>
        </p:nvSpPr>
        <p:spPr>
          <a:xfrm>
            <a:off x="6239256" y="2396236"/>
            <a:ext cx="2200656" cy="566928"/>
          </a:xfrm>
          <a:prstGeom prst="rect">
            <a:avLst/>
          </a:prstGeom>
          <a:noFill/>
          <a:ln/>
        </p:spPr>
        <p:txBody>
          <a:bodyPr wrap="square" lIns="0" tIns="0" rIns="0" bIns="0" rtlCol="0" anchor="ctr"/>
          <a:lstStyle/>
          <a:p>
            <a:pPr indent="0" marL="0">
              <a:buNone/>
            </a:pPr>
            <a:r>
              <a:rPr lang="en-US" sz="3800" b="1" dirty="0">
                <a:solidFill>
                  <a:srgbClr val="1B1B1E"/>
                </a:solidFill>
                <a:latin typeface="Arial" pitchFamily="34" charset="0"/>
                <a:ea typeface="Arial" pitchFamily="34" charset="-122"/>
                <a:cs typeface="Arial" pitchFamily="34" charset="-120"/>
              </a:rPr>
              <a:t>3,151</a:t>
            </a:r>
            <a:endParaRPr lang="en-US" sz="3800" dirty="0"/>
          </a:p>
        </p:txBody>
      </p:sp>
      <p:sp>
        <p:nvSpPr>
          <p:cNvPr id="20" name="Text 18"/>
          <p:cNvSpPr txBox="1"/>
          <p:nvPr/>
        </p:nvSpPr>
        <p:spPr>
          <a:xfrm>
            <a:off x="6239256" y="2981452"/>
            <a:ext cx="2200656"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campos de dato reales</a:t>
            </a:r>
            <a:endParaRPr lang="en-US" sz="1150" dirty="0"/>
          </a:p>
        </p:txBody>
      </p:sp>
      <p:sp>
        <p:nvSpPr>
          <p:cNvPr id="21" name="Text 19"/>
          <p:cNvSpPr txBox="1"/>
          <p:nvPr/>
        </p:nvSpPr>
        <p:spPr>
          <a:xfrm>
            <a:off x="6239256" y="3196209"/>
            <a:ext cx="2200656" cy="388620"/>
          </a:xfrm>
          <a:prstGeom prst="rect">
            <a:avLst/>
          </a:prstGeom>
          <a:noFill/>
          <a:ln/>
        </p:spPr>
        <p:txBody>
          <a:bodyPr wrap="square" lIns="0" tIns="0" rIns="0" bIns="0" rtlCol="0" anchor="ctr"/>
          <a:lstStyle/>
          <a:p>
            <a:pPr indent="0" marL="0">
              <a:lnSpc>
                <a:spcPct val="110000"/>
              </a:lnSpc>
              <a:buNone/>
            </a:pPr>
            <a:r>
              <a:rPr lang="en-US" sz="900" dirty="0">
                <a:solidFill>
                  <a:srgbClr val="1B1B1E"/>
                </a:solidFill>
                <a:latin typeface="Arial" pitchFamily="34" charset="0"/>
                <a:ea typeface="Arial" pitchFamily="34" charset="-122"/>
                <a:cs typeface="Arial" pitchFamily="34" charset="-120"/>
              </a:rPr>
              <a:t>Y nadie usa más de uno o dos anexos</a:t>
            </a:r>
            <a:endParaRPr lang="en-US" sz="900" dirty="0"/>
          </a:p>
        </p:txBody>
      </p:sp>
      <p:sp>
        <p:nvSpPr>
          <p:cNvPr id="22" name="Shape 20"/>
          <p:cNvSpPr/>
          <p:nvPr/>
        </p:nvSpPr>
        <p:spPr>
          <a:xfrm>
            <a:off x="502920" y="4078224"/>
            <a:ext cx="8138160" cy="566928"/>
          </a:xfrm>
          <a:prstGeom prst="rect">
            <a:avLst/>
          </a:prstGeom>
          <a:solidFill>
            <a:srgbClr val="80BCB5"/>
          </a:solidFill>
          <a:ln/>
        </p:spPr>
      </p:sp>
      <p:sp>
        <p:nvSpPr>
          <p:cNvPr id="23" name="Text 21"/>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Nadie se aprende los 22 anexos. Hoy cada quien trabaja el suyo.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6</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LO BÁSICO</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Tres definiciones y nada más</a:t>
            </a:r>
            <a:endParaRPr lang="en-US" sz="2700" dirty="0"/>
          </a:p>
        </p:txBody>
      </p:sp>
      <p:sp>
        <p:nvSpPr>
          <p:cNvPr id="9" name="Shape 7"/>
          <p:cNvSpPr/>
          <p:nvPr/>
        </p:nvSpPr>
        <p:spPr>
          <a:xfrm>
            <a:off x="502920" y="1645920"/>
            <a:ext cx="2618232" cy="1559814"/>
          </a:xfrm>
          <a:prstGeom prst="rect">
            <a:avLst/>
          </a:prstGeom>
          <a:solidFill>
            <a:srgbClr val="FFFFFF"/>
          </a:solidFill>
          <a:ln w="6350">
            <a:solidFill>
              <a:srgbClr val="747975"/>
            </a:solidFill>
            <a:prstDash val="solid"/>
          </a:ln>
        </p:spPr>
      </p:sp>
      <p:sp>
        <p:nvSpPr>
          <p:cNvPr id="10" name="Text 8"/>
          <p:cNvSpPr txBox="1"/>
          <p:nvPr/>
        </p:nvSpPr>
        <p:spPr>
          <a:xfrm>
            <a:off x="649224" y="1792224"/>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Anexo</a:t>
            </a:r>
            <a:endParaRPr lang="en-US" sz="1150" dirty="0"/>
          </a:p>
        </p:txBody>
      </p:sp>
      <p:sp>
        <p:nvSpPr>
          <p:cNvPr id="11" name="Text 9"/>
          <p:cNvSpPr txBox="1"/>
          <p:nvPr/>
        </p:nvSpPr>
        <p:spPr>
          <a:xfrm>
            <a:off x="649224" y="2103120"/>
            <a:ext cx="2325624" cy="919734"/>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La tabla que dice, campo por campo, qué información pide la autoridad en el Aviso de su actividad vulnerable. Hay uno por cada fracción del artículo 17. Usted sólo usa el suyo.</a:t>
            </a:r>
            <a:endParaRPr lang="en-US" sz="950" dirty="0"/>
          </a:p>
        </p:txBody>
      </p:sp>
      <p:sp>
        <p:nvSpPr>
          <p:cNvPr id="12" name="Shape 10"/>
          <p:cNvSpPr/>
          <p:nvPr/>
        </p:nvSpPr>
        <p:spPr>
          <a:xfrm>
            <a:off x="3262884" y="1645920"/>
            <a:ext cx="2618232" cy="1559814"/>
          </a:xfrm>
          <a:prstGeom prst="rect">
            <a:avLst/>
          </a:prstGeom>
          <a:solidFill>
            <a:srgbClr val="FFFFFF"/>
          </a:solidFill>
          <a:ln w="6350">
            <a:solidFill>
              <a:srgbClr val="747975"/>
            </a:solidFill>
            <a:prstDash val="solid"/>
          </a:ln>
        </p:spPr>
      </p:sp>
      <p:sp>
        <p:nvSpPr>
          <p:cNvPr id="13" name="Text 11"/>
          <p:cNvSpPr txBox="1"/>
          <p:nvPr/>
        </p:nvSpPr>
        <p:spPr>
          <a:xfrm>
            <a:off x="3409188" y="1792224"/>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Etiqueta</a:t>
            </a:r>
            <a:endParaRPr lang="en-US" sz="1150" dirty="0"/>
          </a:p>
        </p:txBody>
      </p:sp>
      <p:sp>
        <p:nvSpPr>
          <p:cNvPr id="14" name="Text 12"/>
          <p:cNvSpPr txBox="1"/>
          <p:nvPr/>
        </p:nvSpPr>
        <p:spPr>
          <a:xfrm>
            <a:off x="3409188" y="2103120"/>
            <a:ext cx="2325624" cy="919734"/>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nombre técnico de cada campo, escrito entre los signos &lt; y &gt;, como &lt;monto_operacion&gt;. Es el nombre que entiende el sistema: lo escribe su software o la plantilla del Portal.</a:t>
            </a:r>
            <a:endParaRPr lang="en-US" sz="950" dirty="0"/>
          </a:p>
        </p:txBody>
      </p:sp>
      <p:sp>
        <p:nvSpPr>
          <p:cNvPr id="15" name="Shape 13"/>
          <p:cNvSpPr/>
          <p:nvPr/>
        </p:nvSpPr>
        <p:spPr>
          <a:xfrm>
            <a:off x="6022848" y="1645920"/>
            <a:ext cx="2618232" cy="1559814"/>
          </a:xfrm>
          <a:prstGeom prst="rect">
            <a:avLst/>
          </a:prstGeom>
          <a:solidFill>
            <a:srgbClr val="FFFFFF"/>
          </a:solidFill>
          <a:ln w="6350">
            <a:solidFill>
              <a:srgbClr val="747975"/>
            </a:solidFill>
            <a:prstDash val="solid"/>
          </a:ln>
        </p:spPr>
      </p:sp>
      <p:sp>
        <p:nvSpPr>
          <p:cNvPr id="16" name="Text 14"/>
          <p:cNvSpPr txBox="1"/>
          <p:nvPr/>
        </p:nvSpPr>
        <p:spPr>
          <a:xfrm>
            <a:off x="6169152" y="1792224"/>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Layout</a:t>
            </a:r>
            <a:endParaRPr lang="en-US" sz="1150" dirty="0"/>
          </a:p>
        </p:txBody>
      </p:sp>
      <p:sp>
        <p:nvSpPr>
          <p:cNvPr id="17" name="Text 15"/>
          <p:cNvSpPr txBox="1"/>
          <p:nvPr/>
        </p:nvSpPr>
        <p:spPr>
          <a:xfrm>
            <a:off x="6169152" y="2103120"/>
            <a:ext cx="2325624" cy="919734"/>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anexo completo, con sus niveles: 3.5, 3.5.1, 3.5.1.1. El número dice de qué cuelga cada campo. Cambiar de número es cambiar de rama del árbol.</a:t>
            </a:r>
            <a:endParaRPr lang="en-US" sz="950" dirty="0"/>
          </a:p>
        </p:txBody>
      </p:sp>
      <p:sp>
        <p:nvSpPr>
          <p:cNvPr id="18" name="Shape 16"/>
          <p:cNvSpPr/>
          <p:nvPr/>
        </p:nvSpPr>
        <p:spPr>
          <a:xfrm>
            <a:off x="502920" y="4014470"/>
            <a:ext cx="8138160" cy="630682"/>
          </a:xfrm>
          <a:prstGeom prst="rect">
            <a:avLst/>
          </a:prstGeom>
          <a:solidFill>
            <a:srgbClr val="80BCB5"/>
          </a:solidFill>
          <a:ln/>
        </p:spPr>
      </p:sp>
      <p:sp>
        <p:nvSpPr>
          <p:cNvPr id="19" name="Text 17"/>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Un acuse «rechazado» no es un aviso presentado tarde: es un aviso NO presentado. La obligación sigue abierta.</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7</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LO BÁSICO</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Cómo se presenta un Aviso, en cuatro pasos</a:t>
            </a:r>
            <a:endParaRPr lang="en-US" sz="2700" dirty="0"/>
          </a:p>
        </p:txBody>
      </p:sp>
      <p:sp>
        <p:nvSpPr>
          <p:cNvPr id="9" name="Shape 7"/>
          <p:cNvSpPr/>
          <p:nvPr/>
        </p:nvSpPr>
        <p:spPr>
          <a:xfrm>
            <a:off x="502920" y="1645920"/>
            <a:ext cx="1928241" cy="1534033"/>
          </a:xfrm>
          <a:prstGeom prst="rect">
            <a:avLst/>
          </a:prstGeom>
          <a:solidFill>
            <a:srgbClr val="FFFFFF"/>
          </a:solidFill>
          <a:ln w="6350">
            <a:solidFill>
              <a:srgbClr val="747975"/>
            </a:solidFill>
            <a:prstDash val="solid"/>
          </a:ln>
        </p:spPr>
      </p:sp>
      <p:sp>
        <p:nvSpPr>
          <p:cNvPr id="10" name="Shape 8"/>
          <p:cNvSpPr/>
          <p:nvPr/>
        </p:nvSpPr>
        <p:spPr>
          <a:xfrm>
            <a:off x="649224" y="1792224"/>
            <a:ext cx="274320" cy="274320"/>
          </a:xfrm>
          <a:prstGeom prst="rect">
            <a:avLst/>
          </a:prstGeom>
          <a:solidFill>
            <a:srgbClr val="80BCB5"/>
          </a:solidFill>
          <a:ln/>
        </p:spPr>
      </p:sp>
      <p:sp>
        <p:nvSpPr>
          <p:cNvPr id="11" name="Text 9"/>
          <p:cNvSpPr txBox="1"/>
          <p:nvPr/>
        </p:nvSpPr>
        <p:spPr>
          <a:xfrm>
            <a:off x="649224"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792224"/>
            <a:ext cx="1269873" cy="340868"/>
          </a:xfrm>
          <a:prstGeom prst="rect">
            <a:avLst/>
          </a:prstGeom>
          <a:noFill/>
          <a:ln/>
        </p:spPr>
        <p:txBody>
          <a:bodyPr wrap="square" lIns="0" tIns="0" rIns="0" bIns="0" rtlCol="0" anchor="ctr"/>
          <a:lstStyle/>
          <a:p>
            <a:pPr indent="0" marL="0">
              <a:buNone/>
            </a:pPr>
            <a:r>
              <a:rPr lang="en-US" sz="1100" b="1" dirty="0">
                <a:solidFill>
                  <a:srgbClr val="1B1B1E"/>
                </a:solidFill>
                <a:latin typeface="Arial" pitchFamily="34" charset="0"/>
                <a:ea typeface="Arial" pitchFamily="34" charset="-122"/>
                <a:cs typeface="Arial" pitchFamily="34" charset="-120"/>
              </a:rPr>
              <a:t>Se arma el XML</a:t>
            </a:r>
            <a:endParaRPr lang="en-US" sz="1100" dirty="0"/>
          </a:p>
        </p:txBody>
      </p:sp>
      <p:sp>
        <p:nvSpPr>
          <p:cNvPr id="13" name="Text 11"/>
          <p:cNvSpPr txBox="1"/>
          <p:nvPr/>
        </p:nvSpPr>
        <p:spPr>
          <a:xfrm>
            <a:off x="649224" y="2224532"/>
            <a:ext cx="1635633"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Con los datos del mes, siguiendo el anexo de su actividad. Lo genera su sistema o se captura en el Portal.</a:t>
            </a:r>
            <a:endParaRPr lang="en-US" sz="950" dirty="0"/>
          </a:p>
        </p:txBody>
      </p:sp>
      <p:sp>
        <p:nvSpPr>
          <p:cNvPr id="14" name="Shape 12"/>
          <p:cNvSpPr/>
          <p:nvPr/>
        </p:nvSpPr>
        <p:spPr>
          <a:xfrm>
            <a:off x="2572893" y="1645920"/>
            <a:ext cx="1928241" cy="1534033"/>
          </a:xfrm>
          <a:prstGeom prst="rect">
            <a:avLst/>
          </a:prstGeom>
          <a:solidFill>
            <a:srgbClr val="FFFFFF"/>
          </a:solidFill>
          <a:ln w="6350">
            <a:solidFill>
              <a:srgbClr val="747975"/>
            </a:solidFill>
            <a:prstDash val="solid"/>
          </a:ln>
        </p:spPr>
      </p:sp>
      <p:sp>
        <p:nvSpPr>
          <p:cNvPr id="15" name="Shape 13"/>
          <p:cNvSpPr/>
          <p:nvPr/>
        </p:nvSpPr>
        <p:spPr>
          <a:xfrm>
            <a:off x="2719197" y="1792224"/>
            <a:ext cx="274320" cy="274320"/>
          </a:xfrm>
          <a:prstGeom prst="rect">
            <a:avLst/>
          </a:prstGeom>
          <a:solidFill>
            <a:srgbClr val="80BCB5"/>
          </a:solidFill>
          <a:ln/>
        </p:spPr>
      </p:sp>
      <p:sp>
        <p:nvSpPr>
          <p:cNvPr id="16" name="Text 14"/>
          <p:cNvSpPr txBox="1"/>
          <p:nvPr/>
        </p:nvSpPr>
        <p:spPr>
          <a:xfrm>
            <a:off x="2719197"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075813" y="1792224"/>
            <a:ext cx="1269873" cy="340868"/>
          </a:xfrm>
          <a:prstGeom prst="rect">
            <a:avLst/>
          </a:prstGeom>
          <a:noFill/>
          <a:ln/>
        </p:spPr>
        <p:txBody>
          <a:bodyPr wrap="square" lIns="0" tIns="0" rIns="0" bIns="0" rtlCol="0" anchor="ctr"/>
          <a:lstStyle/>
          <a:p>
            <a:pPr indent="0" marL="0">
              <a:buNone/>
            </a:pPr>
            <a:r>
              <a:rPr lang="en-US" sz="1100" b="1" dirty="0">
                <a:solidFill>
                  <a:srgbClr val="1B1B1E"/>
                </a:solidFill>
                <a:latin typeface="Arial" pitchFamily="34" charset="0"/>
                <a:ea typeface="Arial" pitchFamily="34" charset="-122"/>
                <a:cs typeface="Arial" pitchFamily="34" charset="-120"/>
              </a:rPr>
              <a:t>Se sube al Portal</a:t>
            </a:r>
            <a:endParaRPr lang="en-US" sz="1100" dirty="0"/>
          </a:p>
        </p:txBody>
      </p:sp>
      <p:sp>
        <p:nvSpPr>
          <p:cNvPr id="18" name="Text 16"/>
          <p:cNvSpPr txBox="1"/>
          <p:nvPr/>
        </p:nvSpPr>
        <p:spPr>
          <a:xfrm>
            <a:off x="2719197" y="2224532"/>
            <a:ext cx="1635633"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SPPLD del SAT, por Internet. No se manda por correo ni se entrega en ventanilla.</a:t>
            </a:r>
            <a:endParaRPr lang="en-US" sz="950" dirty="0"/>
          </a:p>
        </p:txBody>
      </p:sp>
      <p:sp>
        <p:nvSpPr>
          <p:cNvPr id="19" name="Shape 17"/>
          <p:cNvSpPr/>
          <p:nvPr/>
        </p:nvSpPr>
        <p:spPr>
          <a:xfrm>
            <a:off x="4642866" y="1645920"/>
            <a:ext cx="1928241" cy="1534033"/>
          </a:xfrm>
          <a:prstGeom prst="rect">
            <a:avLst/>
          </a:prstGeom>
          <a:solidFill>
            <a:srgbClr val="FFFFFF"/>
          </a:solidFill>
          <a:ln w="6350">
            <a:solidFill>
              <a:srgbClr val="747975"/>
            </a:solidFill>
            <a:prstDash val="solid"/>
          </a:ln>
        </p:spPr>
      </p:sp>
      <p:sp>
        <p:nvSpPr>
          <p:cNvPr id="20" name="Shape 18"/>
          <p:cNvSpPr/>
          <p:nvPr/>
        </p:nvSpPr>
        <p:spPr>
          <a:xfrm>
            <a:off x="4789170" y="1792224"/>
            <a:ext cx="274320" cy="274320"/>
          </a:xfrm>
          <a:prstGeom prst="rect">
            <a:avLst/>
          </a:prstGeom>
          <a:solidFill>
            <a:srgbClr val="80BCB5"/>
          </a:solidFill>
          <a:ln/>
        </p:spPr>
      </p:sp>
      <p:sp>
        <p:nvSpPr>
          <p:cNvPr id="21" name="Text 19"/>
          <p:cNvSpPr txBox="1"/>
          <p:nvPr/>
        </p:nvSpPr>
        <p:spPr>
          <a:xfrm>
            <a:off x="4789170"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5145786" y="1792224"/>
            <a:ext cx="1269873" cy="340868"/>
          </a:xfrm>
          <a:prstGeom prst="rect">
            <a:avLst/>
          </a:prstGeom>
          <a:noFill/>
          <a:ln/>
        </p:spPr>
        <p:txBody>
          <a:bodyPr wrap="square" lIns="0" tIns="0" rIns="0" bIns="0" rtlCol="0" anchor="ctr"/>
          <a:lstStyle/>
          <a:p>
            <a:pPr indent="0" marL="0">
              <a:buNone/>
            </a:pPr>
            <a:r>
              <a:rPr lang="en-US" sz="1100" b="1" dirty="0">
                <a:solidFill>
                  <a:srgbClr val="1B1B1E"/>
                </a:solidFill>
                <a:latin typeface="Arial" pitchFamily="34" charset="0"/>
                <a:ea typeface="Arial" pitchFamily="34" charset="-122"/>
                <a:cs typeface="Arial" pitchFamily="34" charset="-120"/>
              </a:rPr>
              <a:t>Llega el acuse</a:t>
            </a:r>
            <a:endParaRPr lang="en-US" sz="1100" dirty="0"/>
          </a:p>
        </p:txBody>
      </p:sp>
      <p:sp>
        <p:nvSpPr>
          <p:cNvPr id="23" name="Text 21"/>
          <p:cNvSpPr txBox="1"/>
          <p:nvPr/>
        </p:nvSpPr>
        <p:spPr>
          <a:xfrm>
            <a:off x="4789170" y="2224532"/>
            <a:ext cx="1635633"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Aceptado: cumplió. Rechazado: hay errores de integridad y hay que corregir y reenviar dentro del plazo.</a:t>
            </a:r>
            <a:endParaRPr lang="en-US" sz="950" dirty="0"/>
          </a:p>
        </p:txBody>
      </p:sp>
      <p:sp>
        <p:nvSpPr>
          <p:cNvPr id="24" name="Shape 22"/>
          <p:cNvSpPr/>
          <p:nvPr/>
        </p:nvSpPr>
        <p:spPr>
          <a:xfrm>
            <a:off x="6712839" y="1645920"/>
            <a:ext cx="1928241" cy="1534033"/>
          </a:xfrm>
          <a:prstGeom prst="rect">
            <a:avLst/>
          </a:prstGeom>
          <a:solidFill>
            <a:srgbClr val="FFFFFF"/>
          </a:solidFill>
          <a:ln w="6350">
            <a:solidFill>
              <a:srgbClr val="747975"/>
            </a:solidFill>
            <a:prstDash val="solid"/>
          </a:ln>
        </p:spPr>
      </p:sp>
      <p:sp>
        <p:nvSpPr>
          <p:cNvPr id="25" name="Shape 23"/>
          <p:cNvSpPr/>
          <p:nvPr/>
        </p:nvSpPr>
        <p:spPr>
          <a:xfrm>
            <a:off x="6859143" y="1792224"/>
            <a:ext cx="274320" cy="274320"/>
          </a:xfrm>
          <a:prstGeom prst="rect">
            <a:avLst/>
          </a:prstGeom>
          <a:solidFill>
            <a:srgbClr val="80BCB5"/>
          </a:solidFill>
          <a:ln/>
        </p:spPr>
      </p:sp>
      <p:sp>
        <p:nvSpPr>
          <p:cNvPr id="26" name="Text 24"/>
          <p:cNvSpPr txBox="1"/>
          <p:nvPr/>
        </p:nvSpPr>
        <p:spPr>
          <a:xfrm>
            <a:off x="6859143" y="17922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7215759" y="1792224"/>
            <a:ext cx="1269873" cy="340868"/>
          </a:xfrm>
          <a:prstGeom prst="rect">
            <a:avLst/>
          </a:prstGeom>
          <a:noFill/>
          <a:ln/>
        </p:spPr>
        <p:txBody>
          <a:bodyPr wrap="square" lIns="0" tIns="0" rIns="0" bIns="0" rtlCol="0" anchor="ctr"/>
          <a:lstStyle/>
          <a:p>
            <a:pPr indent="0" marL="0">
              <a:buNone/>
            </a:pPr>
            <a:r>
              <a:rPr lang="en-US" sz="1100" b="1" dirty="0">
                <a:solidFill>
                  <a:srgbClr val="1B1B1E"/>
                </a:solidFill>
                <a:latin typeface="Arial" pitchFamily="34" charset="0"/>
                <a:ea typeface="Arial" pitchFamily="34" charset="-122"/>
                <a:cs typeface="Arial" pitchFamily="34" charset="-120"/>
              </a:rPr>
              <a:t>Si se equivocó</a:t>
            </a:r>
            <a:endParaRPr lang="en-US" sz="1100" dirty="0"/>
          </a:p>
        </p:txBody>
      </p:sp>
      <p:sp>
        <p:nvSpPr>
          <p:cNvPr id="28" name="Text 26"/>
          <p:cNvSpPr txBox="1"/>
          <p:nvPr/>
        </p:nvSpPr>
        <p:spPr>
          <a:xfrm>
            <a:off x="6859143" y="2224532"/>
            <a:ext cx="1635633"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Un Aviso modificatorio, una sola vez, dentro de los 30 días naturales siguientes al acuse.</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3362833"/>
          <a:ext cx="8138160" cy="914400"/>
        </p:xfrm>
        <a:graphic>
          <a:graphicData uri="http://schemas.openxmlformats.org/drawingml/2006/table">
            <a:tbl>
              <a:tblPr/>
              <a:tblGrid>
                <a:gridCol w="1920240"/>
                <a:gridCol w="6217920"/>
              </a:tblGrid>
              <a:tr h="237744">
                <a:tc>
                  <a:txBody>
                    <a:bodyPr/>
                    <a:lstStyle/>
                    <a:p>
                      <a:pPr indent="0" marL="0">
                        <a:buNone/>
                      </a:pPr>
                      <a:r>
                        <a:rPr lang="en-US" sz="950" b="1" dirty="0">
                          <a:solidFill>
                            <a:srgbClr val="FFFFFF"/>
                          </a:solidFill>
                          <a:latin typeface="Arial" pitchFamily="34" charset="0"/>
                          <a:ea typeface="Arial" pitchFamily="34" charset="-122"/>
                          <a:cs typeface="Arial" pitchFamily="34" charset="-120"/>
                        </a:rPr>
                        <a:t>Columna del layout</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Qué le dice</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37744">
                <a:tc>
                  <a:txBody>
                    <a:bodyPr/>
                    <a:lstStyle/>
                    <a:p>
                      <a:pPr indent="0" marL="0">
                        <a:buNone/>
                      </a:pPr>
                      <a:r>
                        <a:rPr lang="en-US" sz="900" b="1" dirty="0">
                          <a:solidFill>
                            <a:srgbClr val="1B1B1E"/>
                          </a:solidFill>
                          <a:latin typeface="Arial" pitchFamily="34" charset="0"/>
                          <a:ea typeface="Arial" pitchFamily="34" charset="-122"/>
                          <a:cs typeface="Arial" pitchFamily="34" charset="-120"/>
                        </a:rPr>
                        <a:t>Obligatoriedad</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Obligatorio: sin ese dato el XML no pasa. Opcional: el archivo valida sin él</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37744">
                <a:tc>
                  <a:txBody>
                    <a:bodyPr/>
                    <a:lstStyle/>
                    <a:p>
                      <a:pPr indent="0" marL="0">
                        <a:buNone/>
                      </a:pPr>
                      <a:r>
                        <a:rPr lang="en-US" sz="900" b="1" dirty="0">
                          <a:solidFill>
                            <a:srgbClr val="1B1B1E"/>
                          </a:solidFill>
                          <a:latin typeface="Arial" pitchFamily="34" charset="0"/>
                          <a:ea typeface="Arial" pitchFamily="34" charset="-122"/>
                          <a:cs typeface="Arial" pitchFamily="34" charset="-120"/>
                        </a:rPr>
                        <a:t>Tipo de dato</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Etiqueta es un contenedor: no lleva valor. Los demás sí llevan dato</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37744">
                <a:tc>
                  <a:txBody>
                    <a:bodyPr/>
                    <a:lstStyle/>
                    <a:p>
                      <a:pPr indent="0" marL="0">
                        <a:buNone/>
                      </a:pPr>
                      <a:r>
                        <a:rPr lang="en-US" sz="900" b="1" dirty="0">
                          <a:solidFill>
                            <a:srgbClr val="1B1B1E"/>
                          </a:solidFill>
                          <a:latin typeface="Arial" pitchFamily="34" charset="0"/>
                          <a:ea typeface="Arial" pitchFamily="34" charset="-122"/>
                          <a:cs typeface="Arial" pitchFamily="34" charset="-120"/>
                        </a:rPr>
                        <a:t>Longitud y formato</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Cuántos caracteres y con qué patrón: un RFC de 13, una fecha AAAAMMDD</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8</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2 · 8 a 28 min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Qué cambia respecto de los formatos de hoy</a:t>
            </a:r>
            <a:endParaRPr lang="en-US" sz="2700" dirty="0"/>
          </a:p>
        </p:txBody>
      </p:sp>
      <p:sp>
        <p:nvSpPr>
          <p:cNvPr id="9" name="Shape 7"/>
          <p:cNvSpPr/>
          <p:nvPr/>
        </p:nvSpPr>
        <p:spPr>
          <a:xfrm>
            <a:off x="502920" y="1645920"/>
            <a:ext cx="3986784" cy="1280160"/>
          </a:xfrm>
          <a:prstGeom prst="rect">
            <a:avLst/>
          </a:prstGeom>
          <a:solidFill>
            <a:srgbClr val="FFFFFF"/>
          </a:solidFill>
          <a:ln w="6350">
            <a:solidFill>
              <a:srgbClr val="747975"/>
            </a:solidFill>
            <a:prstDash val="solid"/>
          </a:ln>
        </p:spPr>
      </p:sp>
      <p:sp>
        <p:nvSpPr>
          <p:cNvPr id="10" name="Text 8"/>
          <p:cNvSpPr txBox="1"/>
          <p:nvPr/>
        </p:nvSpPr>
        <p:spPr>
          <a:xfrm>
            <a:off x="704088" y="1755648"/>
            <a:ext cx="3584448" cy="566928"/>
          </a:xfrm>
          <a:prstGeom prst="rect">
            <a:avLst/>
          </a:prstGeom>
          <a:noFill/>
          <a:ln/>
        </p:spPr>
        <p:txBody>
          <a:bodyPr wrap="square" lIns="0" tIns="0" rIns="0" bIns="0" rtlCol="0" anchor="ctr"/>
          <a:lstStyle/>
          <a:p>
            <a:pPr indent="0" marL="0">
              <a:buNone/>
            </a:pPr>
            <a:r>
              <a:rPr lang="en-US" sz="3800" b="1" dirty="0">
                <a:solidFill>
                  <a:srgbClr val="A663CC"/>
                </a:solidFill>
                <a:latin typeface="Arial" pitchFamily="34" charset="0"/>
                <a:ea typeface="Arial" pitchFamily="34" charset="-122"/>
                <a:cs typeface="Arial" pitchFamily="34" charset="-120"/>
              </a:rPr>
              <a:t>3,501</a:t>
            </a:r>
            <a:endParaRPr lang="en-US" sz="3800" dirty="0"/>
          </a:p>
        </p:txBody>
      </p:sp>
      <p:sp>
        <p:nvSpPr>
          <p:cNvPr id="11" name="Text 9"/>
          <p:cNvSpPr txBox="1"/>
          <p:nvPr/>
        </p:nvSpPr>
        <p:spPr>
          <a:xfrm>
            <a:off x="704088" y="2340864"/>
            <a:ext cx="3584448"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campos en 20 anexos</a:t>
            </a:r>
            <a:endParaRPr lang="en-US" sz="1150" dirty="0"/>
          </a:p>
        </p:txBody>
      </p:sp>
      <p:sp>
        <p:nvSpPr>
          <p:cNvPr id="12" name="Text 10"/>
          <p:cNvSpPr txBox="1"/>
          <p:nvPr/>
        </p:nvSpPr>
        <p:spPr>
          <a:xfrm>
            <a:off x="704088" y="2555621"/>
            <a:ext cx="3584448" cy="279019"/>
          </a:xfrm>
          <a:prstGeom prst="rect">
            <a:avLst/>
          </a:prstGeom>
          <a:noFill/>
          <a:ln/>
        </p:spPr>
        <p:txBody>
          <a:bodyPr wrap="square" lIns="0" tIns="0" rIns="0" bIns="0" rtlCol="0" anchor="ctr"/>
          <a:lstStyle/>
          <a:p>
            <a:pPr indent="0" marL="0">
              <a:lnSpc>
                <a:spcPct val="110000"/>
              </a:lnSpc>
              <a:buNone/>
            </a:pPr>
            <a:r>
              <a:rPr lang="en-US" sz="900" dirty="0">
                <a:solidFill>
                  <a:srgbClr val="393E41"/>
                </a:solidFill>
                <a:latin typeface="Arial" pitchFamily="34" charset="0"/>
                <a:ea typeface="Arial" pitchFamily="34" charset="-122"/>
                <a:cs typeface="Arial" pitchFamily="34" charset="-120"/>
              </a:rPr>
              <a:t>Resolución de 2013, última reforma 24-may-2021</a:t>
            </a:r>
            <a:endParaRPr lang="en-US" sz="900" dirty="0"/>
          </a:p>
        </p:txBody>
      </p:sp>
      <p:sp>
        <p:nvSpPr>
          <p:cNvPr id="13" name="Shape 11"/>
          <p:cNvSpPr/>
          <p:nvPr/>
        </p:nvSpPr>
        <p:spPr>
          <a:xfrm>
            <a:off x="4654296" y="1645920"/>
            <a:ext cx="3986784" cy="1280160"/>
          </a:xfrm>
          <a:prstGeom prst="rect">
            <a:avLst/>
          </a:prstGeom>
          <a:solidFill>
            <a:srgbClr val="FF8361"/>
          </a:solidFill>
          <a:ln w="6350">
            <a:solidFill>
              <a:srgbClr val="FF8361"/>
            </a:solidFill>
            <a:prstDash val="solid"/>
          </a:ln>
        </p:spPr>
      </p:sp>
      <p:sp>
        <p:nvSpPr>
          <p:cNvPr id="14" name="Text 12"/>
          <p:cNvSpPr txBox="1"/>
          <p:nvPr/>
        </p:nvSpPr>
        <p:spPr>
          <a:xfrm>
            <a:off x="4855464" y="1755648"/>
            <a:ext cx="3584448" cy="566928"/>
          </a:xfrm>
          <a:prstGeom prst="rect">
            <a:avLst/>
          </a:prstGeom>
          <a:noFill/>
          <a:ln/>
        </p:spPr>
        <p:txBody>
          <a:bodyPr wrap="square" lIns="0" tIns="0" rIns="0" bIns="0" rtlCol="0" anchor="ctr"/>
          <a:lstStyle/>
          <a:p>
            <a:pPr indent="0" marL="0">
              <a:buNone/>
            </a:pPr>
            <a:r>
              <a:rPr lang="en-US" sz="3800" b="1" dirty="0">
                <a:solidFill>
                  <a:srgbClr val="1B1B1E"/>
                </a:solidFill>
                <a:latin typeface="Arial" pitchFamily="34" charset="0"/>
                <a:ea typeface="Arial" pitchFamily="34" charset="-122"/>
                <a:cs typeface="Arial" pitchFamily="34" charset="-120"/>
              </a:rPr>
              <a:t>4,182</a:t>
            </a:r>
            <a:endParaRPr lang="en-US" sz="3800" dirty="0"/>
          </a:p>
        </p:txBody>
      </p:sp>
      <p:sp>
        <p:nvSpPr>
          <p:cNvPr id="15" name="Text 13"/>
          <p:cNvSpPr txBox="1"/>
          <p:nvPr/>
        </p:nvSpPr>
        <p:spPr>
          <a:xfrm>
            <a:off x="4855464" y="2340864"/>
            <a:ext cx="3584448"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campos en 22 anexos</a:t>
            </a:r>
            <a:endParaRPr lang="en-US" sz="1150" dirty="0"/>
          </a:p>
        </p:txBody>
      </p:sp>
      <p:sp>
        <p:nvSpPr>
          <p:cNvPr id="16" name="Text 14"/>
          <p:cNvSpPr txBox="1"/>
          <p:nvPr/>
        </p:nvSpPr>
        <p:spPr>
          <a:xfrm>
            <a:off x="4855464" y="2555621"/>
            <a:ext cx="3584448" cy="279019"/>
          </a:xfrm>
          <a:prstGeom prst="rect">
            <a:avLst/>
          </a:prstGeom>
          <a:noFill/>
          <a:ln/>
        </p:spPr>
        <p:txBody>
          <a:bodyPr wrap="square" lIns="0" tIns="0" rIns="0" bIns="0" rtlCol="0" anchor="ctr"/>
          <a:lstStyle/>
          <a:p>
            <a:pPr indent="0" marL="0">
              <a:lnSpc>
                <a:spcPct val="110000"/>
              </a:lnSpc>
              <a:buNone/>
            </a:pPr>
            <a:r>
              <a:rPr lang="en-US" sz="900" dirty="0">
                <a:solidFill>
                  <a:srgbClr val="1B1B1E"/>
                </a:solidFill>
                <a:latin typeface="Arial" pitchFamily="34" charset="0"/>
                <a:ea typeface="Arial" pitchFamily="34" charset="-122"/>
                <a:cs typeface="Arial" pitchFamily="34" charset="-120"/>
              </a:rPr>
              <a:t>DOF 24 de septiembre de 2026</a:t>
            </a:r>
            <a:endParaRPr lang="en-US" sz="900" dirty="0"/>
          </a:p>
        </p:txBody>
      </p:sp>
      <p:sp>
        <p:nvSpPr>
          <p:cNvPr id="17" name="Shape 15"/>
          <p:cNvSpPr/>
          <p:nvPr/>
        </p:nvSpPr>
        <p:spPr>
          <a:xfrm>
            <a:off x="502920" y="4078224"/>
            <a:ext cx="8138160" cy="566928"/>
          </a:xfrm>
          <a:prstGeom prst="rect">
            <a:avLst/>
          </a:prstGeom>
          <a:solidFill>
            <a:srgbClr val="80BCB5"/>
          </a:solidFill>
          <a:ln/>
        </p:spPr>
      </p:sp>
      <p:sp>
        <p:nvSpPr>
          <p:cNvPr id="18" name="Text 16"/>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El cotejo se hizo campo por campo, sobre el texto publicado. No es una lectura de resumen.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9</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EL CAMBIO DE FONDO</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Dueño Beneficiario desaparece</a:t>
            </a:r>
            <a:endParaRPr lang="en-US" sz="2700" dirty="0"/>
          </a:p>
        </p:txBody>
      </p:sp>
      <p:sp>
        <p:nvSpPr>
          <p:cNvPr id="9" name="Shape 7"/>
          <p:cNvSpPr/>
          <p:nvPr/>
        </p:nvSpPr>
        <p:spPr>
          <a:xfrm>
            <a:off x="502920" y="1645920"/>
            <a:ext cx="8138160" cy="630682"/>
          </a:xfrm>
          <a:prstGeom prst="rect">
            <a:avLst/>
          </a:prstGeom>
          <a:solidFill>
            <a:srgbClr val="1B1B1E"/>
          </a:solidFill>
          <a:ln/>
        </p:spPr>
      </p:sp>
      <p:sp>
        <p:nvSpPr>
          <p:cNvPr id="10" name="Text 8"/>
          <p:cNvSpPr txBox="1"/>
          <p:nvPr/>
        </p:nvSpPr>
        <p:spPr>
          <a:xfrm>
            <a:off x="731520" y="1645920"/>
            <a:ext cx="7680960" cy="63068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Hoy el bloque se llama &lt;dueno_beneficiario&gt; y admite persona física, PERSONA MORAL o fideicomiso. En los nuevos formatos desaparece de los 16 anexos donde estaba.</a:t>
            </a:r>
            <a:endParaRPr lang="en-US" sz="1150" dirty="0"/>
          </a:p>
        </p:txBody>
      </p:sp>
      <p:sp>
        <p:nvSpPr>
          <p:cNvPr id="11" name="Shape 9"/>
          <p:cNvSpPr/>
          <p:nvPr/>
        </p:nvSpPr>
        <p:spPr>
          <a:xfrm>
            <a:off x="502920" y="2477770"/>
            <a:ext cx="3998214" cy="1118235"/>
          </a:xfrm>
          <a:prstGeom prst="rect">
            <a:avLst/>
          </a:prstGeom>
          <a:solidFill>
            <a:srgbClr val="FFFFFF"/>
          </a:solidFill>
          <a:ln w="6350">
            <a:solidFill>
              <a:srgbClr val="747975"/>
            </a:solidFill>
            <a:prstDash val="solid"/>
          </a:ln>
        </p:spPr>
      </p:sp>
      <p:sp>
        <p:nvSpPr>
          <p:cNvPr id="12" name="Text 10"/>
          <p:cNvSpPr txBox="1"/>
          <p:nvPr/>
        </p:nvSpPr>
        <p:spPr>
          <a:xfrm>
            <a:off x="649224" y="2624074"/>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Antes · se podía cerrar en una sociedad</a:t>
            </a:r>
            <a:endParaRPr lang="en-US" sz="1150" dirty="0"/>
          </a:p>
        </p:txBody>
      </p:sp>
      <p:sp>
        <p:nvSpPr>
          <p:cNvPr id="13" name="Text 11"/>
          <p:cNvSpPr txBox="1"/>
          <p:nvPr/>
        </p:nvSpPr>
        <p:spPr>
          <a:xfrm>
            <a:off x="649224" y="2934970"/>
            <a:ext cx="3705606"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Bastaba registrar a la persona moral que aparecía como dueño beneficiario y el expediente quedaba completo para efectos del Aviso.</a:t>
            </a:r>
            <a:endParaRPr lang="en-US" sz="950" dirty="0"/>
          </a:p>
        </p:txBody>
      </p:sp>
      <p:sp>
        <p:nvSpPr>
          <p:cNvPr id="14" name="Shape 12"/>
          <p:cNvSpPr/>
          <p:nvPr/>
        </p:nvSpPr>
        <p:spPr>
          <a:xfrm>
            <a:off x="4642866" y="2477770"/>
            <a:ext cx="3998214" cy="1118235"/>
          </a:xfrm>
          <a:prstGeom prst="rect">
            <a:avLst/>
          </a:prstGeom>
          <a:solidFill>
            <a:srgbClr val="FFFFFF"/>
          </a:solidFill>
          <a:ln w="6350">
            <a:solidFill>
              <a:srgbClr val="747975"/>
            </a:solidFill>
            <a:prstDash val="solid"/>
          </a:ln>
        </p:spPr>
      </p:sp>
      <p:sp>
        <p:nvSpPr>
          <p:cNvPr id="15" name="Text 13"/>
          <p:cNvSpPr txBox="1"/>
          <p:nvPr/>
        </p:nvSpPr>
        <p:spPr>
          <a:xfrm>
            <a:off x="4789170" y="2624074"/>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Ahora · hay que llegar a la persona física</a:t>
            </a:r>
            <a:endParaRPr lang="en-US" sz="1150" dirty="0"/>
          </a:p>
        </p:txBody>
      </p:sp>
      <p:sp>
        <p:nvSpPr>
          <p:cNvPr id="16" name="Text 14"/>
          <p:cNvSpPr txBox="1"/>
          <p:nvPr/>
        </p:nvSpPr>
        <p:spPr>
          <a:xfrm>
            <a:off x="4789170" y="2934970"/>
            <a:ext cx="3705606"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Lo sustituye &lt;beneficiario_controlador&gt;, en 20 anexos, con una sola variante: &lt;bc_persona_fisica&gt;. No hay persona moral. No hay fideicomiso.</a:t>
            </a:r>
            <a:endParaRPr lang="en-US" sz="950" dirty="0"/>
          </a:p>
        </p:txBody>
      </p:sp>
      <p:sp>
        <p:nvSpPr>
          <p:cNvPr id="17" name="Shape 15"/>
          <p:cNvSpPr/>
          <p:nvPr/>
        </p:nvSpPr>
        <p:spPr>
          <a:xfrm>
            <a:off x="502920" y="4014470"/>
            <a:ext cx="8138160" cy="630682"/>
          </a:xfrm>
          <a:prstGeom prst="rect">
            <a:avLst/>
          </a:prstGeom>
          <a:solidFill>
            <a:srgbClr val="80BCB5"/>
          </a:solidFill>
          <a:ln/>
        </p:spPr>
      </p:sp>
      <p:sp>
        <p:nvSpPr>
          <p:cNvPr id="18" name="Text 16"/>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Esto no es un campo nuevo que llenar: los expedientes que hoy cierran en una sociedad quedan INCOMPLETOS para el formato nuevo.</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10</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EL CAMPO QUE LO AMARRA</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Hay que declarar cuántas figuras hay en medio</a:t>
            </a:r>
            <a:endParaRPr lang="en-US" sz="2400" dirty="0"/>
          </a:p>
        </p:txBody>
      </p:sp>
      <p:sp>
        <p:nvSpPr>
          <p:cNvPr id="9" name="Shape 7"/>
          <p:cNvSpPr/>
          <p:nvPr/>
        </p:nvSpPr>
        <p:spPr>
          <a:xfrm>
            <a:off x="502920" y="1645920"/>
            <a:ext cx="8138160" cy="841248"/>
          </a:xfrm>
          <a:prstGeom prst="rect">
            <a:avLst/>
          </a:prstGeom>
          <a:solidFill>
            <a:srgbClr val="FFFFFF"/>
          </a:solidFill>
          <a:ln w="6350">
            <a:solidFill>
              <a:srgbClr val="747975"/>
            </a:solidFill>
            <a:prstDash val="solid"/>
          </a:ln>
        </p:spPr>
      </p:sp>
      <p:sp>
        <p:nvSpPr>
          <p:cNvPr id="10" name="Text 8"/>
          <p:cNvSpPr txBox="1"/>
          <p:nvPr/>
        </p:nvSpPr>
        <p:spPr>
          <a:xfrm>
            <a:off x="731520" y="1755648"/>
            <a:ext cx="7680960" cy="329184"/>
          </a:xfrm>
          <a:prstGeom prst="rect">
            <a:avLst/>
          </a:prstGeom>
          <a:noFill/>
          <a:ln/>
        </p:spPr>
        <p:txBody>
          <a:bodyPr wrap="square" lIns="0" tIns="0" rIns="0" bIns="0" rtlCol="0" anchor="ctr"/>
          <a:lstStyle/>
          <a:p>
            <a:pPr indent="0" marL="0">
              <a:buNone/>
            </a:pPr>
            <a:r>
              <a:rPr lang="en-US" sz="1400" b="1" dirty="0">
                <a:solidFill>
                  <a:srgbClr val="1B1B1E"/>
                </a:solidFill>
                <a:latin typeface="Courier New" pitchFamily="34" charset="0"/>
                <a:ea typeface="Courier New" pitchFamily="34" charset="-122"/>
                <a:cs typeface="Courier New" pitchFamily="34" charset="-120"/>
              </a:rPr>
              <a:t>&lt;total_fig_juridicas&gt;</a:t>
            </a:r>
            <a:endParaRPr lang="en-US" sz="1400" dirty="0"/>
          </a:p>
        </p:txBody>
      </p:sp>
      <p:sp>
        <p:nvSpPr>
          <p:cNvPr id="11" name="Text 9"/>
          <p:cNvSpPr txBox="1"/>
          <p:nvPr/>
        </p:nvSpPr>
        <p:spPr>
          <a:xfrm>
            <a:off x="731520" y="2103120"/>
            <a:ext cx="7680960" cy="292608"/>
          </a:xfrm>
          <a:prstGeom prst="rect">
            <a:avLst/>
          </a:prstGeom>
          <a:noFill/>
          <a:ln/>
        </p:spPr>
        <p:txBody>
          <a:bodyPr wrap="square" lIns="0" tIns="0" rIns="0" bIns="0" rtlCol="0" anchor="ctr"/>
          <a:lstStyle/>
          <a:p>
            <a:pPr indent="0" marL="0">
              <a:lnSpc>
                <a:spcPct val="110000"/>
              </a:lnSpc>
              <a:buNone/>
            </a:pPr>
            <a:r>
              <a:rPr lang="en-US" sz="1050" dirty="0">
                <a:solidFill>
                  <a:srgbClr val="393E41"/>
                </a:solidFill>
                <a:latin typeface="Arial" pitchFamily="34" charset="0"/>
                <a:ea typeface="Arial" pitchFamily="34" charset="-122"/>
                <a:cs typeface="Arial" pitchFamily="34" charset="-120"/>
              </a:rPr>
              <a:t>Número de 1 a 4 dígitos · Entra en 19 de los 22 anexos · No existía en 2021</a:t>
            </a:r>
            <a:endParaRPr lang="en-US" sz="1050" dirty="0"/>
          </a:p>
        </p:txBody>
      </p:sp>
      <p:sp>
        <p:nvSpPr>
          <p:cNvPr id="12" name="Shape 10"/>
          <p:cNvSpPr/>
          <p:nvPr/>
        </p:nvSpPr>
        <p:spPr>
          <a:xfrm>
            <a:off x="502920" y="2670048"/>
            <a:ext cx="2618232" cy="1402334"/>
          </a:xfrm>
          <a:prstGeom prst="rect">
            <a:avLst/>
          </a:prstGeom>
          <a:solidFill>
            <a:srgbClr val="FFFFFF"/>
          </a:solidFill>
          <a:ln w="6350">
            <a:solidFill>
              <a:srgbClr val="747975"/>
            </a:solidFill>
            <a:prstDash val="solid"/>
          </a:ln>
        </p:spPr>
      </p:sp>
      <p:sp>
        <p:nvSpPr>
          <p:cNvPr id="13" name="Text 11"/>
          <p:cNvSpPr txBox="1"/>
          <p:nvPr/>
        </p:nvSpPr>
        <p:spPr>
          <a:xfrm>
            <a:off x="649224" y="2816352"/>
            <a:ext cx="2325624" cy="356362"/>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Qué pide, en una frase</a:t>
            </a:r>
            <a:endParaRPr lang="en-US" sz="1150" dirty="0"/>
          </a:p>
        </p:txBody>
      </p:sp>
      <p:sp>
        <p:nvSpPr>
          <p:cNvPr id="14" name="Text 12"/>
          <p:cNvSpPr txBox="1"/>
          <p:nvPr/>
        </p:nvSpPr>
        <p:spPr>
          <a:xfrm>
            <a:off x="649224" y="3264154"/>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Cuántas sociedades, fideicomisos u otras figuras jurídicas hay entre el cliente y la persona física que controla.</a:t>
            </a:r>
            <a:endParaRPr lang="en-US" sz="950" dirty="0"/>
          </a:p>
        </p:txBody>
      </p:sp>
      <p:sp>
        <p:nvSpPr>
          <p:cNvPr id="15" name="Shape 13"/>
          <p:cNvSpPr/>
          <p:nvPr/>
        </p:nvSpPr>
        <p:spPr>
          <a:xfrm>
            <a:off x="3262884" y="2670048"/>
            <a:ext cx="2618232" cy="1402334"/>
          </a:xfrm>
          <a:prstGeom prst="rect">
            <a:avLst/>
          </a:prstGeom>
          <a:solidFill>
            <a:srgbClr val="FFFFFF"/>
          </a:solidFill>
          <a:ln w="6350">
            <a:solidFill>
              <a:srgbClr val="747975"/>
            </a:solidFill>
            <a:prstDash val="solid"/>
          </a:ln>
        </p:spPr>
      </p:sp>
      <p:sp>
        <p:nvSpPr>
          <p:cNvPr id="16" name="Text 14"/>
          <p:cNvSpPr txBox="1"/>
          <p:nvPr/>
        </p:nvSpPr>
        <p:spPr>
          <a:xfrm>
            <a:off x="3409188" y="2816352"/>
            <a:ext cx="2325624" cy="356362"/>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Por qué no se puede inventar</a:t>
            </a:r>
            <a:endParaRPr lang="en-US" sz="1150" dirty="0"/>
          </a:p>
        </p:txBody>
      </p:sp>
      <p:sp>
        <p:nvSpPr>
          <p:cNvPr id="17" name="Text 15"/>
          <p:cNvSpPr txBox="1"/>
          <p:nvPr/>
        </p:nvSpPr>
        <p:spPr>
          <a:xfrm>
            <a:off x="3409188" y="3264154"/>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Es un número que obliga a haber recorrido la cadena completa. Ponerlo sin haberla recorrido deja rastro en el propio Aviso.</a:t>
            </a:r>
            <a:endParaRPr lang="en-US" sz="950" dirty="0"/>
          </a:p>
        </p:txBody>
      </p:sp>
      <p:sp>
        <p:nvSpPr>
          <p:cNvPr id="18" name="Shape 16"/>
          <p:cNvSpPr/>
          <p:nvPr/>
        </p:nvSpPr>
        <p:spPr>
          <a:xfrm>
            <a:off x="6022848" y="2670048"/>
            <a:ext cx="2618232" cy="1402334"/>
          </a:xfrm>
          <a:prstGeom prst="rect">
            <a:avLst/>
          </a:prstGeom>
          <a:solidFill>
            <a:srgbClr val="FFFFFF"/>
          </a:solidFill>
          <a:ln w="6350">
            <a:solidFill>
              <a:srgbClr val="747975"/>
            </a:solidFill>
            <a:prstDash val="solid"/>
          </a:ln>
        </p:spPr>
      </p:sp>
      <p:sp>
        <p:nvSpPr>
          <p:cNvPr id="19" name="Text 17"/>
          <p:cNvSpPr txBox="1"/>
          <p:nvPr/>
        </p:nvSpPr>
        <p:spPr>
          <a:xfrm>
            <a:off x="6169152" y="2816352"/>
            <a:ext cx="2325624" cy="356362"/>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Qué implica para el expediente</a:t>
            </a:r>
            <a:endParaRPr lang="en-US" sz="1150" dirty="0"/>
          </a:p>
        </p:txBody>
      </p:sp>
      <p:sp>
        <p:nvSpPr>
          <p:cNvPr id="20" name="Text 18"/>
          <p:cNvSpPr txBox="1"/>
          <p:nvPr/>
        </p:nvSpPr>
        <p:spPr>
          <a:xfrm>
            <a:off x="6169152" y="3264154"/>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Con 300 expedientes, eso no se hace en un mes. Por eso el trabajo empieza esta semana y no en 2027.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11</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LOS OTROS CINCO</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Cambios que pegan en casi todos los anexos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2834640"/>
                <a:gridCol w="777240"/>
                <a:gridCol w="4526280"/>
              </a:tblGrid>
              <a:tr h="256032">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 cambió</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Anexos</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Por qué importa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56032">
                <a:tc>
                  <a:txBody>
                    <a:bodyPr/>
                    <a:lstStyle/>
                    <a:p>
                      <a:pPr indent="0" marL="0">
                        <a:buNone/>
                      </a:pPr>
                      <a:r>
                        <a:rPr lang="en-US" sz="950" b="1" dirty="0">
                          <a:solidFill>
                            <a:srgbClr val="1B1B1E"/>
                          </a:solidFill>
                          <a:latin typeface="Arial" pitchFamily="34" charset="0"/>
                          <a:ea typeface="Arial" pitchFamily="34" charset="-122"/>
                          <a:cs typeface="Arial" pitchFamily="34" charset="-120"/>
                        </a:rPr>
                        <a:t>Entra &lt;total_fig_juridicas&gt;</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19</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Obliga a recorrer la cadena de control completa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1B1B1E"/>
                          </a:solidFill>
                          <a:latin typeface="Arial" pitchFamily="34" charset="0"/>
                          <a:ea typeface="Arial" pitchFamily="34" charset="-122"/>
                          <a:cs typeface="Arial" pitchFamily="34" charset="-120"/>
                        </a:rPr>
                        <a:t>Entra &lt;acumulacion&gt;</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17</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La obligación del art. 7 del Reglamento ya existía; ahora hay dónde declararla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1B1B1E"/>
                          </a:solidFill>
                          <a:latin typeface="Arial" pitchFamily="34" charset="0"/>
                          <a:ea typeface="Arial" pitchFamily="34" charset="-122"/>
                          <a:cs typeface="Arial" pitchFamily="34" charset="-120"/>
                        </a:rPr>
                        <a:t>Más detalle de persona moral</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21</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Entran &lt;naturaleza_juridica&gt;, &lt;tipo_persona_moral&gt; y &lt;otro_pm&gt;</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1B1B1E"/>
                          </a:solidFill>
                          <a:latin typeface="Arial" pitchFamily="34" charset="0"/>
                          <a:ea typeface="Arial" pitchFamily="34" charset="-122"/>
                          <a:cs typeface="Arial" pitchFamily="34" charset="-120"/>
                        </a:rPr>
                        <a:t>Entra &lt;pago_por_tercero&gt;</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Hay que declarar si alguien distinto del cliente pagó</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1B1B1E"/>
                          </a:solidFill>
                          <a:latin typeface="Arial" pitchFamily="34" charset="0"/>
                          <a:ea typeface="Arial" pitchFamily="34" charset="-122"/>
                          <a:cs typeface="Arial" pitchFamily="34" charset="-120"/>
                        </a:rPr>
                        <a:t>Dos anexos nuevos: 12-C y 14-A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Facilitadoras (fr. XII, D) y comercio exterior (fr. XIV): 229 campos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14470"/>
            <a:ext cx="8138160" cy="630682"/>
          </a:xfrm>
          <a:prstGeom prst="rect">
            <a:avLst/>
          </a:prstGeom>
          <a:solidFill>
            <a:srgbClr val="1B1B1E"/>
          </a:solidFill>
          <a:ln/>
        </p:spPr>
      </p:sp>
      <p:sp>
        <p:nvSpPr>
          <p:cNvPr id="11" name="Text 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Sólo TRES etiquetas desaparecen en toda la reforma. Entran 57 nuevas. El movimiento es casi todo de adición.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12</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LA DISTINCIÓN QUE EVITA EL PÁNICO</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Campo nuevo no es lo mismo que campo reubicado</a:t>
            </a:r>
            <a:endParaRPr lang="en-US" sz="2400" dirty="0"/>
          </a:p>
        </p:txBody>
      </p:sp>
      <p:sp>
        <p:nvSpPr>
          <p:cNvPr id="9" name="Shape 7"/>
          <p:cNvSpPr/>
          <p:nvPr/>
        </p:nvSpPr>
        <p:spPr>
          <a:xfrm>
            <a:off x="502920" y="1645920"/>
            <a:ext cx="3998214" cy="1118235"/>
          </a:xfrm>
          <a:prstGeom prst="rect">
            <a:avLst/>
          </a:prstGeom>
          <a:solidFill>
            <a:srgbClr val="FFFFFF"/>
          </a:solidFill>
          <a:ln w="6350">
            <a:solidFill>
              <a:srgbClr val="747975"/>
            </a:solidFill>
            <a:prstDash val="solid"/>
          </a:ln>
        </p:spPr>
      </p:sp>
      <p:sp>
        <p:nvSpPr>
          <p:cNvPr id="10" name="Text 8"/>
          <p:cNvSpPr txBox="1"/>
          <p:nvPr/>
        </p:nvSpPr>
        <p:spPr>
          <a:xfrm>
            <a:off x="649224" y="1792224"/>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Campo nuevo · trabajo de expediente</a:t>
            </a:r>
            <a:endParaRPr lang="en-US" sz="1150" dirty="0"/>
          </a:p>
        </p:txBody>
      </p:sp>
      <p:sp>
        <p:nvSpPr>
          <p:cNvPr id="11" name="Text 9"/>
          <p:cNvSpPr txBox="1"/>
          <p:nvPr/>
        </p:nvSpPr>
        <p:spPr>
          <a:xfrm>
            <a:off x="649224" y="2103120"/>
            <a:ext cx="3705606"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Un dato que antes no se pedía. Hay que ir con el cliente a conseguirlo, y hay que cambiar los formatos de identificación y los contratos.</a:t>
            </a:r>
            <a:endParaRPr lang="en-US" sz="950" dirty="0"/>
          </a:p>
        </p:txBody>
      </p:sp>
      <p:sp>
        <p:nvSpPr>
          <p:cNvPr id="12" name="Shape 10"/>
          <p:cNvSpPr/>
          <p:nvPr/>
        </p:nvSpPr>
        <p:spPr>
          <a:xfrm>
            <a:off x="4642866" y="1645920"/>
            <a:ext cx="3998214" cy="1118235"/>
          </a:xfrm>
          <a:prstGeom prst="rect">
            <a:avLst/>
          </a:prstGeom>
          <a:solidFill>
            <a:srgbClr val="FFFFFF"/>
          </a:solidFill>
          <a:ln w="6350">
            <a:solidFill>
              <a:srgbClr val="747975"/>
            </a:solidFill>
            <a:prstDash val="solid"/>
          </a:ln>
        </p:spPr>
      </p:sp>
      <p:sp>
        <p:nvSpPr>
          <p:cNvPr id="13" name="Text 11"/>
          <p:cNvSpPr txBox="1"/>
          <p:nvPr/>
        </p:nvSpPr>
        <p:spPr>
          <a:xfrm>
            <a:off x="4789170" y="1792224"/>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Campo reubicado · trabajo de sistemas</a:t>
            </a:r>
            <a:endParaRPr lang="en-US" sz="1150" dirty="0"/>
          </a:p>
        </p:txBody>
      </p:sp>
      <p:sp>
        <p:nvSpPr>
          <p:cNvPr id="14" name="Text 12"/>
          <p:cNvSpPr txBox="1"/>
          <p:nvPr/>
        </p:nvSpPr>
        <p:spPr>
          <a:xfrm>
            <a:off x="4789170" y="2103120"/>
            <a:ext cx="3705606"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mismo dato, que ya se pide hoy, pero en otro lugar del XML. Nada que preguntarle al cliente: hay que reconfigurar el mapeo.</a:t>
            </a:r>
            <a:endParaRPr lang="en-US" sz="950" dirty="0"/>
          </a:p>
        </p:txBody>
      </p:sp>
      <p:sp>
        <p:nvSpPr>
          <p:cNvPr id="15" name="Text 13"/>
          <p:cNvSpPr txBox="1"/>
          <p:nvPr/>
        </p:nvSpPr>
        <p:spPr>
          <a:xfrm>
            <a:off x="502920" y="2947035"/>
            <a:ext cx="8138160" cy="411226"/>
          </a:xfrm>
          <a:prstGeom prst="rect">
            <a:avLst/>
          </a:prstGeom>
          <a:noFill/>
          <a:ln/>
        </p:spPr>
        <p:txBody>
          <a:bodyPr wrap="square" lIns="0" tIns="0" rIns="0" bIns="0" rtlCol="0" anchor="ctr"/>
          <a:lstStyle/>
          <a:p>
            <a:pPr indent="0" marL="0">
              <a:lnSpc>
                <a:spcPct val="120000"/>
              </a:lnSpc>
              <a:buNone/>
            </a:pPr>
            <a:r>
              <a:rPr lang="en-US" sz="1150" dirty="0">
                <a:solidFill>
                  <a:srgbClr val="393E41"/>
                </a:solidFill>
                <a:latin typeface="Arial" pitchFamily="34" charset="0"/>
                <a:ea typeface="Arial" pitchFamily="34" charset="-122"/>
                <a:cs typeface="Arial" pitchFamily="34" charset="-120"/>
              </a:rPr>
              <a:t>En cuatro anexos —2-A, 4, 5-A y 15— el árbol se reorganizó: la persona dejó de colgar del Aviso y pasó a colgar de la operación. Eso mueve entre 69 y 94 campos por anexo.</a:t>
            </a:r>
            <a:endParaRPr lang="en-US" sz="1150" dirty="0"/>
          </a:p>
        </p:txBody>
      </p:sp>
      <p:sp>
        <p:nvSpPr>
          <p:cNvPr id="16" name="Shape 14"/>
          <p:cNvSpPr/>
          <p:nvPr/>
        </p:nvSpPr>
        <p:spPr>
          <a:xfrm>
            <a:off x="502920" y="4014470"/>
            <a:ext cx="8138160" cy="630682"/>
          </a:xfrm>
          <a:prstGeom prst="rect">
            <a:avLst/>
          </a:prstGeom>
          <a:solidFill>
            <a:srgbClr val="80BCB5"/>
          </a:solidFill>
          <a:ln/>
        </p:spPr>
      </p:sp>
      <p:sp>
        <p:nvSpPr>
          <p:cNvPr id="17" name="Text 15"/>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En el Anexo 5-A parecería que hay cien campos nuevos. Son ONCE nuevos y OCHENTA Y NUEVE reubicados.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13</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3 · 28 a 45 min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 que se lee entre líneas</a:t>
            </a:r>
            <a:endParaRPr lang="en-US" sz="2700" dirty="0"/>
          </a:p>
        </p:txBody>
      </p:sp>
      <p:sp>
        <p:nvSpPr>
          <p:cNvPr id="9" name="Text 7"/>
          <p:cNvSpPr txBox="1"/>
          <p:nvPr/>
        </p:nvSpPr>
        <p:spPr>
          <a:xfrm>
            <a:off x="502920" y="1645920"/>
            <a:ext cx="8138160" cy="488696"/>
          </a:xfrm>
          <a:prstGeom prst="rect">
            <a:avLst/>
          </a:prstGeom>
          <a:noFill/>
          <a:ln/>
        </p:spPr>
        <p:txBody>
          <a:bodyPr wrap="square" lIns="0" tIns="0" rIns="0" bIns="0" rtlCol="0" anchor="ctr"/>
          <a:lstStyle/>
          <a:p>
            <a:pPr indent="0" marL="0">
              <a:lnSpc>
                <a:spcPct val="120000"/>
              </a:lnSpc>
              <a:buNone/>
            </a:pPr>
            <a:r>
              <a:rPr lang="en-US" sz="1400" dirty="0">
                <a:solidFill>
                  <a:srgbClr val="1B1B1E"/>
                </a:solidFill>
                <a:latin typeface="Arial" pitchFamily="34" charset="0"/>
                <a:ea typeface="Arial" pitchFamily="34" charset="-122"/>
                <a:cs typeface="Arial" pitchFamily="34" charset="-120"/>
              </a:rPr>
              <a:t>Hasta aquí les dije lo que dice el texto. Ahora les voy a decir lo que yo leo en él — y les voy a ir marcando qué es texto y qué es estimación mía.</a:t>
            </a:r>
            <a:endParaRPr lang="en-US" sz="1400" dirty="0"/>
          </a:p>
        </p:txBody>
      </p:sp>
      <p:sp>
        <p:nvSpPr>
          <p:cNvPr id="10" name="Text 8"/>
          <p:cNvSpPr txBox="1"/>
          <p:nvPr/>
        </p:nvSpPr>
        <p:spPr>
          <a:xfrm>
            <a:off x="566928" y="2317496"/>
            <a:ext cx="7955280" cy="1828800"/>
          </a:xfrm>
          <a:prstGeom prst="rect">
            <a:avLst/>
          </a:prstGeom>
          <a:noFill/>
          <a:ln/>
        </p:spPr>
        <p:txBody>
          <a:bodyPr wrap="square" lIns="0" tIns="0" rIns="0" bIns="0" rtlCol="0" anchor="ctr"/>
          <a:lstStyle/>
          <a:p>
            <a:pPr marL="177800" indent="-177800">
              <a:spcAft>
                <a:spcPts val="700"/>
              </a:spcAft>
              <a:buSzPct val="100000"/>
              <a:buChar char="•"/>
            </a:pPr>
            <a:r>
              <a:rPr lang="en-US" sz="1200" dirty="0">
                <a:solidFill>
                  <a:srgbClr val="1B1B1E"/>
                </a:solidFill>
                <a:latin typeface="Arial" pitchFamily="34" charset="0"/>
                <a:ea typeface="Arial" pitchFamily="34" charset="-122"/>
                <a:cs typeface="Arial" pitchFamily="34" charset="-120"/>
              </a:rPr>
              <a:t>No cambió el formato: cambió el estándar de prueba</a:t>
            </a:r>
            <a:endParaRPr lang="en-US" sz="1200" dirty="0"/>
          </a:p>
          <a:p>
            <a:pPr marL="177800" indent="-177800">
              <a:spcAft>
                <a:spcPts val="700"/>
              </a:spcAft>
              <a:buSzPct val="100000"/>
              <a:buChar char="•"/>
            </a:pPr>
            <a:r>
              <a:rPr lang="en-US" sz="1200" dirty="0">
                <a:solidFill>
                  <a:srgbClr val="1B1B1E"/>
                </a:solidFill>
                <a:latin typeface="Arial" pitchFamily="34" charset="0"/>
                <a:ea typeface="Arial" pitchFamily="34" charset="-122"/>
                <a:cs typeface="Arial" pitchFamily="34" charset="-120"/>
              </a:rPr>
              <a:t>«Opcional» no quiere decir que el dato no se pida</a:t>
            </a:r>
            <a:endParaRPr lang="en-US" sz="1200" dirty="0"/>
          </a:p>
          <a:p>
            <a:pPr marL="177800" indent="-177800">
              <a:spcAft>
                <a:spcPts val="700"/>
              </a:spcAft>
              <a:buSzPct val="100000"/>
              <a:buChar char="•"/>
            </a:pPr>
            <a:r>
              <a:rPr lang="en-US" sz="1200" dirty="0">
                <a:solidFill>
                  <a:srgbClr val="1B1B1E"/>
                </a:solidFill>
                <a:latin typeface="Arial" pitchFamily="34" charset="0"/>
                <a:ea typeface="Arial" pitchFamily="34" charset="-122"/>
                <a:cs typeface="Arial" pitchFamily="34" charset="-120"/>
              </a:rPr>
              <a:t>La obligatoriedad se lee campo por campo, no por bloque</a:t>
            </a:r>
            <a:endParaRPr lang="en-US" sz="1200" dirty="0"/>
          </a:p>
          <a:p>
            <a:pPr marL="177800" indent="-177800">
              <a:spcAft>
                <a:spcPts val="700"/>
              </a:spcAft>
              <a:buSzPct val="100000"/>
              <a:buChar char="•"/>
            </a:pPr>
            <a:r>
              <a:rPr lang="en-US" sz="1200" dirty="0">
                <a:solidFill>
                  <a:srgbClr val="1B1B1E"/>
                </a:solidFill>
                <a:latin typeface="Arial" pitchFamily="34" charset="0"/>
                <a:ea typeface="Arial" pitchFamily="34" charset="-122"/>
                <a:cs typeface="Arial" pitchFamily="34" charset="-120"/>
              </a:rPr>
              <a:t>Que la acumulación se declare quiere decir que se va a medir</a:t>
            </a:r>
            <a:endParaRPr lang="en-US" sz="1200" dirty="0"/>
          </a:p>
          <a:p>
            <a:pPr marL="177800" indent="-177800">
              <a:spcAft>
                <a:spcPts val="700"/>
              </a:spcAft>
              <a:buSzPct val="100000"/>
              <a:buChar char="•"/>
            </a:pPr>
            <a:r>
              <a:rPr lang="en-US" sz="1200" dirty="0">
                <a:solidFill>
                  <a:srgbClr val="1B1B1E"/>
                </a:solidFill>
                <a:latin typeface="Arial" pitchFamily="34" charset="0"/>
                <a:ea typeface="Arial" pitchFamily="34" charset="-122"/>
                <a:cs typeface="Arial" pitchFamily="34" charset="-120"/>
              </a:rPr>
              <a:t>El aviso de 24 horas todavía no se puede programar</a:t>
            </a:r>
            <a:endParaRPr lang="en-US" sz="1200" dirty="0"/>
          </a:p>
          <a:p>
            <a:pPr marL="177800" indent="-177800">
              <a:spcAft>
                <a:spcPts val="700"/>
              </a:spcAft>
              <a:buSzPct val="100000"/>
              <a:buChar char="•"/>
            </a:pPr>
            <a:r>
              <a:rPr lang="en-US" sz="1200" dirty="0">
                <a:solidFill>
                  <a:srgbClr val="1B1B1E"/>
                </a:solidFill>
                <a:latin typeface="Arial" pitchFamily="34" charset="0"/>
                <a:ea typeface="Arial" pitchFamily="34" charset="-122"/>
                <a:cs typeface="Arial" pitchFamily="34" charset="-120"/>
              </a:rPr>
              <a:t>El texto se publicó con erratas, y hoy son texto vigente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14</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LECTURA 1</a:t>
            </a:r>
            <a:endParaRPr lang="en-US" sz="1100" dirty="0"/>
          </a:p>
        </p:txBody>
      </p:sp>
      <p:sp>
        <p:nvSpPr>
          <p:cNvPr id="8" name="Text 6"/>
          <p:cNvSpPr txBox="1"/>
          <p:nvPr/>
        </p:nvSpPr>
        <p:spPr>
          <a:xfrm>
            <a:off x="502920" y="932688"/>
            <a:ext cx="8138160" cy="810768"/>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No cambió el formato: cambió el estándar de prueba</a:t>
            </a:r>
            <a:endParaRPr lang="en-US" sz="2400" dirty="0"/>
          </a:p>
        </p:txBody>
      </p:sp>
      <p:sp>
        <p:nvSpPr>
          <p:cNvPr id="9" name="Text 7"/>
          <p:cNvSpPr txBox="1"/>
          <p:nvPr/>
        </p:nvSpPr>
        <p:spPr>
          <a:xfrm>
            <a:off x="502920" y="1926336"/>
            <a:ext cx="8138160" cy="457708"/>
          </a:xfrm>
          <a:prstGeom prst="rect">
            <a:avLst/>
          </a:prstGeom>
          <a:noFill/>
          <a:ln/>
        </p:spPr>
        <p:txBody>
          <a:bodyPr wrap="square" lIns="0" tIns="0" rIns="0" bIns="0" rtlCol="0" anchor="ctr"/>
          <a:lstStyle/>
          <a:p>
            <a:pPr indent="0" marL="0">
              <a:lnSpc>
                <a:spcPct val="120000"/>
              </a:lnSpc>
              <a:buNone/>
            </a:pPr>
            <a:r>
              <a:rPr lang="en-US" sz="1300" dirty="0">
                <a:solidFill>
                  <a:srgbClr val="1B1B1E"/>
                </a:solidFill>
                <a:latin typeface="Arial" pitchFamily="34" charset="0"/>
                <a:ea typeface="Arial" pitchFamily="34" charset="-122"/>
                <a:cs typeface="Arial" pitchFamily="34" charset="-120"/>
              </a:rPr>
              <a:t>Que el bloque ya no admita persona moral significa que la autoridad dejó de aceptar que la cadena se detenga en una sociedad.</a:t>
            </a:r>
            <a:endParaRPr lang="en-US" sz="1300" dirty="0"/>
          </a:p>
        </p:txBody>
      </p:sp>
      <p:sp>
        <p:nvSpPr>
          <p:cNvPr id="10" name="Shape 8"/>
          <p:cNvSpPr/>
          <p:nvPr/>
        </p:nvSpPr>
        <p:spPr>
          <a:xfrm>
            <a:off x="502920" y="2566924"/>
            <a:ext cx="3998214" cy="1118235"/>
          </a:xfrm>
          <a:prstGeom prst="rect">
            <a:avLst/>
          </a:prstGeom>
          <a:solidFill>
            <a:srgbClr val="FFFFFF"/>
          </a:solidFill>
          <a:ln w="6350">
            <a:solidFill>
              <a:srgbClr val="747975"/>
            </a:solidFill>
            <a:prstDash val="solid"/>
          </a:ln>
        </p:spPr>
      </p:sp>
      <p:sp>
        <p:nvSpPr>
          <p:cNvPr id="11" name="Text 9"/>
          <p:cNvSpPr txBox="1"/>
          <p:nvPr/>
        </p:nvSpPr>
        <p:spPr>
          <a:xfrm>
            <a:off x="649224" y="2713228"/>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Lo que dice el texto</a:t>
            </a:r>
            <a:endParaRPr lang="en-US" sz="1150" dirty="0"/>
          </a:p>
        </p:txBody>
      </p:sp>
      <p:sp>
        <p:nvSpPr>
          <p:cNvPr id="12" name="Text 10"/>
          <p:cNvSpPr txBox="1"/>
          <p:nvPr/>
        </p:nvSpPr>
        <p:spPr>
          <a:xfrm>
            <a:off x="649224" y="3024124"/>
            <a:ext cx="3705606"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bloque &lt;beneficiario_controlador&gt; sólo tiene la variante &lt;bc_persona_fisica&gt;, y &lt;total_fig_juridicas&gt; es un campo nuevo de 1 a 4 dígitos.</a:t>
            </a:r>
            <a:endParaRPr lang="en-US" sz="950" dirty="0"/>
          </a:p>
        </p:txBody>
      </p:sp>
      <p:sp>
        <p:nvSpPr>
          <p:cNvPr id="13" name="Shape 11"/>
          <p:cNvSpPr/>
          <p:nvPr/>
        </p:nvSpPr>
        <p:spPr>
          <a:xfrm>
            <a:off x="4642866" y="2566924"/>
            <a:ext cx="3998214" cy="1118235"/>
          </a:xfrm>
          <a:prstGeom prst="rect">
            <a:avLst/>
          </a:prstGeom>
          <a:solidFill>
            <a:srgbClr val="FFFFFF"/>
          </a:solidFill>
          <a:ln w="6350">
            <a:solidFill>
              <a:srgbClr val="747975"/>
            </a:solidFill>
            <a:prstDash val="solid"/>
          </a:ln>
        </p:spPr>
      </p:sp>
      <p:sp>
        <p:nvSpPr>
          <p:cNvPr id="14" name="Text 12"/>
          <p:cNvSpPr txBox="1"/>
          <p:nvPr/>
        </p:nvSpPr>
        <p:spPr>
          <a:xfrm>
            <a:off x="4789170" y="2713228"/>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Lo que se lee de ahí</a:t>
            </a:r>
            <a:endParaRPr lang="en-US" sz="1150" dirty="0"/>
          </a:p>
        </p:txBody>
      </p:sp>
      <p:sp>
        <p:nvSpPr>
          <p:cNvPr id="15" name="Text 13"/>
          <p:cNvSpPr txBox="1"/>
          <p:nvPr/>
        </p:nvSpPr>
        <p:spPr>
          <a:xfrm>
            <a:off x="4789170" y="3024124"/>
            <a:ext cx="3705606"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Un expediente que cierra en una sociedad ya no es defendible. La cadena hay que recorrerla, y el propio Aviso deja constancia de si se recorrió.</a:t>
            </a:r>
            <a:endParaRPr lang="en-US" sz="950" dirty="0"/>
          </a:p>
        </p:txBody>
      </p:sp>
      <p:sp>
        <p:nvSpPr>
          <p:cNvPr id="16" name="Shape 14"/>
          <p:cNvSpPr/>
          <p:nvPr/>
        </p:nvSpPr>
        <p:spPr>
          <a:xfrm>
            <a:off x="502920" y="4078224"/>
            <a:ext cx="8138160" cy="566928"/>
          </a:xfrm>
          <a:prstGeom prst="rect">
            <a:avLst/>
          </a:prstGeom>
          <a:solidFill>
            <a:srgbClr val="80BCB5"/>
          </a:solidFill>
          <a:ln/>
        </p:spPr>
      </p:sp>
      <p:sp>
        <p:nvSpPr>
          <p:cNvPr id="17" name="Text 15"/>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No es una obligación nueva: es la misma obligación, ahora con prueba adentro del archivo.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15</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LECTURA 2 · LA MÁS IMPORTANTE</a:t>
            </a:r>
            <a:endParaRPr lang="en-US" sz="1100" dirty="0"/>
          </a:p>
        </p:txBody>
      </p:sp>
      <p:sp>
        <p:nvSpPr>
          <p:cNvPr id="8" name="Text 6"/>
          <p:cNvSpPr txBox="1"/>
          <p:nvPr/>
        </p:nvSpPr>
        <p:spPr>
          <a:xfrm>
            <a:off x="502920" y="932688"/>
            <a:ext cx="8138160" cy="810768"/>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«Opcional» no quiere decir que el dato no se pida</a:t>
            </a:r>
            <a:endParaRPr lang="en-US" sz="2400" dirty="0"/>
          </a:p>
        </p:txBody>
      </p:sp>
      <p:sp>
        <p:nvSpPr>
          <p:cNvPr id="9" name="Shape 7"/>
          <p:cNvSpPr/>
          <p:nvPr/>
        </p:nvSpPr>
        <p:spPr>
          <a:xfrm>
            <a:off x="502920" y="1926336"/>
            <a:ext cx="8138160" cy="566928"/>
          </a:xfrm>
          <a:prstGeom prst="rect">
            <a:avLst/>
          </a:prstGeom>
          <a:solidFill>
            <a:srgbClr val="1B1B1E"/>
          </a:solidFill>
          <a:ln/>
        </p:spPr>
      </p:sp>
      <p:sp>
        <p:nvSpPr>
          <p:cNvPr id="10" name="Text 8"/>
          <p:cNvSpPr txBox="1"/>
          <p:nvPr/>
        </p:nvSpPr>
        <p:spPr>
          <a:xfrm>
            <a:off x="731520" y="1926336"/>
            <a:ext cx="7680960" cy="56692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«Opcional» significa que el XML VALIDA SIN ESE DATO. No que la obligación desaparezca.</a:t>
            </a:r>
            <a:endParaRPr lang="en-US" sz="1150" dirty="0"/>
          </a:p>
        </p:txBody>
      </p:sp>
      <p:sp>
        <p:nvSpPr>
          <p:cNvPr id="11" name="Shape 9"/>
          <p:cNvSpPr/>
          <p:nvPr/>
        </p:nvSpPr>
        <p:spPr>
          <a:xfrm>
            <a:off x="502920" y="2694432"/>
            <a:ext cx="3998214" cy="1099058"/>
          </a:xfrm>
          <a:prstGeom prst="rect">
            <a:avLst/>
          </a:prstGeom>
          <a:solidFill>
            <a:srgbClr val="FFFFFF"/>
          </a:solidFill>
          <a:ln w="6350">
            <a:solidFill>
              <a:srgbClr val="747975"/>
            </a:solidFill>
            <a:prstDash val="solid"/>
          </a:ln>
        </p:spPr>
      </p:sp>
      <p:sp>
        <p:nvSpPr>
          <p:cNvPr id="12" name="Text 10"/>
          <p:cNvSpPr txBox="1"/>
          <p:nvPr/>
        </p:nvSpPr>
        <p:spPr>
          <a:xfrm>
            <a:off x="649224" y="2840736"/>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Plano 1 · la obligación</a:t>
            </a:r>
            <a:endParaRPr lang="en-US" sz="1150" dirty="0"/>
          </a:p>
        </p:txBody>
      </p:sp>
      <p:sp>
        <p:nvSpPr>
          <p:cNvPr id="13" name="Text 11"/>
          <p:cNvSpPr txBox="1"/>
          <p:nvPr/>
        </p:nvSpPr>
        <p:spPr>
          <a:xfrm>
            <a:off x="649224" y="3151632"/>
            <a:ext cx="3705606" cy="294386"/>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Identificar al Beneficiario Controlador viene del artículo 18 de la Ley, del Reglamento y de las Reglas.</a:t>
            </a:r>
            <a:endParaRPr lang="en-US" sz="950" dirty="0"/>
          </a:p>
        </p:txBody>
      </p:sp>
      <p:sp>
        <p:nvSpPr>
          <p:cNvPr id="14" name="Text 12"/>
          <p:cNvSpPr txBox="1"/>
          <p:nvPr/>
        </p:nvSpPr>
        <p:spPr>
          <a:xfrm>
            <a:off x="649224" y="3537458"/>
            <a:ext cx="3705606" cy="182880"/>
          </a:xfrm>
          <a:prstGeom prst="rect">
            <a:avLst/>
          </a:prstGeom>
          <a:noFill/>
          <a:ln/>
        </p:spPr>
        <p:txBody>
          <a:bodyPr wrap="square" lIns="0" tIns="0" rIns="0" bIns="0" rtlCol="0" anchor="ctr"/>
          <a:lstStyle/>
          <a:p>
            <a:pPr indent="0" marL="0">
              <a:buNone/>
            </a:pPr>
            <a:r>
              <a:rPr lang="en-US" sz="850" b="1" dirty="0">
                <a:solidFill>
                  <a:srgbClr val="393E41"/>
                </a:solidFill>
                <a:latin typeface="Arial" pitchFamily="34" charset="0"/>
                <a:ea typeface="Arial" pitchFamily="34" charset="-122"/>
                <a:cs typeface="Arial" pitchFamily="34" charset="-120"/>
              </a:rPr>
              <a:t>L 18 · R · RCG</a:t>
            </a:r>
            <a:endParaRPr lang="en-US" sz="850" dirty="0"/>
          </a:p>
        </p:txBody>
      </p:sp>
      <p:sp>
        <p:nvSpPr>
          <p:cNvPr id="15" name="Shape 13"/>
          <p:cNvSpPr/>
          <p:nvPr/>
        </p:nvSpPr>
        <p:spPr>
          <a:xfrm>
            <a:off x="4642866" y="2694432"/>
            <a:ext cx="3998214" cy="1099058"/>
          </a:xfrm>
          <a:prstGeom prst="rect">
            <a:avLst/>
          </a:prstGeom>
          <a:solidFill>
            <a:srgbClr val="FFFFFF"/>
          </a:solidFill>
          <a:ln w="6350">
            <a:solidFill>
              <a:srgbClr val="747975"/>
            </a:solidFill>
            <a:prstDash val="solid"/>
          </a:ln>
        </p:spPr>
      </p:sp>
      <p:sp>
        <p:nvSpPr>
          <p:cNvPr id="16" name="Text 14"/>
          <p:cNvSpPr txBox="1"/>
          <p:nvPr/>
        </p:nvSpPr>
        <p:spPr>
          <a:xfrm>
            <a:off x="4789170" y="2840736"/>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Plano 2 · el archivo</a:t>
            </a:r>
            <a:endParaRPr lang="en-US" sz="1150" dirty="0"/>
          </a:p>
        </p:txBody>
      </p:sp>
      <p:sp>
        <p:nvSpPr>
          <p:cNvPr id="17" name="Text 15"/>
          <p:cNvSpPr txBox="1"/>
          <p:nvPr/>
        </p:nvSpPr>
        <p:spPr>
          <a:xfrm>
            <a:off x="4789170" y="3151632"/>
            <a:ext cx="3705606" cy="294386"/>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El layout sólo decide si el XML pasa por el Portal. Es una validación técnica, no una dispensa.</a:t>
            </a:r>
            <a:endParaRPr lang="en-US" sz="950" dirty="0"/>
          </a:p>
        </p:txBody>
      </p:sp>
      <p:sp>
        <p:nvSpPr>
          <p:cNvPr id="18" name="Text 16"/>
          <p:cNvSpPr txBox="1"/>
          <p:nvPr/>
        </p:nvSpPr>
        <p:spPr>
          <a:xfrm>
            <a:off x="4789170" y="3537458"/>
            <a:ext cx="3705606" cy="182880"/>
          </a:xfrm>
          <a:prstGeom prst="rect">
            <a:avLst/>
          </a:prstGeom>
          <a:noFill/>
          <a:ln/>
        </p:spPr>
        <p:txBody>
          <a:bodyPr wrap="square" lIns="0" tIns="0" rIns="0" bIns="0" rtlCol="0" anchor="ctr"/>
          <a:lstStyle/>
          <a:p>
            <a:pPr indent="0" marL="0">
              <a:buNone/>
            </a:pPr>
            <a:r>
              <a:rPr lang="en-US" sz="850" b="1" dirty="0">
                <a:solidFill>
                  <a:srgbClr val="393E41"/>
                </a:solidFill>
                <a:latin typeface="Arial" pitchFamily="34" charset="0"/>
                <a:ea typeface="Arial" pitchFamily="34" charset="-122"/>
                <a:cs typeface="Arial" pitchFamily="34" charset="-120"/>
              </a:rPr>
              <a:t>Resolución de formatos</a:t>
            </a:r>
            <a:endParaRPr lang="en-US" sz="850" dirty="0"/>
          </a:p>
        </p:txBody>
      </p:sp>
      <p:sp>
        <p:nvSpPr>
          <p:cNvPr id="19" name="Shape 17"/>
          <p:cNvSpPr/>
          <p:nvPr/>
        </p:nvSpPr>
        <p:spPr>
          <a:xfrm>
            <a:off x="502920" y="4078224"/>
            <a:ext cx="8138160" cy="566928"/>
          </a:xfrm>
          <a:prstGeom prst="rect">
            <a:avLst/>
          </a:prstGeom>
          <a:solidFill>
            <a:srgbClr val="80BCB5"/>
          </a:solidFill>
          <a:ln/>
        </p:spPr>
      </p:sp>
      <p:sp>
        <p:nvSpPr>
          <p:cNvPr id="20" name="Text 18"/>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Confundirlos lleva a 2027 con avisos aceptados y expedientes incompletos.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16</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LECTURA 3</a:t>
            </a:r>
            <a:endParaRPr lang="en-US" sz="1100" dirty="0"/>
          </a:p>
        </p:txBody>
      </p:sp>
      <p:sp>
        <p:nvSpPr>
          <p:cNvPr id="8" name="Text 6"/>
          <p:cNvSpPr txBox="1"/>
          <p:nvPr/>
        </p:nvSpPr>
        <p:spPr>
          <a:xfrm>
            <a:off x="502920" y="932688"/>
            <a:ext cx="8138160" cy="810768"/>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La obligatoriedad se lee campo por campo, no por bloque</a:t>
            </a:r>
            <a:endParaRPr lang="en-US" sz="2400" dirty="0"/>
          </a:p>
        </p:txBody>
      </p:sp>
      <p:sp>
        <p:nvSpPr>
          <p:cNvPr id="9" name="Shape 7"/>
          <p:cNvSpPr/>
          <p:nvPr/>
        </p:nvSpPr>
        <p:spPr>
          <a:xfrm>
            <a:off x="502920" y="1926336"/>
            <a:ext cx="2602992" cy="1389761"/>
          </a:xfrm>
          <a:prstGeom prst="rect">
            <a:avLst/>
          </a:prstGeom>
          <a:solidFill>
            <a:srgbClr val="FFFFFF"/>
          </a:solidFill>
          <a:ln w="6350">
            <a:solidFill>
              <a:srgbClr val="747975"/>
            </a:solidFill>
            <a:prstDash val="solid"/>
          </a:ln>
        </p:spPr>
      </p:sp>
      <p:sp>
        <p:nvSpPr>
          <p:cNvPr id="10" name="Text 8"/>
          <p:cNvSpPr txBox="1"/>
          <p:nvPr/>
        </p:nvSpPr>
        <p:spPr>
          <a:xfrm>
            <a:off x="704088" y="2036064"/>
            <a:ext cx="2200656" cy="566928"/>
          </a:xfrm>
          <a:prstGeom prst="rect">
            <a:avLst/>
          </a:prstGeom>
          <a:noFill/>
          <a:ln/>
        </p:spPr>
        <p:txBody>
          <a:bodyPr wrap="square" lIns="0" tIns="0" rIns="0" bIns="0" rtlCol="0" anchor="ctr"/>
          <a:lstStyle/>
          <a:p>
            <a:pPr indent="0" marL="0">
              <a:buNone/>
            </a:pPr>
            <a:r>
              <a:rPr lang="en-US" sz="3800" b="1" dirty="0">
                <a:solidFill>
                  <a:srgbClr val="A663CC"/>
                </a:solidFill>
                <a:latin typeface="Arial" pitchFamily="34" charset="0"/>
                <a:ea typeface="Arial" pitchFamily="34" charset="-122"/>
                <a:cs typeface="Arial" pitchFamily="34" charset="-120"/>
              </a:rPr>
              <a:t>3.5</a:t>
            </a:r>
            <a:endParaRPr lang="en-US" sz="3800" dirty="0"/>
          </a:p>
        </p:txBody>
      </p:sp>
      <p:sp>
        <p:nvSpPr>
          <p:cNvPr id="11" name="Text 9"/>
          <p:cNvSpPr txBox="1"/>
          <p:nvPr/>
        </p:nvSpPr>
        <p:spPr>
          <a:xfrm>
            <a:off x="704088" y="2621280"/>
            <a:ext cx="2200656"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encabezado del Anexo 14-A</a:t>
            </a:r>
            <a:endParaRPr lang="en-US" sz="1150" dirty="0"/>
          </a:p>
        </p:txBody>
      </p:sp>
      <p:sp>
        <p:nvSpPr>
          <p:cNvPr id="12" name="Text 10"/>
          <p:cNvSpPr txBox="1"/>
          <p:nvPr/>
        </p:nvSpPr>
        <p:spPr>
          <a:xfrm>
            <a:off x="704088" y="2836037"/>
            <a:ext cx="2200656" cy="388620"/>
          </a:xfrm>
          <a:prstGeom prst="rect">
            <a:avLst/>
          </a:prstGeom>
          <a:noFill/>
          <a:ln/>
        </p:spPr>
        <p:txBody>
          <a:bodyPr wrap="square" lIns="0" tIns="0" rIns="0" bIns="0" rtlCol="0" anchor="ctr"/>
          <a:lstStyle/>
          <a:p>
            <a:pPr indent="0" marL="0">
              <a:lnSpc>
                <a:spcPct val="110000"/>
              </a:lnSpc>
              <a:buNone/>
            </a:pPr>
            <a:r>
              <a:rPr lang="en-US" sz="900" dirty="0">
                <a:solidFill>
                  <a:srgbClr val="393E41"/>
                </a:solidFill>
                <a:latin typeface="Arial" pitchFamily="34" charset="0"/>
                <a:ea typeface="Arial" pitchFamily="34" charset="-122"/>
                <a:cs typeface="Arial" pitchFamily="34" charset="-120"/>
              </a:rPr>
              <a:t>Marcado Opcional en el layout</a:t>
            </a:r>
            <a:endParaRPr lang="en-US" sz="900" dirty="0"/>
          </a:p>
        </p:txBody>
      </p:sp>
      <p:sp>
        <p:nvSpPr>
          <p:cNvPr id="13" name="Shape 11"/>
          <p:cNvSpPr/>
          <p:nvPr/>
        </p:nvSpPr>
        <p:spPr>
          <a:xfrm>
            <a:off x="3270504" y="1926336"/>
            <a:ext cx="2602992" cy="1389761"/>
          </a:xfrm>
          <a:prstGeom prst="rect">
            <a:avLst/>
          </a:prstGeom>
          <a:solidFill>
            <a:srgbClr val="FF8361"/>
          </a:solidFill>
          <a:ln w="6350">
            <a:solidFill>
              <a:srgbClr val="FF8361"/>
            </a:solidFill>
            <a:prstDash val="solid"/>
          </a:ln>
        </p:spPr>
      </p:sp>
      <p:sp>
        <p:nvSpPr>
          <p:cNvPr id="14" name="Text 12"/>
          <p:cNvSpPr txBox="1"/>
          <p:nvPr/>
        </p:nvSpPr>
        <p:spPr>
          <a:xfrm>
            <a:off x="3471672" y="2036064"/>
            <a:ext cx="2200656" cy="566928"/>
          </a:xfrm>
          <a:prstGeom prst="rect">
            <a:avLst/>
          </a:prstGeom>
          <a:noFill/>
          <a:ln/>
        </p:spPr>
        <p:txBody>
          <a:bodyPr wrap="square" lIns="0" tIns="0" rIns="0" bIns="0" rtlCol="0" anchor="ctr"/>
          <a:lstStyle/>
          <a:p>
            <a:pPr indent="0" marL="0">
              <a:buNone/>
            </a:pPr>
            <a:r>
              <a:rPr lang="en-US" sz="3800" b="1" dirty="0">
                <a:solidFill>
                  <a:srgbClr val="1B1B1E"/>
                </a:solidFill>
                <a:latin typeface="Arial" pitchFamily="34" charset="0"/>
                <a:ea typeface="Arial" pitchFamily="34" charset="-122"/>
                <a:cs typeface="Arial" pitchFamily="34" charset="-120"/>
              </a:rPr>
              <a:t>27</a:t>
            </a:r>
            <a:endParaRPr lang="en-US" sz="3800" dirty="0"/>
          </a:p>
        </p:txBody>
      </p:sp>
      <p:sp>
        <p:nvSpPr>
          <p:cNvPr id="15" name="Text 13"/>
          <p:cNvSpPr txBox="1"/>
          <p:nvPr/>
        </p:nvSpPr>
        <p:spPr>
          <a:xfrm>
            <a:off x="3471672" y="2621280"/>
            <a:ext cx="2200656"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campos Obligatorio adentro</a:t>
            </a:r>
            <a:endParaRPr lang="en-US" sz="1150" dirty="0"/>
          </a:p>
        </p:txBody>
      </p:sp>
      <p:sp>
        <p:nvSpPr>
          <p:cNvPr id="16" name="Text 14"/>
          <p:cNvSpPr txBox="1"/>
          <p:nvPr/>
        </p:nvSpPr>
        <p:spPr>
          <a:xfrm>
            <a:off x="3471672" y="2836037"/>
            <a:ext cx="2200656" cy="388620"/>
          </a:xfrm>
          <a:prstGeom prst="rect">
            <a:avLst/>
          </a:prstGeom>
          <a:noFill/>
          <a:ln/>
        </p:spPr>
        <p:txBody>
          <a:bodyPr wrap="square" lIns="0" tIns="0" rIns="0" bIns="0" rtlCol="0" anchor="ctr"/>
          <a:lstStyle/>
          <a:p>
            <a:pPr indent="0" marL="0">
              <a:lnSpc>
                <a:spcPct val="110000"/>
              </a:lnSpc>
              <a:buNone/>
            </a:pPr>
            <a:r>
              <a:rPr lang="en-US" sz="900" dirty="0">
                <a:solidFill>
                  <a:srgbClr val="1B1B1E"/>
                </a:solidFill>
                <a:latin typeface="Arial" pitchFamily="34" charset="0"/>
                <a:ea typeface="Arial" pitchFamily="34" charset="-122"/>
                <a:cs typeface="Arial" pitchFamily="34" charset="-120"/>
              </a:rPr>
              <a:t>CURP, fecha de nacimiento, nacionalidad y domicilio</a:t>
            </a:r>
            <a:endParaRPr lang="en-US" sz="900" dirty="0"/>
          </a:p>
        </p:txBody>
      </p:sp>
      <p:sp>
        <p:nvSpPr>
          <p:cNvPr id="17" name="Shape 15"/>
          <p:cNvSpPr/>
          <p:nvPr/>
        </p:nvSpPr>
        <p:spPr>
          <a:xfrm>
            <a:off x="6038088" y="1926336"/>
            <a:ext cx="2602992" cy="1389761"/>
          </a:xfrm>
          <a:prstGeom prst="rect">
            <a:avLst/>
          </a:prstGeom>
          <a:solidFill>
            <a:srgbClr val="FFFFFF"/>
          </a:solidFill>
          <a:ln w="6350">
            <a:solidFill>
              <a:srgbClr val="747975"/>
            </a:solidFill>
            <a:prstDash val="solid"/>
          </a:ln>
        </p:spPr>
      </p:sp>
      <p:sp>
        <p:nvSpPr>
          <p:cNvPr id="18" name="Text 16"/>
          <p:cNvSpPr txBox="1"/>
          <p:nvPr/>
        </p:nvSpPr>
        <p:spPr>
          <a:xfrm>
            <a:off x="6239256" y="2036064"/>
            <a:ext cx="2200656" cy="566928"/>
          </a:xfrm>
          <a:prstGeom prst="rect">
            <a:avLst/>
          </a:prstGeom>
          <a:noFill/>
          <a:ln/>
        </p:spPr>
        <p:txBody>
          <a:bodyPr wrap="square" lIns="0" tIns="0" rIns="0" bIns="0" rtlCol="0" anchor="ctr"/>
          <a:lstStyle/>
          <a:p>
            <a:pPr indent="0" marL="0">
              <a:buNone/>
            </a:pPr>
            <a:r>
              <a:rPr lang="en-US" sz="3800" b="1" dirty="0">
                <a:solidFill>
                  <a:srgbClr val="A663CC"/>
                </a:solidFill>
                <a:latin typeface="Arial" pitchFamily="34" charset="0"/>
                <a:ea typeface="Arial" pitchFamily="34" charset="-122"/>
                <a:cs typeface="Arial" pitchFamily="34" charset="-120"/>
              </a:rPr>
              <a:t>0</a:t>
            </a:r>
            <a:endParaRPr lang="en-US" sz="3800" dirty="0"/>
          </a:p>
        </p:txBody>
      </p:sp>
      <p:sp>
        <p:nvSpPr>
          <p:cNvPr id="19" name="Text 17"/>
          <p:cNvSpPr txBox="1"/>
          <p:nvPr/>
        </p:nvSpPr>
        <p:spPr>
          <a:xfrm>
            <a:off x="6239256" y="2621280"/>
            <a:ext cx="2200656" cy="214757"/>
          </a:xfrm>
          <a:prstGeom prst="rect">
            <a:avLst/>
          </a:prstGeom>
          <a:noFill/>
          <a:ln/>
        </p:spPr>
        <p:txBody>
          <a:bodyPr wrap="square" lIns="0" tIns="0" rIns="0" bIns="0" rtlCol="0" anchor="ctr"/>
          <a:lstStyle/>
          <a:p>
            <a:pPr indent="0" marL="0">
              <a:lnSpc>
                <a:spcPct val="110000"/>
              </a:lnSpc>
              <a:buNone/>
            </a:pPr>
            <a:r>
              <a:rPr lang="en-US" sz="1150" b="1" dirty="0">
                <a:solidFill>
                  <a:srgbClr val="1B1B1E"/>
                </a:solidFill>
                <a:latin typeface="Arial" pitchFamily="34" charset="0"/>
                <a:ea typeface="Arial" pitchFamily="34" charset="-122"/>
                <a:cs typeface="Arial" pitchFamily="34" charset="-120"/>
              </a:rPr>
              <a:t>margen de error</a:t>
            </a:r>
            <a:endParaRPr lang="en-US" sz="1150" dirty="0"/>
          </a:p>
        </p:txBody>
      </p:sp>
      <p:sp>
        <p:nvSpPr>
          <p:cNvPr id="20" name="Text 18"/>
          <p:cNvSpPr txBox="1"/>
          <p:nvPr/>
        </p:nvSpPr>
        <p:spPr>
          <a:xfrm>
            <a:off x="6239256" y="2836037"/>
            <a:ext cx="2200656" cy="388620"/>
          </a:xfrm>
          <a:prstGeom prst="rect">
            <a:avLst/>
          </a:prstGeom>
          <a:noFill/>
          <a:ln/>
        </p:spPr>
        <p:txBody>
          <a:bodyPr wrap="square" lIns="0" tIns="0" rIns="0" bIns="0" rtlCol="0" anchor="ctr"/>
          <a:lstStyle/>
          <a:p>
            <a:pPr indent="0" marL="0">
              <a:lnSpc>
                <a:spcPct val="110000"/>
              </a:lnSpc>
              <a:buNone/>
            </a:pPr>
            <a:r>
              <a:rPr lang="en-US" sz="900" dirty="0">
                <a:solidFill>
                  <a:srgbClr val="393E41"/>
                </a:solidFill>
                <a:latin typeface="Arial" pitchFamily="34" charset="0"/>
                <a:ea typeface="Arial" pitchFamily="34" charset="-122"/>
                <a:cs typeface="Arial" pitchFamily="34" charset="-120"/>
              </a:rPr>
              <a:t>Quien programe por el encabezado, recibe acuse rechazado</a:t>
            </a:r>
            <a:endParaRPr lang="en-US" sz="900" dirty="0"/>
          </a:p>
        </p:txBody>
      </p:sp>
      <p:sp>
        <p:nvSpPr>
          <p:cNvPr id="21" name="Shape 19"/>
          <p:cNvSpPr/>
          <p:nvPr/>
        </p:nvSpPr>
        <p:spPr>
          <a:xfrm>
            <a:off x="502920" y="4078224"/>
            <a:ext cx="8138160" cy="566928"/>
          </a:xfrm>
          <a:prstGeom prst="rect">
            <a:avLst/>
          </a:prstGeom>
          <a:solidFill>
            <a:srgbClr val="80BCB5"/>
          </a:solidFill>
          <a:ln/>
        </p:spPr>
      </p:sp>
      <p:sp>
        <p:nvSpPr>
          <p:cNvPr id="22" name="Text 20"/>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No hay atajo: hay que abrir el catálogo de campos y leer la columna renglón por renglón.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17</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LECTURA 4 · ESTIMACIÓN, NO TEXTO</a:t>
            </a:r>
            <a:endParaRPr lang="en-US" sz="1100" dirty="0"/>
          </a:p>
        </p:txBody>
      </p:sp>
      <p:sp>
        <p:nvSpPr>
          <p:cNvPr id="8" name="Text 6"/>
          <p:cNvSpPr txBox="1"/>
          <p:nvPr/>
        </p:nvSpPr>
        <p:spPr>
          <a:xfrm>
            <a:off x="502920" y="932688"/>
            <a:ext cx="8138160" cy="810768"/>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Que la acumulación se declare quiere decir que se va a medir</a:t>
            </a:r>
            <a:endParaRPr lang="en-US" sz="2400" dirty="0"/>
          </a:p>
        </p:txBody>
      </p:sp>
      <p:sp>
        <p:nvSpPr>
          <p:cNvPr id="9" name="Shape 7"/>
          <p:cNvSpPr/>
          <p:nvPr/>
        </p:nvSpPr>
        <p:spPr>
          <a:xfrm>
            <a:off x="502920" y="1926336"/>
            <a:ext cx="2618232" cy="1412621"/>
          </a:xfrm>
          <a:prstGeom prst="rect">
            <a:avLst/>
          </a:prstGeom>
          <a:solidFill>
            <a:srgbClr val="FFFFFF"/>
          </a:solidFill>
          <a:ln w="6350">
            <a:solidFill>
              <a:srgbClr val="747975"/>
            </a:solidFill>
            <a:prstDash val="solid"/>
          </a:ln>
        </p:spPr>
      </p:sp>
      <p:sp>
        <p:nvSpPr>
          <p:cNvPr id="10" name="Text 8"/>
          <p:cNvSpPr txBox="1"/>
          <p:nvPr/>
        </p:nvSpPr>
        <p:spPr>
          <a:xfrm>
            <a:off x="649224" y="2072640"/>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Lo que dice el texto</a:t>
            </a:r>
            <a:endParaRPr lang="en-US" sz="1150" dirty="0"/>
          </a:p>
        </p:txBody>
      </p:sp>
      <p:sp>
        <p:nvSpPr>
          <p:cNvPr id="11" name="Text 9"/>
          <p:cNvSpPr txBox="1"/>
          <p:nvPr/>
        </p:nvSpPr>
        <p:spPr>
          <a:xfrm>
            <a:off x="649224" y="2383536"/>
            <a:ext cx="2325624"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Entra la etiqueta &lt;acumulacion&gt; en 17 de los 22 anexos. No existía en los formatos de 2021.</a:t>
            </a:r>
            <a:endParaRPr lang="en-US" sz="950" dirty="0"/>
          </a:p>
        </p:txBody>
      </p:sp>
      <p:sp>
        <p:nvSpPr>
          <p:cNvPr id="12" name="Shape 10"/>
          <p:cNvSpPr/>
          <p:nvPr/>
        </p:nvSpPr>
        <p:spPr>
          <a:xfrm>
            <a:off x="3262884" y="1926336"/>
            <a:ext cx="2618232" cy="1412621"/>
          </a:xfrm>
          <a:prstGeom prst="rect">
            <a:avLst/>
          </a:prstGeom>
          <a:solidFill>
            <a:srgbClr val="FFFFFF"/>
          </a:solidFill>
          <a:ln w="6350">
            <a:solidFill>
              <a:srgbClr val="747975"/>
            </a:solidFill>
            <a:prstDash val="solid"/>
          </a:ln>
        </p:spPr>
      </p:sp>
      <p:sp>
        <p:nvSpPr>
          <p:cNvPr id="13" name="Text 11"/>
          <p:cNvSpPr txBox="1"/>
          <p:nvPr/>
        </p:nvSpPr>
        <p:spPr>
          <a:xfrm>
            <a:off x="3409188" y="2072640"/>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Lo que se puede afirmar</a:t>
            </a:r>
            <a:endParaRPr lang="en-US" sz="1150" dirty="0"/>
          </a:p>
        </p:txBody>
      </p:sp>
      <p:sp>
        <p:nvSpPr>
          <p:cNvPr id="14" name="Text 12"/>
          <p:cNvSpPr txBox="1"/>
          <p:nvPr/>
        </p:nvSpPr>
        <p:spPr>
          <a:xfrm>
            <a:off x="3409188" y="2383536"/>
            <a:ext cx="2325624"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Hasta hoy la autoridad no podía distinguir en el formato un Aviso que nace de una operación grande de uno que nace de sumar operaciones chicas.</a:t>
            </a:r>
            <a:endParaRPr lang="en-US" sz="950" dirty="0"/>
          </a:p>
        </p:txBody>
      </p:sp>
      <p:sp>
        <p:nvSpPr>
          <p:cNvPr id="15" name="Shape 13"/>
          <p:cNvSpPr/>
          <p:nvPr/>
        </p:nvSpPr>
        <p:spPr>
          <a:xfrm>
            <a:off x="6022848" y="1926336"/>
            <a:ext cx="2618232" cy="1412621"/>
          </a:xfrm>
          <a:prstGeom prst="rect">
            <a:avLst/>
          </a:prstGeom>
          <a:solidFill>
            <a:srgbClr val="FFFFFF"/>
          </a:solidFill>
          <a:ln w="6350">
            <a:solidFill>
              <a:srgbClr val="747975"/>
            </a:solidFill>
            <a:prstDash val="solid"/>
          </a:ln>
        </p:spPr>
      </p:sp>
      <p:sp>
        <p:nvSpPr>
          <p:cNvPr id="16" name="Text 14"/>
          <p:cNvSpPr txBox="1"/>
          <p:nvPr/>
        </p:nvSpPr>
        <p:spPr>
          <a:xfrm>
            <a:off x="6169152" y="2072640"/>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Lo que es estimación mía</a:t>
            </a:r>
            <a:endParaRPr lang="en-US" sz="1150" dirty="0"/>
          </a:p>
        </p:txBody>
      </p:sp>
      <p:sp>
        <p:nvSpPr>
          <p:cNvPr id="17" name="Text 15"/>
          <p:cNvSpPr txBox="1"/>
          <p:nvPr/>
        </p:nvSpPr>
        <p:spPr>
          <a:xfrm>
            <a:off x="6169152" y="2383536"/>
            <a:ext cx="2325624" cy="772541"/>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Es razonable esperar que eso se convierta en un cruce de fiscalización. Esto no está en el texto: es lectura, y así se los digo.</a:t>
            </a:r>
            <a:endParaRPr lang="en-US" sz="950" dirty="0"/>
          </a:p>
        </p:txBody>
      </p:sp>
      <p:sp>
        <p:nvSpPr>
          <p:cNvPr id="18" name="Shape 16"/>
          <p:cNvSpPr/>
          <p:nvPr/>
        </p:nvSpPr>
        <p:spPr>
          <a:xfrm>
            <a:off x="502920" y="4014470"/>
            <a:ext cx="8138160" cy="630682"/>
          </a:xfrm>
          <a:prstGeom prst="rect">
            <a:avLst/>
          </a:prstGeom>
          <a:solidFill>
            <a:srgbClr val="80BCB5"/>
          </a:solidFill>
          <a:ln/>
        </p:spPr>
      </p:sp>
      <p:sp>
        <p:nvSpPr>
          <p:cNvPr id="19" name="Text 17"/>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Del lado del sistema no es un campo de captura: es un cálculo. Necesita una llave de cliente que amarre las operaciones del periodo.</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18</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18</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LECTURA 5</a:t>
            </a:r>
            <a:endParaRPr lang="en-US" sz="1100" dirty="0"/>
          </a:p>
        </p:txBody>
      </p:sp>
      <p:sp>
        <p:nvSpPr>
          <p:cNvPr id="8" name="Text 6"/>
          <p:cNvSpPr txBox="1"/>
          <p:nvPr/>
        </p:nvSpPr>
        <p:spPr>
          <a:xfrm>
            <a:off x="502920" y="932688"/>
            <a:ext cx="8138160" cy="810768"/>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El aviso de 24 horas todavía no se puede programar</a:t>
            </a:r>
            <a:endParaRPr lang="en-US" sz="2400" dirty="0"/>
          </a:p>
        </p:txBody>
      </p:sp>
      <p:sp>
        <p:nvSpPr>
          <p:cNvPr id="9" name="Shape 7"/>
          <p:cNvSpPr/>
          <p:nvPr/>
        </p:nvSpPr>
        <p:spPr>
          <a:xfrm>
            <a:off x="502920" y="1926336"/>
            <a:ext cx="8138160" cy="630682"/>
          </a:xfrm>
          <a:prstGeom prst="rect">
            <a:avLst/>
          </a:prstGeom>
          <a:solidFill>
            <a:srgbClr val="1B1B1E"/>
          </a:solidFill>
          <a:ln/>
        </p:spPr>
      </p:sp>
      <p:sp>
        <p:nvSpPr>
          <p:cNvPr id="10" name="Text 8"/>
          <p:cNvSpPr txBox="1"/>
          <p:nvPr/>
        </p:nvSpPr>
        <p:spPr>
          <a:xfrm>
            <a:off x="731520" y="1926336"/>
            <a:ext cx="7680960" cy="63068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El layout no trae NINGUNA etiqueta que identifique el Aviso de 24 horas. Ningún campo lo nombra.</a:t>
            </a:r>
            <a:endParaRPr lang="en-US" sz="1150" dirty="0"/>
          </a:p>
        </p:txBody>
      </p:sp>
      <p:sp>
        <p:nvSpPr>
          <p:cNvPr id="11" name="Shape 9"/>
          <p:cNvSpPr/>
          <p:nvPr/>
        </p:nvSpPr>
        <p:spPr>
          <a:xfrm>
            <a:off x="502920" y="2758186"/>
            <a:ext cx="2618232" cy="1265428"/>
          </a:xfrm>
          <a:prstGeom prst="rect">
            <a:avLst/>
          </a:prstGeom>
          <a:solidFill>
            <a:srgbClr val="FFFFFF"/>
          </a:solidFill>
          <a:ln w="6350">
            <a:solidFill>
              <a:srgbClr val="747975"/>
            </a:solidFill>
            <a:prstDash val="solid"/>
          </a:ln>
        </p:spPr>
      </p:sp>
      <p:sp>
        <p:nvSpPr>
          <p:cNvPr id="12" name="Text 10"/>
          <p:cNvSpPr txBox="1"/>
          <p:nvPr/>
        </p:nvSpPr>
        <p:spPr>
          <a:xfrm>
            <a:off x="649224" y="2904490"/>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De dónde tendrá que venir</a:t>
            </a:r>
            <a:endParaRPr lang="en-US" sz="1150" dirty="0"/>
          </a:p>
        </p:txBody>
      </p:sp>
      <p:sp>
        <p:nvSpPr>
          <p:cNvPr id="13" name="Text 11"/>
          <p:cNvSpPr txBox="1"/>
          <p:nvPr/>
        </p:nvSpPr>
        <p:spPr>
          <a:xfrm>
            <a:off x="649224" y="3215386"/>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Del catálogo. Los dos candidatos son &lt;prioridad&gt;, el campo 3.3, y &lt;tipo_alerta&gt;, el 3.4.1.</a:t>
            </a:r>
            <a:endParaRPr lang="en-US" sz="950" dirty="0"/>
          </a:p>
        </p:txBody>
      </p:sp>
      <p:sp>
        <p:nvSpPr>
          <p:cNvPr id="14" name="Shape 12"/>
          <p:cNvSpPr/>
          <p:nvPr/>
        </p:nvSpPr>
        <p:spPr>
          <a:xfrm>
            <a:off x="3262884" y="2758186"/>
            <a:ext cx="2618232" cy="1265428"/>
          </a:xfrm>
          <a:prstGeom prst="rect">
            <a:avLst/>
          </a:prstGeom>
          <a:solidFill>
            <a:srgbClr val="FFFFFF"/>
          </a:solidFill>
          <a:ln w="6350">
            <a:solidFill>
              <a:srgbClr val="747975"/>
            </a:solidFill>
            <a:prstDash val="solid"/>
          </a:ln>
        </p:spPr>
      </p:sp>
      <p:sp>
        <p:nvSpPr>
          <p:cNvPr id="15" name="Text 13"/>
          <p:cNvSpPr txBox="1"/>
          <p:nvPr/>
        </p:nvSpPr>
        <p:spPr>
          <a:xfrm>
            <a:off x="3409188" y="2904490"/>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De quién depende</a:t>
            </a:r>
            <a:endParaRPr lang="en-US" sz="1150" dirty="0"/>
          </a:p>
        </p:txBody>
      </p:sp>
      <p:sp>
        <p:nvSpPr>
          <p:cNvPr id="16" name="Text 14"/>
          <p:cNvSpPr txBox="1"/>
          <p:nvPr/>
        </p:nvSpPr>
        <p:spPr>
          <a:xfrm>
            <a:off x="3409188" y="3215386"/>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De la UIF. El Transitorio Sexto le daba cinco días hábiles desde la publicación para instructivos y catálogos: al 1 de octubre de 2026.</a:t>
            </a:r>
            <a:endParaRPr lang="en-US" sz="950" dirty="0"/>
          </a:p>
        </p:txBody>
      </p:sp>
      <p:sp>
        <p:nvSpPr>
          <p:cNvPr id="17" name="Shape 15"/>
          <p:cNvSpPr/>
          <p:nvPr/>
        </p:nvSpPr>
        <p:spPr>
          <a:xfrm>
            <a:off x="6022848" y="2758186"/>
            <a:ext cx="2618232" cy="1265428"/>
          </a:xfrm>
          <a:prstGeom prst="rect">
            <a:avLst/>
          </a:prstGeom>
          <a:solidFill>
            <a:srgbClr val="FFFFFF"/>
          </a:solidFill>
          <a:ln w="6350">
            <a:solidFill>
              <a:srgbClr val="747975"/>
            </a:solidFill>
            <a:prstDash val="solid"/>
          </a:ln>
        </p:spPr>
      </p:sp>
      <p:sp>
        <p:nvSpPr>
          <p:cNvPr id="18" name="Text 16"/>
          <p:cNvSpPr txBox="1"/>
          <p:nvPr/>
        </p:nvSpPr>
        <p:spPr>
          <a:xfrm>
            <a:off x="6169152" y="2904490"/>
            <a:ext cx="2325624"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Qué NO hacer</a:t>
            </a:r>
            <a:endParaRPr lang="en-US" sz="1150" dirty="0"/>
          </a:p>
        </p:txBody>
      </p:sp>
      <p:sp>
        <p:nvSpPr>
          <p:cNvPr id="19" name="Text 17"/>
          <p:cNvSpPr txBox="1"/>
          <p:nvPr/>
        </p:nvSpPr>
        <p:spPr>
          <a:xfrm>
            <a:off x="6169152" y="3215386"/>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Cerrar el diseño del flujo antes de esa fecha. Y no dejar que esto detenga el 90% restante del trabajo, que sí se puede empezar hoy.</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19</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LECTURA 6</a:t>
            </a:r>
            <a:endParaRPr lang="en-US" sz="1100" dirty="0"/>
          </a:p>
        </p:txBody>
      </p:sp>
      <p:sp>
        <p:nvSpPr>
          <p:cNvPr id="8" name="Text 6"/>
          <p:cNvSpPr txBox="1"/>
          <p:nvPr/>
        </p:nvSpPr>
        <p:spPr>
          <a:xfrm>
            <a:off x="502920" y="932688"/>
            <a:ext cx="8138160" cy="810768"/>
          </a:xfrm>
          <a:prstGeom prst="rect">
            <a:avLst/>
          </a:prstGeom>
          <a:noFill/>
          <a:ln/>
        </p:spPr>
        <p:txBody>
          <a:bodyPr wrap="square" lIns="0" tIns="0" rIns="0" bIns="0" rtlCol="0" anchor="t"/>
          <a:lstStyle/>
          <a:p>
            <a:pPr indent="0" marL="0">
              <a:buNone/>
            </a:pPr>
            <a:r>
              <a:rPr lang="en-US" sz="2400" b="1" dirty="0">
                <a:solidFill>
                  <a:srgbClr val="1B1B1E"/>
                </a:solidFill>
                <a:latin typeface="Arial" pitchFamily="34" charset="0"/>
                <a:ea typeface="Arial" pitchFamily="34" charset="-122"/>
                <a:cs typeface="Arial" pitchFamily="34" charset="-120"/>
              </a:rPr>
              <a:t>El texto se publicó con erratas, y hoy son texto vigente</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926336"/>
          <a:ext cx="8138160" cy="914400"/>
        </p:xfrm>
        <a:graphic>
          <a:graphicData uri="http://schemas.openxmlformats.org/drawingml/2006/table">
            <a:tbl>
              <a:tblPr/>
              <a:tblGrid>
                <a:gridCol w="868680"/>
                <a:gridCol w="2148840"/>
                <a:gridCol w="2057400"/>
                <a:gridCol w="3063240"/>
              </a:tblGrid>
              <a:tr h="219456">
                <a:tc>
                  <a:txBody>
                    <a:bodyPr/>
                    <a:lstStyle/>
                    <a:p>
                      <a:pPr indent="0" marL="0">
                        <a:buNone/>
                      </a:pPr>
                      <a:r>
                        <a:rPr lang="en-US" sz="900" b="1" dirty="0">
                          <a:solidFill>
                            <a:srgbClr val="FFFFFF"/>
                          </a:solidFill>
                          <a:latin typeface="Arial" pitchFamily="34" charset="0"/>
                          <a:ea typeface="Arial" pitchFamily="34" charset="-122"/>
                          <a:cs typeface="Arial" pitchFamily="34" charset="-120"/>
                        </a:rPr>
                        <a:t>Anexo</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Dice</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Debería decir</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Riesgo</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19456">
                <a:tc>
                  <a:txBody>
                    <a:bodyPr/>
                    <a:lstStyle/>
                    <a:p>
                      <a:pPr indent="0" marL="0">
                        <a:buNone/>
                      </a:pPr>
                      <a:r>
                        <a:rPr lang="en-US" sz="800" dirty="0">
                          <a:solidFill>
                            <a:srgbClr val="1B1B1E"/>
                          </a:solidFill>
                          <a:latin typeface="Arial" pitchFamily="34" charset="0"/>
                          <a:ea typeface="Arial" pitchFamily="34" charset="-122"/>
                          <a:cs typeface="Arial" pitchFamily="34" charset="-120"/>
                        </a:rPr>
                        <a:t>2-B</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&lt;total_fg_juridicas&gt;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&lt;total_fig_juridicas&gt;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Falta la i. Los otros 19 la traen</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1B1B1E"/>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&lt;tipo_pesona_moral&gt;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&lt;tipo_persona_moral&gt;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Falta la r. Mismo riesgo</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1B1B1E"/>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&lt;persona _fisica&gt;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&lt;persona_fisica&gt;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Espacio en la etiqueta. Igual en &lt;persona _moral&gt;</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1B1B1E"/>
                          </a:solidFill>
                          <a:latin typeface="Arial" pitchFamily="34" charset="0"/>
                          <a:ea typeface="Arial" pitchFamily="34" charset="-122"/>
                          <a:cs typeface="Arial" pitchFamily="34" charset="-120"/>
                        </a:rPr>
                        <a:t>12-C</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&lt;valor_avalúo_catastral&gt;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Courier New" pitchFamily="34" charset="0"/>
                          <a:ea typeface="Courier New" pitchFamily="34" charset="-122"/>
                          <a:cs typeface="Courier New" pitchFamily="34" charset="-120"/>
                        </a:rPr>
                        <a:t>&lt;valor_avaluo_catastral&gt;</a:t>
                      </a:r>
                      <a:endParaRPr lang="en-US" sz="800" dirty="0">
                        <a:latin typeface="Courier New" charset="0"/>
                        <a:ea typeface="Courier New" charset="0"/>
                        <a:cs typeface="Courier New"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Acento en la etiqueta. En el 5-A va sin él</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800" dirty="0">
                          <a:solidFill>
                            <a:srgbClr val="1B1B1E"/>
                          </a:solidFill>
                          <a:latin typeface="Arial" pitchFamily="34" charset="0"/>
                          <a:ea typeface="Arial" pitchFamily="34" charset="-122"/>
                          <a:cs typeface="Arial" pitchFamily="34" charset="-120"/>
                        </a:rPr>
                        <a:t>16</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Salta 3.5.3.3.1.4.5 → 3.5.3.3.1.6</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800" dirty="0">
                          <a:solidFill>
                            <a:srgbClr val="1B1B1E"/>
                          </a:solidFill>
                          <a:latin typeface="Arial" pitchFamily="34" charset="0"/>
                          <a:ea typeface="Arial" pitchFamily="34" charset="-122"/>
                          <a:cs typeface="Arial" pitchFamily="34" charset="-120"/>
                        </a:rPr>
                        <a:t>Falta un número en la secuencia</a:t>
                      </a:r>
                      <a:endParaRPr lang="en-US" sz="8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14470"/>
            <a:ext cx="8138160" cy="630682"/>
          </a:xfrm>
          <a:prstGeom prst="rect">
            <a:avLst/>
          </a:prstGeom>
          <a:solidFill>
            <a:srgbClr val="80BCB5"/>
          </a:solidFill>
          <a:ln/>
        </p:spPr>
      </p:sp>
      <p:sp>
        <p:nvSpPr>
          <p:cNvPr id="11" name="Text 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Verificadas contra el archivo del propio DOF. Programe lo que dice, con las etiquetas en tabla de configuración.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20</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4 · 45 a 60 min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¿Cuánto trabajo le toca a su sector?</a:t>
            </a:r>
            <a:endParaRPr lang="en-US" sz="2700" dirty="0"/>
          </a:p>
        </p:txBody>
      </p:sp>
      <p:sp>
        <p:nvSpPr>
          <p:cNvPr id="9" name="Text 7"/>
          <p:cNvSpPr txBox="1"/>
          <p:nvPr/>
        </p:nvSpPr>
        <p:spPr>
          <a:xfrm>
            <a:off x="502920" y="1645920"/>
            <a:ext cx="8138160" cy="488696"/>
          </a:xfrm>
          <a:prstGeom prst="rect">
            <a:avLst/>
          </a:prstGeom>
          <a:noFill/>
          <a:ln/>
        </p:spPr>
        <p:txBody>
          <a:bodyPr wrap="square" lIns="0" tIns="0" rIns="0" bIns="0" rtlCol="0" anchor="ctr"/>
          <a:lstStyle/>
          <a:p>
            <a:pPr indent="0" marL="0">
              <a:lnSpc>
                <a:spcPct val="120000"/>
              </a:lnSpc>
              <a:buNone/>
            </a:pPr>
            <a:r>
              <a:rPr lang="en-US" sz="1400" dirty="0">
                <a:solidFill>
                  <a:srgbClr val="393E41"/>
                </a:solidFill>
                <a:latin typeface="Arial" pitchFamily="34" charset="0"/>
                <a:ea typeface="Arial" pitchFamily="34" charset="-122"/>
                <a:cs typeface="Arial" pitchFamily="34" charset="-120"/>
              </a:rPr>
              <a:t>Los 22 anexos agrupados por el tipo de trabajo que generan, no por tema. Búsquese antes de que yo explique cada grupo.</a:t>
            </a:r>
            <a:endParaRPr lang="en-US" sz="1400" dirty="0"/>
          </a:p>
        </p:txBody>
      </p:sp>
      <p:sp>
        <p:nvSpPr>
          <p:cNvPr id="10" name="Shape 8"/>
          <p:cNvSpPr/>
          <p:nvPr/>
        </p:nvSpPr>
        <p:spPr>
          <a:xfrm>
            <a:off x="502920" y="2317496"/>
            <a:ext cx="1928241" cy="1239647"/>
          </a:xfrm>
          <a:prstGeom prst="rect">
            <a:avLst/>
          </a:prstGeom>
          <a:solidFill>
            <a:srgbClr val="FFFFFF"/>
          </a:solidFill>
          <a:ln w="6350">
            <a:solidFill>
              <a:srgbClr val="747975"/>
            </a:solidFill>
            <a:prstDash val="solid"/>
          </a:ln>
        </p:spPr>
      </p:sp>
      <p:sp>
        <p:nvSpPr>
          <p:cNvPr id="11" name="Text 9"/>
          <p:cNvSpPr txBox="1"/>
          <p:nvPr/>
        </p:nvSpPr>
        <p:spPr>
          <a:xfrm>
            <a:off x="649224" y="2463800"/>
            <a:ext cx="1635633" cy="340868"/>
          </a:xfrm>
          <a:prstGeom prst="rect">
            <a:avLst/>
          </a:prstGeom>
          <a:noFill/>
          <a:ln/>
        </p:spPr>
        <p:txBody>
          <a:bodyPr wrap="square" lIns="0" tIns="0" rIns="0" bIns="0" rtlCol="0" anchor="t"/>
          <a:lstStyle/>
          <a:p>
            <a:pPr indent="0" marL="0">
              <a:buNone/>
            </a:pPr>
            <a:r>
              <a:rPr lang="en-US" sz="1100" b="1" dirty="0">
                <a:solidFill>
                  <a:srgbClr val="1B1B1E"/>
                </a:solidFill>
                <a:latin typeface="Arial" pitchFamily="34" charset="0"/>
                <a:ea typeface="Arial" pitchFamily="34" charset="-122"/>
                <a:cs typeface="Arial" pitchFamily="34" charset="-120"/>
              </a:rPr>
              <a:t>A · Formato nuevo o casi</a:t>
            </a:r>
            <a:endParaRPr lang="en-US" sz="1100" dirty="0"/>
          </a:p>
        </p:txBody>
      </p:sp>
      <p:sp>
        <p:nvSpPr>
          <p:cNvPr id="12" name="Text 10"/>
          <p:cNvSpPr txBox="1"/>
          <p:nvPr/>
        </p:nvSpPr>
        <p:spPr>
          <a:xfrm>
            <a:off x="649224" y="2896108"/>
            <a:ext cx="1635633"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12-A, 14-A, 12-B y 12-C. No sirve adaptar: hay que rehacer.</a:t>
            </a:r>
            <a:endParaRPr lang="en-US" sz="950" dirty="0"/>
          </a:p>
        </p:txBody>
      </p:sp>
      <p:sp>
        <p:nvSpPr>
          <p:cNvPr id="13" name="Shape 11"/>
          <p:cNvSpPr/>
          <p:nvPr/>
        </p:nvSpPr>
        <p:spPr>
          <a:xfrm>
            <a:off x="2572893" y="2317496"/>
            <a:ext cx="1928241" cy="1239647"/>
          </a:xfrm>
          <a:prstGeom prst="rect">
            <a:avLst/>
          </a:prstGeom>
          <a:solidFill>
            <a:srgbClr val="FFFFFF"/>
          </a:solidFill>
          <a:ln w="6350">
            <a:solidFill>
              <a:srgbClr val="747975"/>
            </a:solidFill>
            <a:prstDash val="solid"/>
          </a:ln>
        </p:spPr>
      </p:sp>
      <p:sp>
        <p:nvSpPr>
          <p:cNvPr id="14" name="Text 12"/>
          <p:cNvSpPr txBox="1"/>
          <p:nvPr/>
        </p:nvSpPr>
        <p:spPr>
          <a:xfrm>
            <a:off x="2719197" y="2463800"/>
            <a:ext cx="1635633" cy="340868"/>
          </a:xfrm>
          <a:prstGeom prst="rect">
            <a:avLst/>
          </a:prstGeom>
          <a:noFill/>
          <a:ln/>
        </p:spPr>
        <p:txBody>
          <a:bodyPr wrap="square" lIns="0" tIns="0" rIns="0" bIns="0" rtlCol="0" anchor="t"/>
          <a:lstStyle/>
          <a:p>
            <a:pPr indent="0" marL="0">
              <a:buNone/>
            </a:pPr>
            <a:r>
              <a:rPr lang="en-US" sz="1100" b="1" dirty="0">
                <a:solidFill>
                  <a:srgbClr val="1B1B1E"/>
                </a:solidFill>
                <a:latin typeface="Arial" pitchFamily="34" charset="0"/>
                <a:ea typeface="Arial" pitchFamily="34" charset="-122"/>
                <a:cs typeface="Arial" pitchFamily="34" charset="-120"/>
              </a:rPr>
              <a:t>B · Trabajo de expediente</a:t>
            </a:r>
            <a:endParaRPr lang="en-US" sz="1100" dirty="0"/>
          </a:p>
        </p:txBody>
      </p:sp>
      <p:sp>
        <p:nvSpPr>
          <p:cNvPr id="15" name="Text 13"/>
          <p:cNvSpPr txBox="1"/>
          <p:nvPr/>
        </p:nvSpPr>
        <p:spPr>
          <a:xfrm>
            <a:off x="2719197" y="2896108"/>
            <a:ext cx="1635633"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16, 5-B y 11. Hay datos que hoy no se capturan.</a:t>
            </a:r>
            <a:endParaRPr lang="en-US" sz="950" dirty="0"/>
          </a:p>
        </p:txBody>
      </p:sp>
      <p:sp>
        <p:nvSpPr>
          <p:cNvPr id="16" name="Shape 14"/>
          <p:cNvSpPr/>
          <p:nvPr/>
        </p:nvSpPr>
        <p:spPr>
          <a:xfrm>
            <a:off x="4642866" y="2317496"/>
            <a:ext cx="1928241" cy="1239647"/>
          </a:xfrm>
          <a:prstGeom prst="rect">
            <a:avLst/>
          </a:prstGeom>
          <a:solidFill>
            <a:srgbClr val="FFFFFF"/>
          </a:solidFill>
          <a:ln w="6350">
            <a:solidFill>
              <a:srgbClr val="747975"/>
            </a:solidFill>
            <a:prstDash val="solid"/>
          </a:ln>
        </p:spPr>
      </p:sp>
      <p:sp>
        <p:nvSpPr>
          <p:cNvPr id="17" name="Text 15"/>
          <p:cNvSpPr txBox="1"/>
          <p:nvPr/>
        </p:nvSpPr>
        <p:spPr>
          <a:xfrm>
            <a:off x="4789170" y="2463800"/>
            <a:ext cx="1635633" cy="340868"/>
          </a:xfrm>
          <a:prstGeom prst="rect">
            <a:avLst/>
          </a:prstGeom>
          <a:noFill/>
          <a:ln/>
        </p:spPr>
        <p:txBody>
          <a:bodyPr wrap="square" lIns="0" tIns="0" rIns="0" bIns="0" rtlCol="0" anchor="t"/>
          <a:lstStyle/>
          <a:p>
            <a:pPr indent="0" marL="0">
              <a:buNone/>
            </a:pPr>
            <a:r>
              <a:rPr lang="en-US" sz="1100" b="1" dirty="0">
                <a:solidFill>
                  <a:srgbClr val="1B1B1E"/>
                </a:solidFill>
                <a:latin typeface="Arial" pitchFamily="34" charset="0"/>
                <a:ea typeface="Arial" pitchFamily="34" charset="-122"/>
                <a:cs typeface="Arial" pitchFamily="34" charset="-120"/>
              </a:rPr>
              <a:t>C · Casi todo es reacomodo</a:t>
            </a:r>
            <a:endParaRPr lang="en-US" sz="1100" dirty="0"/>
          </a:p>
        </p:txBody>
      </p:sp>
      <p:sp>
        <p:nvSpPr>
          <p:cNvPr id="18" name="Text 16"/>
          <p:cNvSpPr txBox="1"/>
          <p:nvPr/>
        </p:nvSpPr>
        <p:spPr>
          <a:xfrm>
            <a:off x="4789170" y="2896108"/>
            <a:ext cx="1635633"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4, 5-A, 15 y 2-A. Es trabajo de sistemas.</a:t>
            </a:r>
            <a:endParaRPr lang="en-US" sz="950" dirty="0"/>
          </a:p>
        </p:txBody>
      </p:sp>
      <p:sp>
        <p:nvSpPr>
          <p:cNvPr id="19" name="Shape 17"/>
          <p:cNvSpPr/>
          <p:nvPr/>
        </p:nvSpPr>
        <p:spPr>
          <a:xfrm>
            <a:off x="6712839" y="2317496"/>
            <a:ext cx="1928241" cy="1239647"/>
          </a:xfrm>
          <a:prstGeom prst="rect">
            <a:avLst/>
          </a:prstGeom>
          <a:solidFill>
            <a:srgbClr val="FFFFFF"/>
          </a:solidFill>
          <a:ln w="6350">
            <a:solidFill>
              <a:srgbClr val="747975"/>
            </a:solidFill>
            <a:prstDash val="solid"/>
          </a:ln>
        </p:spPr>
      </p:sp>
      <p:sp>
        <p:nvSpPr>
          <p:cNvPr id="20" name="Text 18"/>
          <p:cNvSpPr txBox="1"/>
          <p:nvPr/>
        </p:nvSpPr>
        <p:spPr>
          <a:xfrm>
            <a:off x="6859143" y="2463800"/>
            <a:ext cx="1635633" cy="340868"/>
          </a:xfrm>
          <a:prstGeom prst="rect">
            <a:avLst/>
          </a:prstGeom>
          <a:noFill/>
          <a:ln/>
        </p:spPr>
        <p:txBody>
          <a:bodyPr wrap="square" lIns="0" tIns="0" rIns="0" bIns="0" rtlCol="0" anchor="t"/>
          <a:lstStyle/>
          <a:p>
            <a:pPr indent="0" marL="0">
              <a:buNone/>
            </a:pPr>
            <a:r>
              <a:rPr lang="en-US" sz="1100" b="1" dirty="0">
                <a:solidFill>
                  <a:srgbClr val="1B1B1E"/>
                </a:solidFill>
                <a:latin typeface="Arial" pitchFamily="34" charset="0"/>
                <a:ea typeface="Arial" pitchFamily="34" charset="-122"/>
                <a:cs typeface="Arial" pitchFamily="34" charset="-120"/>
              </a:rPr>
              <a:t>D · Cambio acotado</a:t>
            </a:r>
            <a:endParaRPr lang="en-US" sz="1100" dirty="0"/>
          </a:p>
        </p:txBody>
      </p:sp>
      <p:sp>
        <p:nvSpPr>
          <p:cNvPr id="21" name="Text 19"/>
          <p:cNvSpPr txBox="1"/>
          <p:nvPr/>
        </p:nvSpPr>
        <p:spPr>
          <a:xfrm>
            <a:off x="6859143" y="2896108"/>
            <a:ext cx="1635633" cy="478155"/>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Los otros diez. A todos el mismo paquete común.</a:t>
            </a:r>
            <a:endParaRPr lang="en-US" sz="950" dirty="0"/>
          </a:p>
        </p:txBody>
      </p:sp>
      <p:sp>
        <p:nvSpPr>
          <p:cNvPr id="22" name="Shape 20"/>
          <p:cNvSpPr/>
          <p:nvPr/>
        </p:nvSpPr>
        <p:spPr>
          <a:xfrm>
            <a:off x="502920" y="4078224"/>
            <a:ext cx="8138160" cy="566928"/>
          </a:xfrm>
          <a:prstGeom prst="rect">
            <a:avLst/>
          </a:prstGeom>
          <a:solidFill>
            <a:srgbClr val="80BCB5"/>
          </a:solidFill>
          <a:ln/>
        </p:spPr>
      </p:sp>
      <p:sp>
        <p:nvSpPr>
          <p:cNvPr id="23" name="Text 21"/>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Encuentre su grupo ahora: de ahí sale el tamaño de su proyecto.</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21</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GRUPO A</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Su formato es nuevo o casi</a:t>
            </a:r>
            <a:endParaRPr lang="en-US" sz="2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868680"/>
                <a:gridCol w="2743200"/>
                <a:gridCol w="777240"/>
                <a:gridCol w="3749040"/>
              </a:tblGrid>
              <a:tr h="292608">
                <a:tc>
                  <a:txBody>
                    <a:bodyPr/>
                    <a:lstStyle/>
                    <a:p>
                      <a:pPr indent="0" marL="0">
                        <a:buNone/>
                      </a:pPr>
                      <a:r>
                        <a:rPr lang="en-US" sz="1050" b="1" dirty="0">
                          <a:solidFill>
                            <a:srgbClr val="FFFFFF"/>
                          </a:solidFill>
                          <a:latin typeface="Arial" pitchFamily="34" charset="0"/>
                          <a:ea typeface="Arial" pitchFamily="34" charset="-122"/>
                          <a:cs typeface="Arial" pitchFamily="34" charset="-120"/>
                        </a:rPr>
                        <a:t>Anexo</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Actividad</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Nuevos</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 significa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92608">
                <a:tc>
                  <a:txBody>
                    <a:bodyPr/>
                    <a:lstStyle/>
                    <a:p>
                      <a:pPr indent="0" marL="0">
                        <a:buNone/>
                      </a:pPr>
                      <a:r>
                        <a:rPr lang="en-US" sz="950" dirty="0">
                          <a:solidFill>
                            <a:srgbClr val="1B1B1E"/>
                          </a:solidFill>
                          <a:latin typeface="Arial" pitchFamily="34" charset="0"/>
                          <a:ea typeface="Arial" pitchFamily="34" charset="-122"/>
                          <a:cs typeface="Arial" pitchFamily="34" charset="-120"/>
                        </a:rPr>
                        <a:t>12-A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Notarios y corredores públicos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259</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776 campos en total. El más grande de los 22</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1B1E"/>
                          </a:solidFill>
                          <a:latin typeface="Arial" pitchFamily="34" charset="0"/>
                          <a:ea typeface="Arial" pitchFamily="34" charset="-122"/>
                          <a:cs typeface="Arial" pitchFamily="34" charset="-120"/>
                        </a:rPr>
                        <a:t>12-B</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Servidores públicos con fe pública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141</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De 444 a 585 campos. El BC es Opcional en 7 de sus 8 bloques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1B1E"/>
                          </a:solidFill>
                          <a:latin typeface="Arial" pitchFamily="34" charset="0"/>
                          <a:ea typeface="Arial" pitchFamily="34" charset="-122"/>
                          <a:cs typeface="Arial" pitchFamily="34" charset="-120"/>
                        </a:rPr>
                        <a:t>14-A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Comercio exterior · aviso por sospecha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118</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Anexo nuevo. No tiene bloque de Beneficiario Controlador</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1B1E"/>
                          </a:solidFill>
                          <a:latin typeface="Arial" pitchFamily="34" charset="0"/>
                          <a:ea typeface="Arial" pitchFamily="34" charset="-122"/>
                          <a:cs typeface="Arial" pitchFamily="34" charset="-120"/>
                        </a:rPr>
                        <a:t>12-C</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Personas facilitadoras · LGMASC</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111</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Anexo nuevo. Art. 17 fr. XII, apartado D</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14470"/>
            <a:ext cx="8138160" cy="630682"/>
          </a:xfrm>
          <a:prstGeom prst="rect">
            <a:avLst/>
          </a:prstGeom>
          <a:solidFill>
            <a:srgbClr val="80BCB5"/>
          </a:solidFill>
          <a:ln/>
        </p:spPr>
      </p:sp>
      <p:sp>
        <p:nvSpPr>
          <p:cNvPr id="11" name="Text 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No sirve adaptar lo que tienen: hay que rehacer. La fe pública es donde más se detalló la reforma.</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22</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GRUPO B</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Trabajo real de expediente</a:t>
            </a:r>
            <a:endParaRPr lang="en-US" sz="2700" dirty="0"/>
          </a:p>
        </p:txBody>
      </p:sp>
      <p:sp>
        <p:nvSpPr>
          <p:cNvPr id="9" name="Text 7"/>
          <p:cNvSpPr txBox="1"/>
          <p:nvPr/>
        </p:nvSpPr>
        <p:spPr>
          <a:xfrm>
            <a:off x="502920" y="1645920"/>
            <a:ext cx="8138160" cy="457708"/>
          </a:xfrm>
          <a:prstGeom prst="rect">
            <a:avLst/>
          </a:prstGeom>
          <a:noFill/>
          <a:ln/>
        </p:spPr>
        <p:txBody>
          <a:bodyPr wrap="square" lIns="0" tIns="0" rIns="0" bIns="0" rtlCol="0" anchor="ctr"/>
          <a:lstStyle/>
          <a:p>
            <a:pPr indent="0" marL="0">
              <a:lnSpc>
                <a:spcPct val="120000"/>
              </a:lnSpc>
              <a:buNone/>
            </a:pPr>
            <a:r>
              <a:rPr lang="en-US" sz="1300" dirty="0">
                <a:solidFill>
                  <a:srgbClr val="393E41"/>
                </a:solidFill>
                <a:latin typeface="Arial" pitchFamily="34" charset="0"/>
                <a:ea typeface="Arial" pitchFamily="34" charset="-122"/>
                <a:cs typeface="Arial" pitchFamily="34" charset="-120"/>
              </a:rPr>
              <a:t>Aquí hay datos que hoy no se están capturando. Empiecen por el formato de identificación: es lo que alimenta todo lo demás.</a:t>
            </a:r>
            <a:endParaRPr lang="en-US" sz="1300" dirty="0"/>
          </a:p>
        </p:txBody>
      </p:sp>
      <p:sp>
        <p:nvSpPr>
          <p:cNvPr id="10" name="Shape 8"/>
          <p:cNvSpPr/>
          <p:nvPr/>
        </p:nvSpPr>
        <p:spPr>
          <a:xfrm>
            <a:off x="502920" y="2286508"/>
            <a:ext cx="2618232" cy="1402334"/>
          </a:xfrm>
          <a:prstGeom prst="rect">
            <a:avLst/>
          </a:prstGeom>
          <a:solidFill>
            <a:srgbClr val="FFFFFF"/>
          </a:solidFill>
          <a:ln w="6350">
            <a:solidFill>
              <a:srgbClr val="747975"/>
            </a:solidFill>
            <a:prstDash val="solid"/>
          </a:ln>
        </p:spPr>
      </p:sp>
      <p:sp>
        <p:nvSpPr>
          <p:cNvPr id="11" name="Text 9"/>
          <p:cNvSpPr txBox="1"/>
          <p:nvPr/>
        </p:nvSpPr>
        <p:spPr>
          <a:xfrm>
            <a:off x="649224" y="2432812"/>
            <a:ext cx="2325624" cy="356362"/>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16 · Activos virtuales</a:t>
            </a:r>
            <a:endParaRPr lang="en-US" sz="1150" dirty="0"/>
          </a:p>
        </p:txBody>
      </p:sp>
      <p:sp>
        <p:nvSpPr>
          <p:cNvPr id="12" name="Text 10"/>
          <p:cNvSpPr txBox="1"/>
          <p:nvPr/>
        </p:nvSpPr>
        <p:spPr>
          <a:xfrm>
            <a:off x="649224" y="2880614"/>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60 campos nuevos y 98 modificados. Además, la cabecera del aviso va invertida respecto de los otros 21 anexos.</a:t>
            </a:r>
            <a:endParaRPr lang="en-US" sz="950" dirty="0"/>
          </a:p>
        </p:txBody>
      </p:sp>
      <p:sp>
        <p:nvSpPr>
          <p:cNvPr id="13" name="Shape 11"/>
          <p:cNvSpPr/>
          <p:nvPr/>
        </p:nvSpPr>
        <p:spPr>
          <a:xfrm>
            <a:off x="3262884" y="2286508"/>
            <a:ext cx="2618232" cy="1402334"/>
          </a:xfrm>
          <a:prstGeom prst="rect">
            <a:avLst/>
          </a:prstGeom>
          <a:solidFill>
            <a:srgbClr val="FFFFFF"/>
          </a:solidFill>
          <a:ln w="6350">
            <a:solidFill>
              <a:srgbClr val="747975"/>
            </a:solidFill>
            <a:prstDash val="solid"/>
          </a:ln>
        </p:spPr>
      </p:sp>
      <p:sp>
        <p:nvSpPr>
          <p:cNvPr id="14" name="Text 12"/>
          <p:cNvSpPr txBox="1"/>
          <p:nvPr/>
        </p:nvSpPr>
        <p:spPr>
          <a:xfrm>
            <a:off x="3409188" y="2432812"/>
            <a:ext cx="2325624" cy="356362"/>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5-B · Recepción de recursos para desarrollo inmobiliario</a:t>
            </a:r>
            <a:endParaRPr lang="en-US" sz="1150" dirty="0"/>
          </a:p>
        </p:txBody>
      </p:sp>
      <p:sp>
        <p:nvSpPr>
          <p:cNvPr id="15" name="Text 13"/>
          <p:cNvSpPr txBox="1"/>
          <p:nvPr/>
        </p:nvSpPr>
        <p:spPr>
          <a:xfrm>
            <a:off x="3409188" y="2880614"/>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47 campos nuevos. Es el anexo más anidado de los 22: doce niveles de profundidad y tres bloques de Beneficiario Controlador.</a:t>
            </a:r>
            <a:endParaRPr lang="en-US" sz="950" dirty="0"/>
          </a:p>
        </p:txBody>
      </p:sp>
      <p:sp>
        <p:nvSpPr>
          <p:cNvPr id="16" name="Shape 14"/>
          <p:cNvSpPr/>
          <p:nvPr/>
        </p:nvSpPr>
        <p:spPr>
          <a:xfrm>
            <a:off x="6022848" y="2286508"/>
            <a:ext cx="2618232" cy="1402334"/>
          </a:xfrm>
          <a:prstGeom prst="rect">
            <a:avLst/>
          </a:prstGeom>
          <a:solidFill>
            <a:srgbClr val="FFFFFF"/>
          </a:solidFill>
          <a:ln w="6350">
            <a:solidFill>
              <a:srgbClr val="747975"/>
            </a:solidFill>
            <a:prstDash val="solid"/>
          </a:ln>
        </p:spPr>
      </p:sp>
      <p:sp>
        <p:nvSpPr>
          <p:cNvPr id="17" name="Text 15"/>
          <p:cNvSpPr txBox="1"/>
          <p:nvPr/>
        </p:nvSpPr>
        <p:spPr>
          <a:xfrm>
            <a:off x="6169152" y="2432812"/>
            <a:ext cx="2325624" cy="356362"/>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11 · Servicios profesionales independientes</a:t>
            </a:r>
            <a:endParaRPr lang="en-US" sz="1150" dirty="0"/>
          </a:p>
        </p:txBody>
      </p:sp>
      <p:sp>
        <p:nvSpPr>
          <p:cNvPr id="18" name="Text 16"/>
          <p:cNvSpPr txBox="1"/>
          <p:nvPr/>
        </p:nvSpPr>
        <p:spPr>
          <a:xfrm>
            <a:off x="6169152" y="2880614"/>
            <a:ext cx="2325624"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16 nuevos y 38 reubicados. Ojo: aquí el campo 2.3 es la ocupación y la clave de actividad se corre al 2.4.</a:t>
            </a:r>
            <a:endParaRPr lang="en-US" sz="950" dirty="0"/>
          </a:p>
        </p:txBody>
      </p:sp>
      <p:sp>
        <p:nvSpPr>
          <p:cNvPr id="19" name="Shape 17"/>
          <p:cNvSpPr/>
          <p:nvPr/>
        </p:nvSpPr>
        <p:spPr>
          <a:xfrm>
            <a:off x="502920" y="4014470"/>
            <a:ext cx="8138160" cy="630682"/>
          </a:xfrm>
          <a:prstGeom prst="rect">
            <a:avLst/>
          </a:prstGeom>
          <a:solidFill>
            <a:srgbClr val="80BCB5"/>
          </a:solidFill>
          <a:ln/>
        </p:spPr>
      </p:sp>
      <p:sp>
        <p:nvSpPr>
          <p:cNvPr id="20" name="Text 1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En estos tres no basta con reconfigurar el sistema: hay que volver con el cliente por datos que nunca se le pidieron.</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23</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GRUPOS C Y D</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Reacomodo en cuatro, paquete común en diez</a:t>
            </a:r>
            <a:endParaRPr lang="en-US" sz="2700" dirty="0"/>
          </a:p>
        </p:txBody>
      </p:sp>
      <p:sp>
        <p:nvSpPr>
          <p:cNvPr id="9" name="Text 7"/>
          <p:cNvSpPr txBox="1"/>
          <p:nvPr/>
        </p:nvSpPr>
        <p:spPr>
          <a:xfrm>
            <a:off x="502920" y="1645920"/>
            <a:ext cx="8138160" cy="201168"/>
          </a:xfrm>
          <a:prstGeom prst="rect">
            <a:avLst/>
          </a:prstGeom>
          <a:noFill/>
          <a:ln/>
        </p:spPr>
        <p:txBody>
          <a:bodyPr wrap="square" lIns="0" tIns="0" rIns="0" bIns="0" rtlCol="0" anchor="ctr"/>
          <a:lstStyle/>
          <a:p>
            <a:pPr indent="0" marL="0">
              <a:buNone/>
            </a:pPr>
            <a:r>
              <a:rPr lang="en-US" sz="1050" b="1" spc="100" kern="0" dirty="0">
                <a:solidFill>
                  <a:srgbClr val="393E41"/>
                </a:solidFill>
                <a:latin typeface="Arial" pitchFamily="34" charset="0"/>
                <a:ea typeface="Arial" pitchFamily="34" charset="-122"/>
                <a:cs typeface="Arial" pitchFamily="34" charset="-120"/>
              </a:rPr>
              <a:t>GRUPO C · casi todo es reacomodo: el dato ya lo tienen, cambió de lugar</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8138160" cy="914400"/>
        </p:xfrm>
        <a:graphic>
          <a:graphicData uri="http://schemas.openxmlformats.org/drawingml/2006/table">
            <a:tbl>
              <a:tblPr/>
              <a:tblGrid>
                <a:gridCol w="868680"/>
                <a:gridCol w="4389120"/>
                <a:gridCol w="1371600"/>
                <a:gridCol w="1508760"/>
              </a:tblGrid>
              <a:tr h="219456">
                <a:tc>
                  <a:txBody>
                    <a:bodyPr/>
                    <a:lstStyle/>
                    <a:p>
                      <a:pPr indent="0" marL="0">
                        <a:buNone/>
                      </a:pPr>
                      <a:r>
                        <a:rPr lang="en-US" sz="950" b="1" dirty="0">
                          <a:solidFill>
                            <a:srgbClr val="FFFFFF"/>
                          </a:solidFill>
                          <a:latin typeface="Arial" pitchFamily="34" charset="0"/>
                          <a:ea typeface="Arial" pitchFamily="34" charset="-122"/>
                          <a:cs typeface="Arial" pitchFamily="34" charset="-120"/>
                        </a:rPr>
                        <a:t>Anexo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Actividad</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Nuevos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Reubicados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19456">
                <a:tc>
                  <a:txBody>
                    <a:bodyPr/>
                    <a:lstStyle/>
                    <a:p>
                      <a:pPr indent="0" marL="0">
                        <a:buNone/>
                      </a:pPr>
                      <a:r>
                        <a:rPr lang="en-US" sz="900" dirty="0">
                          <a:solidFill>
                            <a:srgbClr val="1B1B1E"/>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Mutuo, préstamos y créditos</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94</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E"/>
                          </a:solidFill>
                          <a:latin typeface="Arial" pitchFamily="34" charset="0"/>
                          <a:ea typeface="Arial" pitchFamily="34" charset="-122"/>
                          <a:cs typeface="Arial" pitchFamily="34" charset="-120"/>
                        </a:rPr>
                        <a:t>5-A</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Inmobiliarias y constructoras</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89</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E"/>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Arrendamiento de inmuebles</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80</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19456">
                <a:tc>
                  <a:txBody>
                    <a:bodyPr/>
                    <a:lstStyle/>
                    <a:p>
                      <a:pPr indent="0" marL="0">
                        <a:buNone/>
                      </a:pPr>
                      <a:r>
                        <a:rPr lang="en-US" sz="900" dirty="0">
                          <a:solidFill>
                            <a:srgbClr val="1B1B1E"/>
                          </a:solidFill>
                          <a:latin typeface="Arial" pitchFamily="34" charset="0"/>
                          <a:ea typeface="Arial" pitchFamily="34" charset="-122"/>
                          <a:cs typeface="Arial" pitchFamily="34" charset="-120"/>
                        </a:rPr>
                        <a:t>2-A</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Tarjetas de servicios o de crédito</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69</a:t>
                      </a:r>
                      <a:endParaRPr lang="en-US" sz="90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502920" y="3478022"/>
            <a:ext cx="8138160" cy="402336"/>
          </a:xfrm>
          <a:prstGeom prst="rect">
            <a:avLst/>
          </a:prstGeom>
          <a:noFill/>
          <a:ln/>
        </p:spPr>
        <p:txBody>
          <a:bodyPr wrap="square" lIns="0" tIns="0" rIns="0" bIns="0" rtlCol="0" anchor="ctr"/>
          <a:lstStyle/>
          <a:p>
            <a:pPr indent="0" marL="0">
              <a:lnSpc>
                <a:spcPct val="115000"/>
              </a:lnSpc>
              <a:buNone/>
            </a:pPr>
            <a:r>
              <a:rPr lang="en-US" sz="1050" b="1" dirty="0">
                <a:solidFill>
                  <a:srgbClr val="393E41"/>
                </a:solidFill>
                <a:latin typeface="Arial" pitchFamily="34" charset="0"/>
                <a:ea typeface="Arial" pitchFamily="34" charset="-122"/>
                <a:cs typeface="Arial" pitchFamily="34" charset="-120"/>
              </a:rPr>
              <a:t>GRUPO D · cambio acotado · juegos y sorteos, prepagadas, instrumentos de valor, cheques de viajero, joyerías y metales, obras de arte, vehículos, blindaje, traslado de valores y donativos</a:t>
            </a:r>
            <a:endParaRPr lang="en-US" sz="1050" dirty="0"/>
          </a:p>
        </p:txBody>
      </p:sp>
      <p:sp>
        <p:nvSpPr>
          <p:cNvPr id="12" name="Shape 9"/>
          <p:cNvSpPr/>
          <p:nvPr/>
        </p:nvSpPr>
        <p:spPr>
          <a:xfrm>
            <a:off x="502920" y="4014470"/>
            <a:ext cx="8138160" cy="630682"/>
          </a:xfrm>
          <a:prstGeom prst="rect">
            <a:avLst/>
          </a:prstGeom>
          <a:solidFill>
            <a:srgbClr val="80BCB5"/>
          </a:solidFill>
          <a:ln/>
        </p:spPr>
      </p:sp>
      <p:sp>
        <p:nvSpPr>
          <p:cNvPr id="13" name="Text 10"/>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A los diez les entran unos ocho campos y les salen unos doce. El Anexo 14 sólo pierde uno: se queda en siete.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24</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5 · 60 a 90 min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Práctica: saque su número de brecha</a:t>
            </a:r>
            <a:endParaRPr lang="en-US" sz="2700" dirty="0"/>
          </a:p>
        </p:txBody>
      </p:sp>
      <p:sp>
        <p:nvSpPr>
          <p:cNvPr id="9" name="Text 7"/>
          <p:cNvSpPr txBox="1"/>
          <p:nvPr/>
        </p:nvSpPr>
        <p:spPr>
          <a:xfrm>
            <a:off x="502920" y="1645920"/>
            <a:ext cx="8138160" cy="488696"/>
          </a:xfrm>
          <a:prstGeom prst="rect">
            <a:avLst/>
          </a:prstGeom>
          <a:noFill/>
          <a:ln/>
        </p:spPr>
        <p:txBody>
          <a:bodyPr wrap="square" lIns="0" tIns="0" rIns="0" bIns="0" rtlCol="0" anchor="ctr"/>
          <a:lstStyle/>
          <a:p>
            <a:pPr indent="0" marL="0">
              <a:lnSpc>
                <a:spcPct val="120000"/>
              </a:lnSpc>
              <a:buNone/>
            </a:pPr>
            <a:r>
              <a:rPr lang="en-US" sz="1400" dirty="0">
                <a:solidFill>
                  <a:srgbClr val="393E41"/>
                </a:solidFill>
                <a:latin typeface="Arial" pitchFamily="34" charset="0"/>
                <a:ea typeface="Arial" pitchFamily="34" charset="-122"/>
                <a:cs typeface="Arial" pitchFamily="34" charset="-120"/>
              </a:rPr>
              <a:t>Treinta minutos con el Excel abierto. No es demostración: es trabajo en vivo, sobre el anexo de cada quien.</a:t>
            </a:r>
            <a:endParaRPr lang="en-US" sz="1400" dirty="0"/>
          </a:p>
        </p:txBody>
      </p:sp>
      <p:sp>
        <p:nvSpPr>
          <p:cNvPr id="10" name="Shape 8"/>
          <p:cNvSpPr/>
          <p:nvPr/>
        </p:nvSpPr>
        <p:spPr>
          <a:xfrm>
            <a:off x="502920" y="2317496"/>
            <a:ext cx="8138160" cy="841248"/>
          </a:xfrm>
          <a:prstGeom prst="rect">
            <a:avLst/>
          </a:prstGeom>
          <a:solidFill>
            <a:srgbClr val="FFFFFF"/>
          </a:solidFill>
          <a:ln w="6350">
            <a:solidFill>
              <a:srgbClr val="747975"/>
            </a:solidFill>
            <a:prstDash val="solid"/>
          </a:ln>
        </p:spPr>
      </p:sp>
      <p:sp>
        <p:nvSpPr>
          <p:cNvPr id="11" name="Text 9"/>
          <p:cNvSpPr txBox="1"/>
          <p:nvPr/>
        </p:nvSpPr>
        <p:spPr>
          <a:xfrm>
            <a:off x="731520" y="2427224"/>
            <a:ext cx="7680960" cy="329184"/>
          </a:xfrm>
          <a:prstGeom prst="rect">
            <a:avLst/>
          </a:prstGeom>
          <a:noFill/>
          <a:ln/>
        </p:spPr>
        <p:txBody>
          <a:bodyPr wrap="square" lIns="0" tIns="0" rIns="0" bIns="0" rtlCol="0" anchor="ctr"/>
          <a:lstStyle/>
          <a:p>
            <a:pPr indent="0" marL="0">
              <a:buNone/>
            </a:pPr>
            <a:r>
              <a:rPr lang="en-US" sz="1400" b="1" dirty="0">
                <a:solidFill>
                  <a:srgbClr val="1B1B1E"/>
                </a:solidFill>
                <a:latin typeface="Courier New" pitchFamily="34" charset="0"/>
                <a:ea typeface="Courier New" pitchFamily="34" charset="-122"/>
                <a:cs typeface="Courier New" pitchFamily="34" charset="-120"/>
              </a:rPr>
              <a:t>S5A_ALU_01_Diagnostico_de_Brecha_Anexos.xlsx</a:t>
            </a:r>
            <a:endParaRPr lang="en-US" sz="1400" dirty="0"/>
          </a:p>
        </p:txBody>
      </p:sp>
      <p:sp>
        <p:nvSpPr>
          <p:cNvPr id="12" name="Text 10"/>
          <p:cNvSpPr txBox="1"/>
          <p:nvPr/>
        </p:nvSpPr>
        <p:spPr>
          <a:xfrm>
            <a:off x="731520" y="2774696"/>
            <a:ext cx="7680960" cy="292608"/>
          </a:xfrm>
          <a:prstGeom prst="rect">
            <a:avLst/>
          </a:prstGeom>
          <a:noFill/>
          <a:ln/>
        </p:spPr>
        <p:txBody>
          <a:bodyPr wrap="square" lIns="0" tIns="0" rIns="0" bIns="0" rtlCol="0" anchor="ctr"/>
          <a:lstStyle/>
          <a:p>
            <a:pPr indent="0" marL="0">
              <a:lnSpc>
                <a:spcPct val="110000"/>
              </a:lnSpc>
              <a:buNone/>
            </a:pPr>
            <a:r>
              <a:rPr lang="en-US" sz="1050" dirty="0">
                <a:solidFill>
                  <a:srgbClr val="393E41"/>
                </a:solidFill>
                <a:latin typeface="Arial" pitchFamily="34" charset="0"/>
                <a:ea typeface="Arial" pitchFamily="34" charset="-122"/>
                <a:cs typeface="Arial" pitchFamily="34" charset="-120"/>
              </a:rPr>
              <a:t>6 hojas · 4,182 campos filtrables por anexo · columnas ámbar para llenar · la hoja «Mi brecha» cuenta sola</a:t>
            </a:r>
            <a:endParaRPr lang="en-US" sz="1050" dirty="0"/>
          </a:p>
        </p:txBody>
      </p:sp>
      <p:sp>
        <p:nvSpPr>
          <p:cNvPr id="13" name="Shape 11"/>
          <p:cNvSpPr/>
          <p:nvPr/>
        </p:nvSpPr>
        <p:spPr>
          <a:xfrm>
            <a:off x="502920" y="4078224"/>
            <a:ext cx="8138160" cy="566928"/>
          </a:xfrm>
          <a:prstGeom prst="rect">
            <a:avLst/>
          </a:prstGeom>
          <a:solidFill>
            <a:srgbClr val="80BCB5"/>
          </a:solidFill>
          <a:ln/>
        </p:spPr>
      </p:sp>
      <p:sp>
        <p:nvSpPr>
          <p:cNvPr id="14" name="Text 12"/>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Está en Materiales de la sesión, en la página del aula. Ábranlo ahora.</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25</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EJERCICIO · 25 MINUTOS</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Los cinco pasos</a:t>
            </a:r>
            <a:endParaRPr lang="en-US" sz="2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411480"/>
                <a:gridCol w="5806440"/>
                <a:gridCol w="1920240"/>
              </a:tblGrid>
              <a:tr h="2743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 hace</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Dónde</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Búsquese por su fracción del artículo 17 y anote su clave de anexo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«Mi anexo»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Filtre la columna Anexo con su clave. Las columnas A a I son el texto oficial: no se tocan</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«Diagnóstico»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Llene las columnas ámbar: ¿lo capturo hoy?, ¿de dónde sale?, quién responde, para cuándo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«Diagnóstico»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Escriba su anexo. Los conteos salen solos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«Mi brecha»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Escriba su número en el chat. Ése es su plan de trabajo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Zoom</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14470"/>
            <a:ext cx="8138160" cy="630682"/>
          </a:xfrm>
          <a:prstGeom prst="rect">
            <a:avLst/>
          </a:prstGeom>
          <a:solidFill>
            <a:srgbClr val="80BCB5"/>
          </a:solidFill>
          <a:ln/>
        </p:spPr>
      </p:sp>
      <p:sp>
        <p:nvSpPr>
          <p:cNvPr id="11" name="Text 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Si realiza dos actividades vulnerables, le tocan dos anexos. Hagan primero el que más operaciones genera.</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26</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ALTO A LOS DIEZ MINUTOS</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Una sola pregunta</a:t>
            </a:r>
            <a:endParaRPr lang="en-US" sz="2700" dirty="0"/>
          </a:p>
        </p:txBody>
      </p:sp>
      <p:sp>
        <p:nvSpPr>
          <p:cNvPr id="9" name="Shape 7"/>
          <p:cNvSpPr/>
          <p:nvPr/>
        </p:nvSpPr>
        <p:spPr>
          <a:xfrm>
            <a:off x="502920" y="1645920"/>
            <a:ext cx="8138160" cy="566928"/>
          </a:xfrm>
          <a:prstGeom prst="rect">
            <a:avLst/>
          </a:prstGeom>
          <a:solidFill>
            <a:srgbClr val="1B1B1E"/>
          </a:solidFill>
          <a:ln/>
        </p:spPr>
      </p:sp>
      <p:sp>
        <p:nvSpPr>
          <p:cNvPr id="10" name="Text 8"/>
          <p:cNvSpPr txBox="1"/>
          <p:nvPr/>
        </p:nvSpPr>
        <p:spPr>
          <a:xfrm>
            <a:off x="731520" y="1645920"/>
            <a:ext cx="7680960" cy="56692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¿Quién encontró que su Beneficiario Controlador dice «Opcional»?</a:t>
            </a:r>
            <a:endParaRPr lang="en-US" sz="1150" dirty="0"/>
          </a:p>
        </p:txBody>
      </p:sp>
      <p:sp>
        <p:nvSpPr>
          <p:cNvPr id="11" name="Text 9"/>
          <p:cNvSpPr txBox="1"/>
          <p:nvPr/>
        </p:nvSpPr>
        <p:spPr>
          <a:xfrm>
            <a:off x="502920" y="2414016"/>
            <a:ext cx="8138160" cy="302768"/>
          </a:xfrm>
          <a:prstGeom prst="rect">
            <a:avLst/>
          </a:prstGeom>
          <a:noFill/>
          <a:ln/>
        </p:spPr>
        <p:txBody>
          <a:bodyPr wrap="square" lIns="0" tIns="0" rIns="0" bIns="0" rtlCol="0" anchor="ctr"/>
          <a:lstStyle/>
          <a:p>
            <a:pPr indent="0" marL="0">
              <a:lnSpc>
                <a:spcPct val="120000"/>
              </a:lnSpc>
              <a:buNone/>
            </a:pPr>
            <a:r>
              <a:rPr lang="en-US" sz="1600" dirty="0">
                <a:solidFill>
                  <a:srgbClr val="1B1B1E"/>
                </a:solidFill>
                <a:latin typeface="Arial" pitchFamily="34" charset="0"/>
                <a:ea typeface="Arial" pitchFamily="34" charset="-122"/>
                <a:cs typeface="Arial" pitchFamily="34" charset="-120"/>
              </a:rPr>
              <a:t>Van a salir el 2-B, el 10, el 11 y el 12-B.</a:t>
            </a:r>
            <a:endParaRPr lang="en-US" sz="1600" dirty="0"/>
          </a:p>
        </p:txBody>
      </p:sp>
      <p:sp>
        <p:nvSpPr>
          <p:cNvPr id="12" name="Text 10"/>
          <p:cNvSpPr txBox="1"/>
          <p:nvPr/>
        </p:nvSpPr>
        <p:spPr>
          <a:xfrm>
            <a:off x="502920" y="2899664"/>
            <a:ext cx="8138160" cy="442214"/>
          </a:xfrm>
          <a:prstGeom prst="rect">
            <a:avLst/>
          </a:prstGeom>
          <a:noFill/>
          <a:ln/>
        </p:spPr>
        <p:txBody>
          <a:bodyPr wrap="square" lIns="0" tIns="0" rIns="0" bIns="0" rtlCol="0" anchor="ctr"/>
          <a:lstStyle/>
          <a:p>
            <a:pPr indent="0" marL="0">
              <a:lnSpc>
                <a:spcPct val="120000"/>
              </a:lnSpc>
              <a:buNone/>
            </a:pPr>
            <a:r>
              <a:rPr lang="en-US" sz="1250" dirty="0">
                <a:solidFill>
                  <a:srgbClr val="393E41"/>
                </a:solidFill>
                <a:latin typeface="Arial" pitchFamily="34" charset="0"/>
                <a:ea typeface="Arial" pitchFamily="34" charset="-122"/>
                <a:cs typeface="Arial" pitchFamily="34" charset="-120"/>
              </a:rPr>
              <a:t>Ahí retomamos la lectura 2, ya no en abstracto sino sobre el archivo de alguien del grupo: el layout valida sin ese dato, y la obligación de tenerlo en el expediente sigue intacta.</a:t>
            </a:r>
            <a:endParaRPr lang="en-US" sz="1250" dirty="0"/>
          </a:p>
        </p:txBody>
      </p:sp>
      <p:sp>
        <p:nvSpPr>
          <p:cNvPr id="13" name="Shape 11"/>
          <p:cNvSpPr/>
          <p:nvPr/>
        </p:nvSpPr>
        <p:spPr>
          <a:xfrm>
            <a:off x="502920" y="4014470"/>
            <a:ext cx="8138160" cy="630682"/>
          </a:xfrm>
          <a:prstGeom prst="rect">
            <a:avLst/>
          </a:prstGeom>
          <a:solidFill>
            <a:srgbClr val="80BCB5"/>
          </a:solidFill>
          <a:ln/>
        </p:spPr>
      </p:sp>
      <p:sp>
        <p:nvSpPr>
          <p:cNvPr id="14" name="Text 12"/>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De las 46 apariciones del bloque, 13 son Opcionales. Por eso no se puede programar «Beneficiario Controlador siempre requerido».</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27</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ÚLTIMOS CINCO MINUTOS</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Qué hace con cada estatus del comparativo</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2103120"/>
                <a:gridCol w="4023360"/>
                <a:gridCol w="2011680"/>
              </a:tblGrid>
              <a:tr h="2743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Estatus en la hoja BASE</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 significa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Con quién va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74320">
                <a:tc>
                  <a:txBody>
                    <a:bodyPr/>
                    <a:lstStyle/>
                    <a:p>
                      <a:pPr indent="0" marL="0">
                        <a:buNone/>
                      </a:pPr>
                      <a:r>
                        <a:rPr lang="en-US" sz="950" b="1" dirty="0">
                          <a:solidFill>
                            <a:srgbClr val="1B1B1E"/>
                          </a:solidFill>
                          <a:latin typeface="Arial" pitchFamily="34" charset="0"/>
                          <a:ea typeface="Arial" pitchFamily="34" charset="-122"/>
                          <a:cs typeface="Arial" pitchFamily="34" charset="-120"/>
                        </a:rPr>
                        <a:t>CAMPO NUEVO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Dato que no tiene</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Con el cliente</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B1B1E"/>
                          </a:solidFill>
                          <a:latin typeface="Arial" pitchFamily="34" charset="0"/>
                          <a:ea typeface="Arial" pitchFamily="34" charset="-122"/>
                          <a:cs typeface="Arial" pitchFamily="34" charset="-120"/>
                        </a:rPr>
                        <a:t>REUBICADO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El dato ya lo tiene: cambió de lugar en el XML</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Con su proveedor de sistema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B1B1E"/>
                          </a:solidFill>
                          <a:latin typeface="Arial" pitchFamily="34" charset="0"/>
                          <a:ea typeface="Arial" pitchFamily="34" charset="-122"/>
                          <a:cs typeface="Arial" pitchFamily="34" charset="-120"/>
                        </a:rPr>
                        <a:t>MODIFICADO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Revise la obligatoriedad: pudo pasar de Opcional a Obligatorio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Usted, renglón por renglón</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B1B1E"/>
                          </a:solidFill>
                          <a:latin typeface="Arial" pitchFamily="34" charset="0"/>
                          <a:ea typeface="Arial" pitchFamily="34" charset="-122"/>
                          <a:cs typeface="Arial" pitchFamily="34" charset="-120"/>
                        </a:rPr>
                        <a:t>CAMPO ELIMINADO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Puede dejar de capturarlo, pero no antes del 1 de junio de 2027</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Nadie, todavía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14470"/>
            <a:ext cx="8138160" cy="630682"/>
          </a:xfrm>
          <a:prstGeom prst="rect">
            <a:avLst/>
          </a:prstGeom>
          <a:solidFill>
            <a:srgbClr val="80BCB5"/>
          </a:solidFill>
          <a:ln/>
        </p:spPr>
      </p:sp>
      <p:sp>
        <p:nvSpPr>
          <p:cNvPr id="11" name="Text 8"/>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Filtre por su anexo y por estatus: eso convierte 1,766 renglones en la lista de veinte cosas que le tocan a usted.</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28</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28</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6 · 90 a 110 min</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Qué le entrega a su proveedor de sistema</a:t>
            </a:r>
            <a:endParaRPr lang="en-US" sz="2700" dirty="0"/>
          </a:p>
        </p:txBody>
      </p:sp>
      <p:sp>
        <p:nvSpPr>
          <p:cNvPr id="9" name="Text 7"/>
          <p:cNvSpPr txBox="1"/>
          <p:nvPr/>
        </p:nvSpPr>
        <p:spPr>
          <a:xfrm>
            <a:off x="502920" y="1645920"/>
            <a:ext cx="8138160" cy="488696"/>
          </a:xfrm>
          <a:prstGeom prst="rect">
            <a:avLst/>
          </a:prstGeom>
          <a:noFill/>
          <a:ln/>
        </p:spPr>
        <p:txBody>
          <a:bodyPr wrap="square" lIns="0" tIns="0" rIns="0" bIns="0" rtlCol="0" anchor="ctr"/>
          <a:lstStyle/>
          <a:p>
            <a:pPr indent="0" marL="0">
              <a:lnSpc>
                <a:spcPct val="120000"/>
              </a:lnSpc>
              <a:buNone/>
            </a:pPr>
            <a:r>
              <a:rPr lang="en-US" sz="1400" dirty="0">
                <a:solidFill>
                  <a:srgbClr val="393E41"/>
                </a:solidFill>
                <a:latin typeface="Arial" pitchFamily="34" charset="0"/>
                <a:ea typeface="Arial" pitchFamily="34" charset="-122"/>
                <a:cs typeface="Arial" pitchFamily="34" charset="-120"/>
              </a:rPr>
              <a:t>La guía de las descargas está escrita para el área de sistemas, no para el oficial de cumplimiento. Se le reenvía tal cual: no hay que traducirla ni resumirla.</a:t>
            </a:r>
            <a:endParaRPr lang="en-US" sz="1400" dirty="0"/>
          </a:p>
        </p:txBody>
      </p:sp>
      <p:sp>
        <p:nvSpPr>
          <p:cNvPr id="10" name="Shape 8"/>
          <p:cNvSpPr/>
          <p:nvPr/>
        </p:nvSpPr>
        <p:spPr>
          <a:xfrm>
            <a:off x="502920" y="2317496"/>
            <a:ext cx="8138160" cy="841248"/>
          </a:xfrm>
          <a:prstGeom prst="rect">
            <a:avLst/>
          </a:prstGeom>
          <a:solidFill>
            <a:srgbClr val="FFFFFF"/>
          </a:solidFill>
          <a:ln w="6350">
            <a:solidFill>
              <a:srgbClr val="747975"/>
            </a:solidFill>
            <a:prstDash val="solid"/>
          </a:ln>
        </p:spPr>
      </p:sp>
      <p:sp>
        <p:nvSpPr>
          <p:cNvPr id="11" name="Text 9"/>
          <p:cNvSpPr txBox="1"/>
          <p:nvPr/>
        </p:nvSpPr>
        <p:spPr>
          <a:xfrm>
            <a:off x="731520" y="2427224"/>
            <a:ext cx="7680960" cy="329184"/>
          </a:xfrm>
          <a:prstGeom prst="rect">
            <a:avLst/>
          </a:prstGeom>
          <a:noFill/>
          <a:ln/>
        </p:spPr>
        <p:txBody>
          <a:bodyPr wrap="square" lIns="0" tIns="0" rIns="0" bIns="0" rtlCol="0" anchor="ctr"/>
          <a:lstStyle/>
          <a:p>
            <a:pPr indent="0" marL="0">
              <a:buNone/>
            </a:pPr>
            <a:r>
              <a:rPr lang="en-US" sz="1400" b="1" dirty="0">
                <a:solidFill>
                  <a:srgbClr val="1B1B1E"/>
                </a:solidFill>
                <a:latin typeface="Courier New" pitchFamily="34" charset="0"/>
                <a:ea typeface="Courier New" pitchFamily="34" charset="-122"/>
                <a:cs typeface="Courier New" pitchFamily="34" charset="-120"/>
              </a:rPr>
              <a:t>S5A_ALU_03_Guia_Cambios_en_Sistema.docx</a:t>
            </a:r>
            <a:endParaRPr lang="en-US" sz="1400" dirty="0"/>
          </a:p>
        </p:txBody>
      </p:sp>
      <p:sp>
        <p:nvSpPr>
          <p:cNvPr id="12" name="Text 10"/>
          <p:cNvSpPr txBox="1"/>
          <p:nvPr/>
        </p:nvSpPr>
        <p:spPr>
          <a:xfrm>
            <a:off x="731520" y="2774696"/>
            <a:ext cx="7680960" cy="292608"/>
          </a:xfrm>
          <a:prstGeom prst="rect">
            <a:avLst/>
          </a:prstGeom>
          <a:noFill/>
          <a:ln/>
        </p:spPr>
        <p:txBody>
          <a:bodyPr wrap="square" lIns="0" tIns="0" rIns="0" bIns="0" rtlCol="0" anchor="ctr"/>
          <a:lstStyle/>
          <a:p>
            <a:pPr indent="0" marL="0">
              <a:lnSpc>
                <a:spcPct val="110000"/>
              </a:lnSpc>
              <a:buNone/>
            </a:pPr>
            <a:r>
              <a:rPr lang="en-US" sz="1050" dirty="0">
                <a:solidFill>
                  <a:srgbClr val="393E41"/>
                </a:solidFill>
                <a:latin typeface="Arial" pitchFamily="34" charset="0"/>
                <a:ea typeface="Arial" pitchFamily="34" charset="-122"/>
                <a:cs typeface="Arial" pitchFamily="34" charset="-120"/>
              </a:rPr>
              <a:t>10 páginas · el esqueleto del XML, los seis cambios de base de datos, las erratas y el calendario contando hacia atrás</a:t>
            </a:r>
            <a:endParaRPr lang="en-US" sz="1050" dirty="0"/>
          </a:p>
        </p:txBody>
      </p:sp>
      <p:sp>
        <p:nvSpPr>
          <p:cNvPr id="13" name="Shape 11"/>
          <p:cNvSpPr/>
          <p:nvPr/>
        </p:nvSpPr>
        <p:spPr>
          <a:xfrm>
            <a:off x="502920" y="4014470"/>
            <a:ext cx="8138160" cy="630682"/>
          </a:xfrm>
          <a:prstGeom prst="rect">
            <a:avLst/>
          </a:prstGeom>
          <a:solidFill>
            <a:srgbClr val="80BCB5"/>
          </a:solidFill>
          <a:ln/>
        </p:spPr>
      </p:sp>
      <p:sp>
        <p:nvSpPr>
          <p:cNvPr id="14" name="Text 12"/>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Dos cosas no dependen del proveedor: los catálogos y el instructivo del aviso de 24 horas. No dejen que se vuelvan el pretexto.</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29</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LO QUE EL PROVEEDOR NECESITA</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Seis puntos, ni uno más</a:t>
            </a:r>
            <a:endParaRPr lang="en-US" sz="2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411480"/>
                <a:gridCol w="5166360"/>
                <a:gridCol w="2560320"/>
              </a:tblGrid>
              <a:tr h="265176">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De dónde sale</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65176">
                <a:tc>
                  <a:txBody>
                    <a:bodyPr/>
                    <a:lstStyle/>
                    <a:p>
                      <a:pPr indent="0" marL="0">
                        <a:buNone/>
                      </a:pPr>
                      <a:r>
                        <a:rPr lang="en-US" sz="950" dirty="0">
                          <a:solidFill>
                            <a:srgbClr val="1B1B1E"/>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El catálogo de campos de su anexo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Diagnóstico, filtrada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B1B1E"/>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El mapeo de reubicados: número viejo y número nuevo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BASE, estatus REUBICADO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B1B1E"/>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Los campos que hay que agregar a la base de datos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Hoja BASE, estatus CAMPO NUEVO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B1B1E"/>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Las cuatro erratas conocidas del texto publicado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La guía, sección Cuatro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B1B1E"/>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Lo que NO se puede programar todavía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La guía, sección Cinco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B1B1E"/>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La fecha de corte: 1 de junio de 2027, y aplica hacia atrás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La guía, sección Seis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078224"/>
            <a:ext cx="8138160" cy="566928"/>
          </a:xfrm>
          <a:prstGeom prst="rect">
            <a:avLst/>
          </a:prstGeom>
          <a:solidFill>
            <a:srgbClr val="80BCB5"/>
          </a:solidFill>
          <a:ln/>
        </p:spPr>
      </p:sp>
      <p:sp>
        <p:nvSpPr>
          <p:cNvPr id="11" name="Text 8"/>
          <p:cNvSpPr txBox="1"/>
          <p:nvPr/>
        </p:nvSpPr>
        <p:spPr>
          <a:xfrm>
            <a:off x="731520" y="4078224"/>
            <a:ext cx="7680960" cy="566928"/>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Si le manda sólo el enlace del DOF, va a tener que volver a extraer los 4,182 campos a mano.</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30</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LA PREGUNTA DE ESTA SEMANA</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 que decide la arquitectura</a:t>
            </a:r>
            <a:endParaRPr lang="en-US" sz="2700" dirty="0"/>
          </a:p>
        </p:txBody>
      </p:sp>
      <p:sp>
        <p:nvSpPr>
          <p:cNvPr id="9" name="Shape 7"/>
          <p:cNvSpPr/>
          <p:nvPr/>
        </p:nvSpPr>
        <p:spPr>
          <a:xfrm>
            <a:off x="502920" y="1645920"/>
            <a:ext cx="8138160" cy="566928"/>
          </a:xfrm>
          <a:prstGeom prst="rect">
            <a:avLst/>
          </a:prstGeom>
          <a:solidFill>
            <a:srgbClr val="1B1B1E"/>
          </a:solidFill>
          <a:ln/>
        </p:spPr>
      </p:sp>
      <p:sp>
        <p:nvSpPr>
          <p:cNvPr id="10" name="Text 8"/>
          <p:cNvSpPr txBox="1"/>
          <p:nvPr/>
        </p:nvSpPr>
        <p:spPr>
          <a:xfrm>
            <a:off x="731520" y="1645920"/>
            <a:ext cx="7680960" cy="56692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¿El sistema puede convivir con los dos formatos hasta el 30 de junio de 2027?</a:t>
            </a:r>
            <a:endParaRPr lang="en-US" sz="1150" dirty="0"/>
          </a:p>
        </p:txBody>
      </p:sp>
      <p:sp>
        <p:nvSpPr>
          <p:cNvPr id="11" name="Shape 9"/>
          <p:cNvSpPr/>
          <p:nvPr/>
        </p:nvSpPr>
        <p:spPr>
          <a:xfrm>
            <a:off x="502920" y="2414016"/>
            <a:ext cx="3998214" cy="1265428"/>
          </a:xfrm>
          <a:prstGeom prst="rect">
            <a:avLst/>
          </a:prstGeom>
          <a:solidFill>
            <a:srgbClr val="FFFFFF"/>
          </a:solidFill>
          <a:ln w="6350">
            <a:solidFill>
              <a:srgbClr val="747975"/>
            </a:solidFill>
            <a:prstDash val="solid"/>
          </a:ln>
        </p:spPr>
      </p:sp>
      <p:sp>
        <p:nvSpPr>
          <p:cNvPr id="12" name="Text 10"/>
          <p:cNvSpPr txBox="1"/>
          <p:nvPr/>
        </p:nvSpPr>
        <p:spPr>
          <a:xfrm>
            <a:off x="649224" y="2560320"/>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Por qué importa</a:t>
            </a:r>
            <a:endParaRPr lang="en-US" sz="1150" dirty="0"/>
          </a:p>
        </p:txBody>
      </p:sp>
      <p:sp>
        <p:nvSpPr>
          <p:cNvPr id="13" name="Text 11"/>
          <p:cNvSpPr txBox="1"/>
          <p:nvPr/>
        </p:nvSpPr>
        <p:spPr>
          <a:xfrm>
            <a:off x="649224" y="2871216"/>
            <a:ext cx="3705606"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Del 1 al 30 de junio de 2027 se pueden seguir presentando Avisos modificatorios con el formato anterior, siempre dentro de los 30 días naturales del artículo 8 del Reglamento.</a:t>
            </a:r>
            <a:endParaRPr lang="en-US" sz="950" dirty="0"/>
          </a:p>
        </p:txBody>
      </p:sp>
      <p:sp>
        <p:nvSpPr>
          <p:cNvPr id="14" name="Shape 12"/>
          <p:cNvSpPr/>
          <p:nvPr/>
        </p:nvSpPr>
        <p:spPr>
          <a:xfrm>
            <a:off x="4642866" y="2414016"/>
            <a:ext cx="3998214" cy="1265428"/>
          </a:xfrm>
          <a:prstGeom prst="rect">
            <a:avLst/>
          </a:prstGeom>
          <a:solidFill>
            <a:srgbClr val="FFFFFF"/>
          </a:solidFill>
          <a:ln w="6350">
            <a:solidFill>
              <a:srgbClr val="747975"/>
            </a:solidFill>
            <a:prstDash val="solid"/>
          </a:ln>
        </p:spPr>
      </p:sp>
      <p:sp>
        <p:nvSpPr>
          <p:cNvPr id="15" name="Text 13"/>
          <p:cNvSpPr txBox="1"/>
          <p:nvPr/>
        </p:nvSpPr>
        <p:spPr>
          <a:xfrm>
            <a:off x="4789170" y="2560320"/>
            <a:ext cx="3705606" cy="219456"/>
          </a:xfrm>
          <a:prstGeom prst="rect">
            <a:avLst/>
          </a:prstGeom>
          <a:noFill/>
          <a:ln/>
        </p:spPr>
        <p:txBody>
          <a:bodyPr wrap="square" lIns="0" tIns="0" rIns="0" bIns="0" rtlCol="0" anchor="t"/>
          <a:lstStyle/>
          <a:p>
            <a:pPr indent="0" marL="0">
              <a:buNone/>
            </a:pPr>
            <a:r>
              <a:rPr lang="en-US" sz="1150" b="1" dirty="0">
                <a:solidFill>
                  <a:srgbClr val="1B1B1E"/>
                </a:solidFill>
                <a:latin typeface="Arial" pitchFamily="34" charset="0"/>
                <a:ea typeface="Arial" pitchFamily="34" charset="-122"/>
                <a:cs typeface="Arial" pitchFamily="34" charset="-120"/>
              </a:rPr>
              <a:t>Qué pasa si no se pregunta</a:t>
            </a:r>
            <a:endParaRPr lang="en-US" sz="1150" dirty="0"/>
          </a:p>
        </p:txBody>
      </p:sp>
      <p:sp>
        <p:nvSpPr>
          <p:cNvPr id="16" name="Text 14"/>
          <p:cNvSpPr txBox="1"/>
          <p:nvPr/>
        </p:nvSpPr>
        <p:spPr>
          <a:xfrm>
            <a:off x="4789170" y="2871216"/>
            <a:ext cx="3705606" cy="625348"/>
          </a:xfrm>
          <a:prstGeom prst="rect">
            <a:avLst/>
          </a:prstGeom>
          <a:noFill/>
          <a:ln/>
        </p:spPr>
        <p:txBody>
          <a:bodyPr wrap="square" lIns="0" tIns="0" rIns="0" bIns="0" rtlCol="0" anchor="t"/>
          <a:lstStyle/>
          <a:p>
            <a:pPr indent="0" marL="0">
              <a:lnSpc>
                <a:spcPct val="114000"/>
              </a:lnSpc>
              <a:buNone/>
            </a:pPr>
            <a:r>
              <a:rPr lang="en-US" sz="950" dirty="0">
                <a:solidFill>
                  <a:srgbClr val="393E41"/>
                </a:solidFill>
                <a:latin typeface="Arial" pitchFamily="34" charset="0"/>
                <a:ea typeface="Arial" pitchFamily="34" charset="-122"/>
                <a:cs typeface="Arial" pitchFamily="34" charset="-120"/>
              </a:rPr>
              <a:t>Un sistema programado como reemplazo en frío deja sin corregir los avisos de mayo, y esos modificatorios se van a tener que capturar a mano en el Portal.</a:t>
            </a:r>
            <a:endParaRPr lang="en-US" sz="950" dirty="0"/>
          </a:p>
        </p:txBody>
      </p:sp>
      <p:sp>
        <p:nvSpPr>
          <p:cNvPr id="17" name="Shape 15"/>
          <p:cNvSpPr/>
          <p:nvPr/>
        </p:nvSpPr>
        <p:spPr>
          <a:xfrm>
            <a:off x="502920" y="4014470"/>
            <a:ext cx="8138160" cy="630682"/>
          </a:xfrm>
          <a:prstGeom prst="rect">
            <a:avLst/>
          </a:prstGeom>
          <a:solidFill>
            <a:srgbClr val="80BCB5"/>
          </a:solidFill>
          <a:ln/>
        </p:spPr>
      </p:sp>
      <p:sp>
        <p:nvSpPr>
          <p:cNvPr id="18" name="Text 16"/>
          <p:cNvSpPr txBox="1"/>
          <p:nvPr/>
        </p:nvSpPr>
        <p:spPr>
          <a:xfrm>
            <a:off x="731520" y="4014470"/>
            <a:ext cx="7680960" cy="630682"/>
          </a:xfrm>
          <a:prstGeom prst="rect">
            <a:avLst/>
          </a:prstGeom>
          <a:noFill/>
          <a:ln/>
        </p:spPr>
        <p:txBody>
          <a:bodyPr wrap="square" lIns="0" tIns="0" rIns="0" bIns="0" rtlCol="0" anchor="ctr"/>
          <a:lstStyle/>
          <a:p>
            <a:pPr indent="0" marL="0">
              <a:buNone/>
            </a:pPr>
            <a:r>
              <a:rPr lang="en-US" sz="1150" b="1" dirty="0">
                <a:solidFill>
                  <a:srgbClr val="1B1B1E"/>
                </a:solidFill>
                <a:latin typeface="Arial" pitchFamily="34" charset="0"/>
                <a:ea typeface="Arial" pitchFamily="34" charset="-122"/>
                <a:cs typeface="Arial" pitchFamily="34" charset="-120"/>
              </a:rPr>
              <a:t>Pídanlo por escrito: que el generador reciba el formato como parámetro, no como una versión fija del código.</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5EC"/>
        </a:solidFill>
      </p:bgPr>
    </p:bg>
    <p:spTree>
      <p:nvGrpSpPr>
        <p:cNvPr id="1" name=""/>
        <p:cNvGrpSpPr/>
        <p:nvPr/>
      </p:nvGrpSpPr>
      <p:grpSpPr>
        <a:xfrm>
          <a:off x="0" y="0"/>
          <a:ext cx="0" cy="0"/>
          <a:chOff x="0" y="0"/>
          <a:chExt cx="0" cy="0"/>
        </a:xfrm>
      </p:grpSpPr>
      <p:sp>
        <p:nvSpPr>
          <p:cNvPr id="2" name="Shape 0"/>
          <p:cNvSpPr/>
          <p:nvPr/>
        </p:nvSpPr>
        <p:spPr>
          <a:xfrm>
            <a:off x="0" y="4846320"/>
            <a:ext cx="9144000" cy="13716"/>
          </a:xfrm>
          <a:prstGeom prst="rect">
            <a:avLst/>
          </a:prstGeom>
          <a:solidFill>
            <a:srgbClr val="747975"/>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393E41"/>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393E41"/>
                </a:solidFill>
                <a:latin typeface="Arial" pitchFamily="34" charset="0"/>
                <a:ea typeface="Arial" pitchFamily="34" charset="-122"/>
                <a:cs typeface="Arial" pitchFamily="34" charset="-120"/>
              </a:rPr>
              <a:t>31</a:t>
            </a:r>
            <a:endParaRPr lang="en-US" sz="900" dirty="0"/>
          </a:p>
        </p:txBody>
      </p:sp>
      <p:sp>
        <p:nvSpPr>
          <p:cNvPr id="5" name="Shape 3"/>
          <p:cNvSpPr/>
          <p:nvPr/>
        </p:nvSpPr>
        <p:spPr>
          <a:xfrm>
            <a:off x="502920" y="384048"/>
            <a:ext cx="384048" cy="384048"/>
          </a:xfrm>
          <a:prstGeom prst="rect">
            <a:avLst/>
          </a:prstGeom>
          <a:solidFill>
            <a:srgbClr val="A663CC"/>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393E41"/>
                </a:solidFill>
                <a:latin typeface="Arial" pitchFamily="34" charset="0"/>
                <a:ea typeface="Arial" pitchFamily="34" charset="-122"/>
                <a:cs typeface="Arial" pitchFamily="34" charset="-120"/>
              </a:rPr>
              <a:t>BLOQUE 7 · CIERRE</a:t>
            </a:r>
            <a:endParaRPr lang="en-US" sz="1100" dirty="0"/>
          </a:p>
        </p:txBody>
      </p:sp>
      <p:sp>
        <p:nvSpPr>
          <p:cNvPr id="8" name="Text 6"/>
          <p:cNvSpPr txBox="1"/>
          <p:nvPr/>
        </p:nvSpPr>
        <p:spPr>
          <a:xfrm>
            <a:off x="502920" y="932688"/>
            <a:ext cx="8138160" cy="530352"/>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 lista del lunes</a:t>
            </a:r>
            <a:endParaRPr lang="en-US" sz="2700" dirty="0"/>
          </a:p>
        </p:txBody>
      </p:sp>
      <p:sp>
        <p:nvSpPr>
          <p:cNvPr id="9" name="Shape 7"/>
          <p:cNvSpPr/>
          <p:nvPr/>
        </p:nvSpPr>
        <p:spPr>
          <a:xfrm>
            <a:off x="502920" y="1645920"/>
            <a:ext cx="8138160" cy="566928"/>
          </a:xfrm>
          <a:prstGeom prst="rect">
            <a:avLst/>
          </a:prstGeom>
          <a:solidFill>
            <a:srgbClr val="1B1B1E"/>
          </a:solidFill>
          <a:ln/>
        </p:spPr>
      </p:sp>
      <p:sp>
        <p:nvSpPr>
          <p:cNvPr id="10" name="Text 8"/>
          <p:cNvSpPr txBox="1"/>
          <p:nvPr/>
        </p:nvSpPr>
        <p:spPr>
          <a:xfrm>
            <a:off x="731520" y="1645920"/>
            <a:ext cx="7680960" cy="56692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Las fechas son de 2027. El trabajo empieza esta semana.</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2414016"/>
          <a:ext cx="8138160" cy="914400"/>
        </p:xfrm>
        <a:graphic>
          <a:graphicData uri="http://schemas.openxmlformats.org/drawingml/2006/table">
            <a:tbl>
              <a:tblPr/>
              <a:tblGrid>
                <a:gridCol w="411480"/>
                <a:gridCol w="7726680"/>
              </a:tblGrid>
              <a:tr h="2743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Qué hace esta semana</a:t>
                      </a:r>
                      <a:endParaRPr lang="en-US" sz="10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393E41"/>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Cambie hoy los formatos de identificación y los contratos para que pidan la cadena de control. Todo cliente nuevo entra completo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Saque la lista de expedientes que hoy cierran en una persona moral en el renglón de dueño beneficiario</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Mande su catálogo de campos al proveedor, junto con la guía de sistema</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Si es agencia aduanal, promueve el despacho sin agente o actúa por fideicomiso: calendarice baja y alta para febrero de 2027</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B1B1E"/>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Revise el Portal el 1 de octubre: ese día vence el plazo de los instructivos y catálogos</a:t>
                      </a:r>
                      <a:endParaRPr lang="en-US" sz="950" dirty="0">
                        <a:latin typeface="Arial" charset="0"/>
                        <a:ea typeface="Arial" charset="0"/>
                        <a:cs typeface="Arial" charset="0"/>
                      </a:endParaRPr>
                    </a:p>
                  </a:txBody>
                  <a:tcPr marL="63500" marR="63500" marT="63500" marB="63500" anchor="ctr">
                    <a:lnL w="6350" cap="flat" cmpd="sng" algn="ctr">
                      <a:solidFill>
                        <a:srgbClr val="747975"/>
                      </a:solidFill>
                      <a:prstDash val="solid"/>
                      <a:round/>
                      <a:headEnd type="none" w="med" len="med"/>
                      <a:tailEnd type="none" w="med" len="med"/>
                    </a:lnL>
                    <a:lnR w="6350" cap="flat" cmpd="sng" algn="ctr">
                      <a:solidFill>
                        <a:srgbClr val="747975"/>
                      </a:solidFill>
                      <a:prstDash val="solid"/>
                      <a:round/>
                      <a:headEnd type="none" w="med" len="med"/>
                      <a:tailEnd type="none" w="med" len="med"/>
                    </a:lnR>
                    <a:lnT w="6350" cap="flat" cmpd="sng" algn="ctr">
                      <a:solidFill>
                        <a:srgbClr val="747975"/>
                      </a:solidFill>
                      <a:prstDash val="solid"/>
                      <a:round/>
                      <a:headEnd type="none" w="med" len="med"/>
                      <a:tailEnd type="none" w="med" len="med"/>
                    </a:lnT>
                    <a:lnB w="6350" cap="flat" cmpd="sng" algn="ctr">
                      <a:solidFill>
                        <a:srgbClr val="74797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663CC"/>
        </a:solidFill>
      </p:bgPr>
    </p:bg>
    <p:spTree>
      <p:nvGrpSpPr>
        <p:cNvPr id="1" name=""/>
        <p:cNvGrpSpPr/>
        <p:nvPr/>
      </p:nvGrpSpPr>
      <p:grpSpPr>
        <a:xfrm>
          <a:off x="0" y="0"/>
          <a:ext cx="0" cy="0"/>
          <a:chOff x="0" y="0"/>
          <a:chExt cx="0" cy="0"/>
        </a:xfrm>
      </p:grpSpPr>
      <p:sp>
        <p:nvSpPr>
          <p:cNvPr id="2" name="Shape 0"/>
          <p:cNvSpPr/>
          <p:nvPr/>
        </p:nvSpPr>
        <p:spPr>
          <a:xfrm>
            <a:off x="822960" y="1097280"/>
            <a:ext cx="1371600" cy="50292"/>
          </a:xfrm>
          <a:prstGeom prst="rect">
            <a:avLst/>
          </a:prstGeom>
          <a:solidFill>
            <a:srgbClr val="87D895"/>
          </a:solidFill>
          <a:ln/>
        </p:spPr>
      </p:sp>
      <p:sp>
        <p:nvSpPr>
          <p:cNvPr id="3" name="Text 1"/>
          <p:cNvSpPr txBox="1"/>
          <p:nvPr/>
        </p:nvSpPr>
        <p:spPr>
          <a:xfrm>
            <a:off x="822960" y="1417320"/>
            <a:ext cx="7589520" cy="1280160"/>
          </a:xfrm>
          <a:prstGeom prst="rect">
            <a:avLst/>
          </a:prstGeom>
          <a:noFill/>
          <a:ln/>
        </p:spPr>
        <p:txBody>
          <a:bodyPr wrap="square" lIns="0" tIns="0" rIns="0" bIns="0" rtlCol="0" anchor="ctr"/>
          <a:lstStyle/>
          <a:p>
            <a:pPr indent="0" marL="0">
              <a:lnSpc>
                <a:spcPct val="122000"/>
              </a:lnSpc>
              <a:buNone/>
            </a:pPr>
            <a:r>
              <a:rPr lang="en-US" sz="2600" b="1" dirty="0">
                <a:solidFill>
                  <a:srgbClr val="FFFFFF"/>
                </a:solidFill>
                <a:latin typeface="Arial" pitchFamily="34" charset="0"/>
                <a:ea typeface="Arial" pitchFamily="34" charset="-122"/>
                <a:cs typeface="Arial" pitchFamily="34" charset="-120"/>
              </a:rPr>
              <a:t>«El formato no crea la obligación.</a:t>
            </a:r>
            <a:endParaRPr lang="en-US" sz="2600" dirty="0"/>
          </a:p>
          <a:p>
            <a:pPr indent="0" marL="0">
              <a:lnSpc>
                <a:spcPct val="122000"/>
              </a:lnSpc>
              <a:buNone/>
            </a:pPr>
            <a:r>
              <a:rPr lang="en-US" sz="2600" b="1" dirty="0">
                <a:solidFill>
                  <a:srgbClr val="FFFFFF"/>
                </a:solidFill>
                <a:latin typeface="Arial" pitchFamily="34" charset="0"/>
                <a:ea typeface="Arial" pitchFamily="34" charset="-122"/>
                <a:cs typeface="Arial" pitchFamily="34" charset="-120"/>
              </a:rPr>
              <a:t>Sólo hace visible si la cumplió.»</a:t>
            </a:r>
            <a:endParaRPr lang="en-US" sz="2600" dirty="0"/>
          </a:p>
        </p:txBody>
      </p:sp>
      <p:sp>
        <p:nvSpPr>
          <p:cNvPr id="4" name="Text 2"/>
          <p:cNvSpPr txBox="1"/>
          <p:nvPr/>
        </p:nvSpPr>
        <p:spPr>
          <a:xfrm>
            <a:off x="822960" y="2926080"/>
            <a:ext cx="75895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Sesión 6 · Martes 6 de octubre · Autoridad, auditoría de efectividad y cierre</a:t>
            </a:r>
            <a:endParaRPr lang="en-US" sz="1400" dirty="0"/>
          </a:p>
        </p:txBody>
      </p:sp>
      <p:sp>
        <p:nvSpPr>
          <p:cNvPr id="5" name="Text 3"/>
          <p:cNvSpPr txBox="1"/>
          <p:nvPr/>
        </p:nvSpPr>
        <p:spPr>
          <a:xfrm>
            <a:off x="822960" y="3310128"/>
            <a:ext cx="7589520" cy="512064"/>
          </a:xfrm>
          <a:prstGeom prst="rect">
            <a:avLst/>
          </a:prstGeom>
          <a:noFill/>
          <a:ln/>
        </p:spPr>
        <p:txBody>
          <a:bodyPr wrap="square" lIns="0" tIns="0" rIns="0" bIns="0" rtlCol="0" anchor="ctr"/>
          <a:lstStyle/>
          <a:p>
            <a:pPr indent="0" marL="0">
              <a:lnSpc>
                <a:spcPct val="115000"/>
              </a:lnSpc>
              <a:buNone/>
            </a:pPr>
            <a:r>
              <a:rPr lang="en-US" sz="1100" b="1" dirty="0">
                <a:solidFill>
                  <a:srgbClr val="FFFFFF"/>
                </a:solidFill>
                <a:latin typeface="Arial" pitchFamily="34" charset="0"/>
                <a:ea typeface="Arial" pitchFamily="34" charset="-122"/>
                <a:cs typeface="Arial" pitchFamily="34" charset="-120"/>
              </a:rPr>
              <a:t>Materiales de la sesión, en la página del aula: diagnóstico de brecha · comparativo 2021-2026 · guía de cambios en sistema · los dos textos oficiales del DOF</a:t>
            </a:r>
            <a:endParaRPr lang="en-US" sz="1100" dirty="0"/>
          </a:p>
        </p:txBody>
      </p:sp>
      <p:sp>
        <p:nvSpPr>
          <p:cNvPr id="6" name="Shape 4"/>
          <p:cNvSpPr/>
          <p:nvPr/>
        </p:nvSpPr>
        <p:spPr>
          <a:xfrm>
            <a:off x="0" y="4846320"/>
            <a:ext cx="9144000" cy="13716"/>
          </a:xfrm>
          <a:prstGeom prst="rect">
            <a:avLst/>
          </a:prstGeom>
          <a:solidFill>
            <a:srgbClr val="C79AE0"/>
          </a:solidFill>
          <a:ln/>
        </p:spPr>
      </p:sp>
      <p:sp>
        <p:nvSpPr>
          <p:cNvPr id="7" name="Text 5"/>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Taller Antilavado 360 · Sesión 5.A · 29 de septiembre de 2026 · 360Educa · GMC360 · ASONOC</a:t>
            </a:r>
            <a:endParaRPr lang="en-US" sz="800" dirty="0"/>
          </a:p>
        </p:txBody>
      </p:sp>
      <p:sp>
        <p:nvSpPr>
          <p:cNvPr id="8" name="Text 6"/>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5.A · Los Anexos: los nuevos formatos de Avisos</dc:title>
  <dc:subject>PptxGenJS Presentation</dc:subject>
  <dc:creator>GMC360 · 360Educa</dc:creator>
  <cp:lastModifiedBy>GMC360 · 360Educa</cp:lastModifiedBy>
  <cp:revision>1</cp:revision>
  <dcterms:created xsi:type="dcterms:W3CDTF">2026-09-28T21:43:51Z</dcterms:created>
  <dcterms:modified xsi:type="dcterms:W3CDTF">2026-09-28T21:43:51Z</dcterms:modified>
</cp:coreProperties>
</file>