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Diez minutos al inicio de la sesión. Mensaje: el compendio se actualizó con lo que ustedes preguntaron en la sesión de sectores y en el grupo, y con las dos Resoluciones del DOF del 24 de septiembre. La numeración es estable: nada de lo que ya conocen cambió de número.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Recordar la regla del semáforo: el silencio de la norma nunca es verde; un criterio de autoridad no vinculante tampoco. Si una respuesta mezcla partes, manda el color más débil. Por eso la mayoría de las nuevas quedó en ámbar: son preguntas de operación que el texto no resuelve del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 rápido. Agrupar en voz alta: alta y Representante (195–196); umbrales y acumulación (197–198); riesgo (199); inmobiliario (200–202); arrendamiento (203); catálogo (204–206); crédito (207). La única roja es la 201.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195: la confusión viene de que la persona física no designa Representante; eso no la saca del padrón. 196: pendiente de instructivo — cómo se tramitará el alta de quien todavía no tiene designación, porque el Anexo A reformado marca obligatorio el apartado de Representante y ya no trae la persona de contacto.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Ejemplo: operación el 10 de diciembre de 2026, se suma con las de enero a mayo de 2027 que caigan dentro de los seis meses. El Aviso no espera al sexto mes: procede con la operación con la que se alcanza el umbral. Para operaciones anteriores al 30 de noviembre rige el texto previo, que no fija inicio: contarlo desde la primera operación es la lectura consistente.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la venta termina por debajo del umbral, esa operación no generó obligación alguna; conservar lo recabado es decisión propia, sujeta a protección de datos. Los pagos parciales se asignan a la operación que liquidan: fijarlo en el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Criterio de la casa: definir en el Manual «no residente» por el lugar donde la persona vive efectivamente, no sólo por su residencia fiscal. Si hay duda, clasificar hacia arriba y documentar. Punto abierto adicional: si las personas asimiladas a PEP extranjera por el 23 Quáter (cónyuge, parientes, socios) entran en el piso.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Ningún precepto dice que la intervención de una releve a la otra. La regla expresa de «cada uno respecto de sus propios Clientes» está escrita para activos virtuales; aquí se aplica por analogía declarada. Relacionar con las preguntas 144, 148 y 190.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Rojo significa exactamente eso: no hay forma de responderla hoy con el texto. La frontera tampoco es binaria: entre pintar y rehacer una estructura hay una gama que ninguna regla ordena. Misma asimetría de costos de la pregunta 170.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columna central no es semáforo: indica si hay además fracción IV. La respuesta completa va en ámbar por la venta a plazos. Criterio: si se vende a plazos de manera habitual, analizar el contrato en la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centralización del Grupo Empresarial (37 Bis 1) presupone personas morales bajo control común; no alcanza a una copropiedad. Proporcionalidad: los mecanismos deben ser «razonablemente adecuados» al volumen y complejidad. El responsable operativo no releva a nadie de su obligación, pero ordena la evidencia.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205: quien sólo prepara puede integrar el expediente con los datos del Anexo, sin copia de documentos, salvo que el grado de riesgo exija más. La auditoría, el dictamen fiscal o el diseño de la metodología de riesgos de un cliente no están en el catálogo. Si quien asesora es empleado del cliente, no hay servicio independiente.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color de las etiquetas aquí no es semáforo: verde = fuera del catálogo, rojo = dentro de la fracción VIII. La respuesta en su conjunto es ámbar.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hay precepto ni criterio que califique el arrendamiento financiero para la fracción IV, ni que fije su fecha y su base: de ahí el ámbar. El criterio de la casa se escribe en el Manual y se aplica siempre igual.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Transición. Decirlo sin rodeos: una de las correcciones es un error nuestro en la octava edición, y el grupo tenía razón.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en alguna sesión se «corrigió en vivo» al grupo con la versión de la octava, rectificarlo aquí expresamente. Ámbar sólo por el tipo de días antes de junio de 2027: las Reglas no cuentan inhábiles salvo disposición en contrario, así que hoy cabe leerlos como hábiles. La 151 trata qué hacer cuando ya pasó el plazo o ya se usó la única modificación: no está regulado.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67: el envío de los Avisos de 24 horas ya tiene fecha, 1 de junio de 2027, pero sigue en ámbar porque el layout publicado no trae una etiqueta propia que los identifique; probablemente se distinguirán por los catálogos. Los Avisos de mayo de 2027, que vencen el 17 de junio, ya van en formato nuevo. Recordar también que el 1 de marzo de 2027 arrancan los Capítulos III Bis, III Ter y III Quinquies para los actos desde esa fecha.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136: no confundir el domicilio fiscal del RFC con el registrado en el padrón; pueden divergir sin que el sistema lo advierta. 168: la lectura por vehículo es defendible frente a una sanción, pero no frente al riesgo: concentrar muchas unidades de bajo valor en una operación es justo el patrón que conviene conocer. Si se quiere certeza, consultar a la UIF.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y pasar al contenido de la sesión 5·A: los Anexos.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GMC360 · 360EDUCA · ASONOC · LEXQUO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Preguntas del sector,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novena edición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Trece preguntas nuevas y las correcciones que hay que conocer antes de empezar.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290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7D8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5·A · Martes 29 de septiembre de 2026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7D8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Maribel Vázquez Menchaca · 360Educa · GMC360 · ASONOC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806440" y="4069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207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806440" y="44622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EB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4069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812280" y="44622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EB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4069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44622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EB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corregidas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Compendio de preguntas, 9ª edición · Sesión 5·A · 29 de septiembre de 2026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9ª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07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TRAE LA NOVENA EDICIÓN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4864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edición en una lámina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33472" cy="1481328"/>
          </a:xfrm>
          <a:prstGeom prst="roundRect">
            <a:avLst>
              <a:gd name="adj" fmla="val 4321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207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836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3969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1 a la 207, sin renumerar. Lo que ya citaban sigue en su lugar.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55264" y="1234440"/>
            <a:ext cx="2633472" cy="1481328"/>
          </a:xfrm>
          <a:prstGeom prst="roundRect">
            <a:avLst>
              <a:gd name="adj" fmla="val 4321"/>
            </a:avLst>
          </a:prstGeom>
          <a:solidFill>
            <a:srgbClr val="12224A"/>
          </a:solidFill>
          <a:ln w="9525">
            <a:solidFill>
              <a:srgbClr val="1222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38144" y="13258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3438144" y="18836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nuevas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38144" y="213969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195 a 207. Salieron de la sesión de sectores y del grupo.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53328" y="1234440"/>
            <a:ext cx="2633472" cy="1481328"/>
          </a:xfrm>
          <a:prstGeom prst="roundRect">
            <a:avLst>
              <a:gd name="adj" fmla="val 4321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6208" y="13258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18836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corregidas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213969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las Resoluciones del 24 de septiembre y por dos errores propios.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9077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Semáforo de certeza normativa, recalculado sobre el cuerpo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3856383" cy="420624"/>
          </a:xfrm>
          <a:prstGeom prst="rect">
            <a:avLst/>
          </a:prstGeom>
          <a:solidFill>
            <a:srgbClr val="1E7A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3200400"/>
            <a:ext cx="3673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 verdes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13583" y="3200400"/>
            <a:ext cx="4214191" cy="420624"/>
          </a:xfrm>
          <a:prstGeom prst="rect">
            <a:avLst/>
          </a:prstGeom>
          <a:solidFill>
            <a:srgbClr val="B26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23311" y="3200400"/>
            <a:ext cx="40313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 ámbar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27774" y="3200400"/>
            <a:ext cx="159026" cy="420624"/>
          </a:xfrm>
          <a:prstGeom prst="rect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0" y="3657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rojas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657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trece nuevas: 3 verdes, 9 ámbar y 1 roja.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160520"/>
            <a:ext cx="8229600" cy="420624"/>
          </a:xfrm>
          <a:prstGeom prst="roundRect">
            <a:avLst>
              <a:gd name="adj" fmla="val 1521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" y="4160520"/>
            <a:ext cx="7827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Verde: hay precepto que responde y se cita.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Ámbar:</a:t>
            </a:r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lectura o criterio.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Rojo:</a:t>
            </a:r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hoy no se responde sin la autoridad.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Compendio de preguntas, 9ª edición · Sesión 5·A · 29 de septiembre de 2026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795528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07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195 A 207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4864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trece nuevas, de un vistazo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097280" cy="1572768"/>
          </a:xfrm>
          <a:prstGeom prst="roundRect">
            <a:avLst>
              <a:gd name="adj" fmla="val 5833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984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298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280160" y="1344168"/>
            <a:ext cx="155448" cy="155448"/>
          </a:xfrm>
          <a:prstGeom prst="ellipse">
            <a:avLst/>
          </a:prstGeom>
          <a:solidFill>
            <a:srgbClr val="1E7A46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1810512"/>
            <a:ext cx="8961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personas físicas sí se dan de alta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45920" y="1188720"/>
            <a:ext cx="1097280" cy="1572768"/>
          </a:xfrm>
          <a:prstGeom prst="roundRect">
            <a:avLst>
              <a:gd name="adj" fmla="val 5833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55648" y="12984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55648" y="1298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468880" y="1344168"/>
            <a:ext cx="155448" cy="155448"/>
          </a:xfrm>
          <a:prstGeom prst="ellipse">
            <a:avLst/>
          </a:prstGeom>
          <a:solidFill>
            <a:srgbClr val="1E7A46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55648" y="1810512"/>
            <a:ext cx="8961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Designación de Representante y fecha de la primera operación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834640" y="1188720"/>
            <a:ext cx="1097280" cy="1572768"/>
          </a:xfrm>
          <a:prstGeom prst="roundRect">
            <a:avLst>
              <a:gd name="adj" fmla="val 5833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4368" y="12984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44368" y="1298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0" y="1344168"/>
            <a:ext cx="155448" cy="155448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44368" y="1810512"/>
            <a:ext cx="8961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acumulación no se corta con el año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023360" y="1188720"/>
            <a:ext cx="1097280" cy="1572768"/>
          </a:xfrm>
          <a:prstGeom prst="roundRect">
            <a:avLst>
              <a:gd name="adj" fmla="val 5833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33088" y="12984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33088" y="1298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846320" y="1344168"/>
            <a:ext cx="155448" cy="155448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33088" y="1810512"/>
            <a:ext cx="8961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Relojes: orden, liquidación y acumulación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12080" y="1188720"/>
            <a:ext cx="1097280" cy="1572768"/>
          </a:xfrm>
          <a:prstGeom prst="roundRect">
            <a:avLst>
              <a:gd name="adj" fmla="val 5833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21808" y="12984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321808" y="1298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035040" y="1344168"/>
            <a:ext cx="155448" cy="155448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21808" y="1810512"/>
            <a:ext cx="8961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de Riesgo alto por disposición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0" y="1188720"/>
            <a:ext cx="1097280" cy="1572768"/>
          </a:xfrm>
          <a:prstGeom prst="roundRect">
            <a:avLst>
              <a:gd name="adj" fmla="val 5833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10528" y="12984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10528" y="1298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223760" y="1344168"/>
            <a:ext cx="155448" cy="155448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10528" y="1810512"/>
            <a:ext cx="8961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inmobiliarias en la misma venta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589520" y="1188720"/>
            <a:ext cx="1097280" cy="1572768"/>
          </a:xfrm>
          <a:prstGeom prst="roundRect">
            <a:avLst>
              <a:gd name="adj" fmla="val 5833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99248" y="12984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99248" y="1298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8412480" y="1344168"/>
            <a:ext cx="155448" cy="155448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699248" y="1810512"/>
            <a:ext cx="8961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Comprar, remodelar y revender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51560" y="2889504"/>
            <a:ext cx="1097280" cy="1572768"/>
          </a:xfrm>
          <a:prstGeom prst="roundRect">
            <a:avLst>
              <a:gd name="adj" fmla="val 5833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61288" y="299923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161288" y="2999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874520" y="3044952"/>
            <a:ext cx="155448" cy="155448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161288" y="3511296"/>
            <a:ext cx="8961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hipotecario y fracción IV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240280" y="2889504"/>
            <a:ext cx="1097280" cy="1572768"/>
          </a:xfrm>
          <a:prstGeom prst="roundRect">
            <a:avLst>
              <a:gd name="adj" fmla="val 5833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350008" y="299923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350008" y="2999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3063240" y="3044952"/>
            <a:ext cx="155448" cy="155448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350008" y="3511296"/>
            <a:ext cx="8961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Copropietarios que arriendan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429000" y="2889504"/>
            <a:ext cx="1097280" cy="1572768"/>
          </a:xfrm>
          <a:prstGeom prst="roundRect">
            <a:avLst>
              <a:gd name="adj" fmla="val 5833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38728" y="299923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538728" y="2999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204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4251960" y="3044952"/>
            <a:ext cx="155448" cy="155448"/>
          </a:xfrm>
          <a:prstGeom prst="ellipse">
            <a:avLst/>
          </a:prstGeom>
          <a:solidFill>
            <a:srgbClr val="1E7A46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538728" y="3511296"/>
            <a:ext cx="8961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Avalúos: cuáles sí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17720" y="2889504"/>
            <a:ext cx="1097280" cy="1572768"/>
          </a:xfrm>
          <a:prstGeom prst="roundRect">
            <a:avLst>
              <a:gd name="adj" fmla="val 5833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27448" y="299923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727448" y="2999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205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5440680" y="3044952"/>
            <a:ext cx="155448" cy="155448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727448" y="3511296"/>
            <a:ext cx="8961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Despacho que prepara una fusión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806440" y="2889504"/>
            <a:ext cx="1097280" cy="1572768"/>
          </a:xfrm>
          <a:prstGeom prst="roundRect">
            <a:avLst>
              <a:gd name="adj" fmla="val 5833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916168" y="299923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916168" y="2999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206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6629400" y="3044952"/>
            <a:ext cx="155448" cy="155448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916168" y="3511296"/>
            <a:ext cx="8961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de maquinaria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995160" y="2889504"/>
            <a:ext cx="1097280" cy="1572768"/>
          </a:xfrm>
          <a:prstGeom prst="roundRect">
            <a:avLst>
              <a:gd name="adj" fmla="val 5833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04888" y="299923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104888" y="2999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207</a:t>
            </a:r>
            <a:endParaRPr lang="en-US" sz="1500" dirty="0"/>
          </a:p>
        </p:txBody>
      </p:sp>
      <p:sp>
        <p:nvSpPr>
          <p:cNvPr id="69" name="Shape 67"/>
          <p:cNvSpPr/>
          <p:nvPr/>
        </p:nvSpPr>
        <p:spPr>
          <a:xfrm>
            <a:off x="7818120" y="3044952"/>
            <a:ext cx="155448" cy="155448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7104888" y="3511296"/>
            <a:ext cx="8961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Arrendamiento financiero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45720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Compendio de preguntas, 9ª edición · Sesión 5·A · 29 de septiembre de 2026</a:t>
            </a:r>
            <a:endParaRPr lang="en-US" sz="750" dirty="0"/>
          </a:p>
        </p:txBody>
      </p:sp>
      <p:sp>
        <p:nvSpPr>
          <p:cNvPr id="72" name="Text 70"/>
          <p:cNvSpPr txBox="1"/>
          <p:nvPr/>
        </p:nvSpPr>
        <p:spPr>
          <a:xfrm>
            <a:off x="795528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195·196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07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Y PERSONA REPRESENTANTE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4864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Quién se da de alta, y cuándo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2697480"/>
          </a:xfrm>
          <a:prstGeom prst="roundRect">
            <a:avLst>
              <a:gd name="adj" fmla="val 2373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13258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56432" y="1335024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6432" y="13350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" y="1325880"/>
            <a:ext cx="2267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personas físicas sí se dan de alta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1810512"/>
            <a:ext cx="3694176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obligación es de «quienes realicen» la Actividad Vulnerable, sin distinguir. El </a:t>
            </a:r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1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las Reglas es precisamente el de personas físicas.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Mismos requisitos: RFC y e.firma vigente, </a:t>
            </a:r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propia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la persona física no hace es </a:t>
            </a:r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designar Representante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cumple personal y directamente (pregunta 13).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4023360" cy="2697480"/>
          </a:xfrm>
          <a:prstGeom prst="roundRect">
            <a:avLst>
              <a:gd name="adj" fmla="val 2373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9744" y="13258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9744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62672" y="1335024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62672" y="13350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340096" y="1325880"/>
            <a:ext cx="2267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Designación y primera operación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28032" y="1810512"/>
            <a:ext cx="3694176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moral: la designación es exigible; va en el alta o </a:t>
            </a:r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actualización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La persona designada acepta en el Portal con su RFC y e.firma.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Fideicomisos y otras figuras: alta desde el </a:t>
            </a:r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1-feb-2027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con el </a:t>
            </a:r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B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fecha de primera operación es la que «se realizó </a:t>
            </a:r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pretende realizar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»: el Reglamento permite el alta anticipada.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8229600" cy="420624"/>
          </a:xfrm>
          <a:prstGeom prst="roundRect">
            <a:avLst>
              <a:gd name="adj" fmla="val 1521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4069080"/>
            <a:ext cx="7827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que operar para darse de alta. Y esa fecha debe ser la verdadera: ordena todo lo posterior.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5445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arts. 18 IV Bis y 20 · Reglamento arts. 12 y 13 · RCG art. 4 y Anexos 1 y 2 · Resolución de alta DOF 24-sep-2026, Anexos A y B.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Compendio de preguntas, 9ª edición · Sesión 5·A · 29 de septiembre de 2026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07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UMBRALES Y ACUMULACIÓN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48640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acumulación no se corta con el año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635240" y="4572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35240" y="4572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ÁMBAR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7680960" cy="0"/>
          </a:xfrm>
          <a:prstGeom prst="line">
            <a:avLst/>
          </a:prstGeom>
          <a:noFill/>
          <a:ln w="25400">
            <a:solidFill>
              <a:srgbClr val="1222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1819656"/>
            <a:ext cx="109728" cy="109728"/>
          </a:xfrm>
          <a:prstGeom prst="ellipse">
            <a:avLst/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" y="1965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56816" y="1819656"/>
            <a:ext cx="109728" cy="109728"/>
          </a:xfrm>
          <a:prstGeom prst="ellipse">
            <a:avLst/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45920" y="1965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36976" y="1819656"/>
            <a:ext cx="109728" cy="109728"/>
          </a:xfrm>
          <a:prstGeom prst="ellipse">
            <a:avLst/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26080" y="1965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17136" y="1819656"/>
            <a:ext cx="109728" cy="109728"/>
          </a:xfrm>
          <a:prstGeom prst="ellipse">
            <a:avLst/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06240" y="1965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97296" y="1819656"/>
            <a:ext cx="109728" cy="109728"/>
          </a:xfrm>
          <a:prstGeom prst="ellipse">
            <a:avLst/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0" y="1965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77456" y="1819656"/>
            <a:ext cx="109728" cy="109728"/>
          </a:xfrm>
          <a:prstGeom prst="ellipse">
            <a:avLst/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1965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357616" y="1819656"/>
            <a:ext cx="109728" cy="109728"/>
          </a:xfrm>
          <a:prstGeom prst="ellipse">
            <a:avLst/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0" y="1965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435608" y="1490472"/>
            <a:ext cx="0" cy="768096"/>
          </a:xfrm>
          <a:prstGeom prst="line">
            <a:avLst/>
          </a:prstGeom>
          <a:noFill/>
          <a:ln w="12700">
            <a:solidFill>
              <a:srgbClr val="5A6472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886968" y="21854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| 2027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115568" y="1188720"/>
            <a:ext cx="7342632" cy="329184"/>
          </a:xfrm>
          <a:prstGeom prst="roundRect">
            <a:avLst>
              <a:gd name="adj" fmla="val 16667"/>
            </a:avLst>
          </a:prstGeom>
          <a:solidFill>
            <a:srgbClr val="F2A541">
              <a:alpha val="30000"/>
            </a:srgbClr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243584" y="11887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seis meses, contados desde el primer acto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24128" y="1783080"/>
            <a:ext cx="182880" cy="182880"/>
          </a:xfrm>
          <a:prstGeom prst="ellipse">
            <a:avLst/>
          </a:prstGeom>
          <a:solidFill>
            <a:srgbClr val="1222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2350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acto que alcanza el umbral de identificación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992624" y="1783080"/>
            <a:ext cx="182880" cy="182880"/>
          </a:xfrm>
          <a:prstGeom prst="ellipse">
            <a:avLst/>
          </a:prstGeom>
          <a:solidFill>
            <a:srgbClr val="B26A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986784" y="2350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alcanza el umbral de Aviso: Aviso a más tardar el 17 del mes siguiente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2788920"/>
            <a:ext cx="4023360" cy="1243584"/>
          </a:xfrm>
          <a:prstGeom prst="roundRect">
            <a:avLst>
              <a:gd name="adj" fmla="val 5147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" y="2916936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el texto sí dice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" y="3300984"/>
            <a:ext cx="3694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el 30-nov-2026 el periodo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 con el primer acto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 con el año.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Sólo suman los actos que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lo individual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alcanzan el umbral de identificación.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788920"/>
            <a:ext cx="4023360" cy="1243584"/>
          </a:xfrm>
          <a:prstGeom prst="roundRect">
            <a:avLst>
              <a:gd name="adj" fmla="val 5147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28032" y="2916936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no dice: qué pasa después del Aviso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828032" y="3300984"/>
            <a:ext cx="3694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Lectura: lo ya avisado no se vuelve a sumar y la siguiente operación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periodo nuevo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(RCG 24 Bis 1). Es interpretación.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8368" y="4160520"/>
            <a:ext cx="7827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Escriba en el Manual la regla de reinicio, con inicio y cierre por Cliente. El mecanismo automatizado de junio de 2027 debe reproducirla.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Compendio de preguntas, 9ª edición · Sesión 5·A · 29 de septiembre de 2026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795528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07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FRACCIÓN VI · RELOJES Y JOYAS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48640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Orden, factura o pago: qué fecha cuenta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635240" y="4572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35240" y="4572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ÁMBAR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633472" cy="2011680"/>
          </a:xfrm>
          <a:prstGeom prst="roundRect">
            <a:avLst>
              <a:gd name="adj" fmla="val 3182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3258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" y="132588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Identificar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1810512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orden ya anticipa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805 UMA o más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se identifica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cerrar la venta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Identificar después del cierre es llegar tarde.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072384" y="19202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255264" y="1188720"/>
            <a:ext cx="2633472" cy="2011680"/>
          </a:xfrm>
          <a:prstGeom prst="roundRect">
            <a:avLst>
              <a:gd name="adj" fmla="val 3182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01568" y="13258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01568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132588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Fechar el acto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19856" y="1810512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fecha es aquella en que el acto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tiene por liquidado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(RCG 24 Bis III). No es la orden ni la factura: es el pago que liquida.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870448" y="19202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053328" y="1188720"/>
            <a:ext cx="2633472" cy="2011680"/>
          </a:xfrm>
          <a:prstGeom prst="roundRect">
            <a:avLst>
              <a:gd name="adj" fmla="val 3182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9632" y="13258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99632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729984" y="132588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Acumular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1810512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la misma fecha de liquidación para ubicar cada operación en los seis meses. Es la lectura consistente,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texto expreso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por eso, ámbar.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337560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3375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Efectivo, por su cuenta:</a:t>
            </a:r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prohibido desde </a:t>
            </a:r>
            <a:pPr indent="0" marL="0">
              <a:buNone/>
            </a:pPr>
            <a:r>
              <a:rPr lang="en-US" sz="10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3,210 UMA</a:t>
            </a:r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 pieza o por lote, </a:t>
            </a:r>
            <a:pPr indent="0" marL="0">
              <a:buNone/>
            </a:pPr>
            <a:r>
              <a:rPr lang="en-US" sz="10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</a:t>
            </a:r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contribuciones, aunque se pague en varias exhibiciones (pregunta 189).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160520"/>
            <a:ext cx="8229600" cy="420624"/>
          </a:xfrm>
          <a:prstGeom prst="roundRect">
            <a:avLst>
              <a:gd name="adj" fmla="val 1521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" y="4160520"/>
            <a:ext cx="7827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factura es la evidencia con la que la autoridad leerá la operación.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el hecho.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Compendio de preguntas, 9ª edición · Sesión 5·A · 29 de septiembre de 2026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795528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07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GRADO DE RIESGO · RCG 23 BIS 4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48640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 alto por disposición: dos grupos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635240" y="4572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35240" y="4572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ÁMBAR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023360" cy="1783080"/>
          </a:xfrm>
          <a:prstGeom prst="roundRect">
            <a:avLst>
              <a:gd name="adj" fmla="val 3590"/>
            </a:avLst>
          </a:prstGeom>
          <a:solidFill>
            <a:srgbClr val="12224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316736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PEP extranjeras: siempre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1627632"/>
            <a:ext cx="36941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condición adicional. Documentación reforzada (23 Ter 4 III) y aprobación de un directivo, o constancia de motivos si es persona física (23 Ter 5).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PEP </a:t>
            </a:r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nacionales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no: requieren factores adicionales (23 Bis 3).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1783080"/>
          </a:xfrm>
          <a:prstGeom prst="roundRect">
            <a:avLst>
              <a:gd name="adj" fmla="val 3590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28032" y="1316736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residentes: sólo con vínculo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28032" y="1700784"/>
            <a:ext cx="369417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texto dice no residentes «</a:t>
            </a:r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se encuentren, estén vinculados o tengan efectos» en jurisdicciones de regímenes preferentes o señaladas por organismos internacionales.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Vivir fuera, </a:t>
            </a:r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sí solo, no basta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8229600" cy="896112"/>
          </a:xfrm>
          <a:prstGeom prst="roundRect">
            <a:avLst>
              <a:gd name="adj" fmla="val 7143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236976"/>
            <a:ext cx="7900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abierto: qué es «no residente»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3621024"/>
            <a:ext cx="7900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Reglas no lo definen. Con el Código Fiscal, el mexicano radicado en una de esas jurisdicciones puede seguir siendo residente fiscal y quedar fuera del piso: justo el caso de mayor riesgo.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8229600" cy="420624"/>
          </a:xfrm>
          <a:prstGeom prst="roundRect">
            <a:avLst>
              <a:gd name="adj" fmla="val 1521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4160520"/>
            <a:ext cx="7827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los dos grupos, asentar por qué operó en México. Vigencia: actos desde el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 marzo de 2027</a:t>
            </a:r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Compendio de preguntas, 9ª edición · Sesión 5·A · 29 de septiembre de 2026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07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INMOBILIARIO · FRACCIÓN V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48640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inmobiliarias en la misma venta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635240" y="4572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35240" y="4572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ÁMBAR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1737360" cy="658368"/>
          </a:xfrm>
          <a:prstGeom prst="roundRect">
            <a:avLst>
              <a:gd name="adj" fmla="val 9722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307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Vendedor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5819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de 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14600" y="1234440"/>
            <a:ext cx="1737360" cy="658368"/>
          </a:xfrm>
          <a:prstGeom prst="roundRect">
            <a:avLst>
              <a:gd name="adj" fmla="val 9722"/>
            </a:avLst>
          </a:prstGeom>
          <a:solidFill>
            <a:srgbClr val="12224A"/>
          </a:solidFill>
          <a:ln w="9525">
            <a:solidFill>
              <a:srgbClr val="1222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14600" y="1307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Inmobiliaria A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15819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obligada · fr. V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92040" y="1234440"/>
            <a:ext cx="1737360" cy="658368"/>
          </a:xfrm>
          <a:prstGeom prst="roundRect">
            <a:avLst>
              <a:gd name="adj" fmla="val 9722"/>
            </a:avLst>
          </a:prstGeom>
          <a:solidFill>
            <a:srgbClr val="12224A"/>
          </a:solidFill>
          <a:ln w="9525">
            <a:solidFill>
              <a:srgbClr val="1222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1307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Inmobiliaria B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15819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obligada · fr. V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949440" y="1234440"/>
            <a:ext cx="1737360" cy="658368"/>
          </a:xfrm>
          <a:prstGeom prst="roundRect">
            <a:avLst>
              <a:gd name="adj" fmla="val 9722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1307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Comprador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15819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de B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520440" y="2194560"/>
            <a:ext cx="2103120" cy="658368"/>
          </a:xfrm>
          <a:prstGeom prst="roundRect">
            <a:avLst>
              <a:gd name="adj" fmla="val 9722"/>
            </a:avLst>
          </a:prstGeom>
          <a:solidFill>
            <a:srgbClr val="12224A"/>
          </a:solidFill>
          <a:ln w="9525">
            <a:solidFill>
              <a:srgbClr val="1222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20440" y="2267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Notaría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520440" y="25420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obligada · fr. XII, Ap. 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194560" y="1563624"/>
            <a:ext cx="32004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1960" y="1563624"/>
            <a:ext cx="6400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29400" y="1563624"/>
            <a:ext cx="32004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60520" y="133502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compraventa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572000" y="1563624"/>
            <a:ext cx="0" cy="630936"/>
          </a:xfrm>
          <a:prstGeom prst="line">
            <a:avLst/>
          </a:prstGeom>
          <a:noFill/>
          <a:ln w="19050">
            <a:solidFill>
              <a:srgbClr val="F2A541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57200" y="3017520"/>
            <a:ext cx="4023360" cy="987552"/>
          </a:xfrm>
          <a:prstGeom prst="roundRect">
            <a:avLst>
              <a:gd name="adj" fmla="val 6481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" y="3145536"/>
            <a:ext cx="36941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cada una a su Cliente, desde el primer acto: la fracción V no tiene umbral de identificación.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017520"/>
            <a:ext cx="4023360" cy="987552"/>
          </a:xfrm>
          <a:prstGeom prst="roundRect">
            <a:avLst>
              <a:gd name="adj" fmla="val 6481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28032" y="3145536"/>
            <a:ext cx="36941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Avisa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cada una sobre el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de la operación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 sobre su comisión, si alcanza 8,025 UMA. No es Aviso duplicado.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8229600" cy="420624"/>
          </a:xfrm>
          <a:prstGeom prst="roundRect">
            <a:avLst>
              <a:gd name="adj" fmla="val 1521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" y="4160520"/>
            <a:ext cx="7827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Ámbar porque se apoya en analogía (RCG 24 Bis 4). En el contrato: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escrito quién es su Cliente.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Compendio de preguntas, 9ª edición · Sesión 5·A · 29 de septiembre de 2026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795528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07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INMOBILIARIO · LA ÚNICA ROJA NUEVA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48640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Comprar, remodelar y revender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635240" y="4572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35240" y="4572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ROJO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023360" cy="1828800"/>
          </a:xfrm>
          <a:prstGeom prst="roundRect">
            <a:avLst>
              <a:gd name="adj" fmla="val 3500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316736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Lectura estricta: no es fr. V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1700784"/>
            <a:ext cx="36941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Comprar para revender por cuenta propia no es intermediar. Remodelar no es construir obra nueva. La definición de Desarrollo Inmobiliario habla de «construcción».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1828800"/>
          </a:xfrm>
          <a:prstGeom prst="roundRect">
            <a:avLst>
              <a:gd name="adj" fmla="val 3500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28032" y="1316736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Lectura funcional: sí lo 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28032" y="1700784"/>
            <a:ext cx="36941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ejecuta obra sobre un bien que después se vende al Cliente. La UIF calificó como </a:t>
            </a:r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venta de inmuebles propios construidos por un tercero (pregunta 144).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8229600" cy="850392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54680"/>
            <a:ext cx="78638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precepto decide entre las dos.</a:t>
            </a:r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Prudencia declarada, no certeza: si es su giro y se repite, </a:t>
            </a:r>
            <a:pPr indent="0" marL="0">
              <a:buNone/>
            </a:pPr>
            <a:r>
              <a:rPr lang="en-US" sz="10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darse de alta</a:t>
            </a:r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si se quiere certeza, </a:t>
            </a:r>
            <a:pPr indent="0" marL="0">
              <a:buNone/>
            </a:pPr>
            <a:r>
              <a:rPr lang="en-US" sz="10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a la UIF</a:t>
            </a:r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y en todo caso, documentar el análisis y la decisión.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8229600" cy="420624"/>
          </a:xfrm>
          <a:prstGeom prst="roundRect">
            <a:avLst>
              <a:gd name="adj" fmla="val 1521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4160520"/>
            <a:ext cx="7827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Estar registrado sin necesitarlo cuesta Informes en ceros. No estarlo abre el catálogo del artículo 53.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Compendio de preguntas, 9ª edición · Sesión 5·A · 29 de septiembre de 2026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07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INMOBILIARIO · FRACCIÓN IV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48640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 con crédito: ¿también soy fr. IV?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635240" y="4572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35240" y="4572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ÁMBAR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de quién otorga el crédito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8229600" cy="758952"/>
          </a:xfrm>
          <a:prstGeom prst="roundRect">
            <a:avLst>
              <a:gd name="adj" fmla="val 8434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463040"/>
            <a:ext cx="2103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Banco u organismo de vivienda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88920" y="1700784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88920" y="17007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767328" y="1463040"/>
            <a:ext cx="4754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crédito es de la entidad, con su propio régimen. El desarrollador sigue en la fr. V. Primera venta con banca de desarrollo u organismo público de vivienda: sin Aviso (RCG 27 Bis III). La banca comercial no entra en esa exclusión.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313432"/>
            <a:ext cx="8229600" cy="758952"/>
          </a:xfrm>
          <a:prstGeom prst="roundRect">
            <a:avLst>
              <a:gd name="adj" fmla="val 8434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2313432"/>
            <a:ext cx="2103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propio desarrollador, con contrato de crédito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88920" y="255117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88920" y="25511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767328" y="2313432"/>
            <a:ext cx="4754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Financiar con recursos propios, de manera habitual, es fr. IV. Sin umbral de identificación; el acto ocurre al poner los recursos a disposición.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163824"/>
            <a:ext cx="8229600" cy="758952"/>
          </a:xfrm>
          <a:prstGeom prst="roundRect">
            <a:avLst>
              <a:gd name="adj" fmla="val 8434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3163824"/>
            <a:ext cx="2103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Venta a plazos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88920" y="340156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788920" y="3401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Abierto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767328" y="3163824"/>
            <a:ext cx="4754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precepto dice si diferir el precio es «otorgar crédito». Cuanto más se parezca a un financiamiento (intereses, garantías, pagarés), más difícil sostener que no lo 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8229600" cy="420624"/>
          </a:xfrm>
          <a:prstGeom prst="roundRect">
            <a:avLst>
              <a:gd name="adj" fmla="val 1521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4160520"/>
            <a:ext cx="7827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Excluir del Aviso no releva de identificar ni de las demás obligaciones.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Compendio de preguntas, 9ª edición · Sesión 5·A · 29 de septiembre de 2026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07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ARRENDAMIENTO · FRACCIÓN XV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48640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Copropietarios que arriendan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635240" y="4572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35240" y="4572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ÁMBAR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24 Bis 6: «cada uno de ellos está sujeto a cumplir con sus obligaciones». </a:t>
            </a:r>
            <a:pPr indent="0" marL="0">
              <a:buNone/>
            </a:pPr>
            <a:r>
              <a:rPr lang="en-US" sz="11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1554480" cy="713232"/>
          </a:xfrm>
          <a:prstGeom prst="roundRect">
            <a:avLst>
              <a:gd name="adj" fmla="val 8974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" y="1517904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95681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cada uno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21408" y="1517904"/>
            <a:ext cx="1554480" cy="713232"/>
          </a:xfrm>
          <a:prstGeom prst="roundRect">
            <a:avLst>
              <a:gd name="adj" fmla="val 8974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94560" y="1517904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Metodología de Riesgos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121408" y="195681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cada uno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85616" y="1517904"/>
            <a:ext cx="1554480" cy="713232"/>
          </a:xfrm>
          <a:prstGeom prst="roundRect">
            <a:avLst>
              <a:gd name="adj" fmla="val 8974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58768" y="1517904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Capacitación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785616" y="195681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cada uno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49824" y="1517904"/>
            <a:ext cx="1554480" cy="713232"/>
          </a:xfrm>
          <a:prstGeom prst="roundRect">
            <a:avLst>
              <a:gd name="adj" fmla="val 8974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22976" y="1517904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Mecanismo automatizado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49824" y="195681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cada uno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114032" y="1517904"/>
            <a:ext cx="1554480" cy="713232"/>
          </a:xfrm>
          <a:prstGeom prst="roundRect">
            <a:avLst>
              <a:gd name="adj" fmla="val 8974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87184" y="1517904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Auditoría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114032" y="195681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cada uno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2377440"/>
            <a:ext cx="4023360" cy="1627632"/>
          </a:xfrm>
          <a:prstGeom prst="roundRect">
            <a:avLst>
              <a:gd name="adj" fmla="val 3933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" y="2505456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¿Se pueden compartir?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" y="2889504"/>
            <a:ext cx="36941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está regulado. Nada impide un Manual de contenido idéntico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adoptado por cada uno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 capacitación conjunta con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constancia individual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 límite: que cada uno cuente con la pieza y la aplique.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377440"/>
            <a:ext cx="4023360" cy="1627632"/>
          </a:xfrm>
          <a:prstGeom prst="roundRect">
            <a:avLst>
              <a:gd name="adj" fmla="val 3933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28032" y="2505456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recordatorios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828032" y="2889504"/>
            <a:ext cx="36941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fr. XV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exige habitualidad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basta el valor mensual.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física: cumple personal y directamente,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Representante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160520"/>
            <a:ext cx="8229600" cy="420624"/>
          </a:xfrm>
          <a:prstGeom prst="roundRect">
            <a:avLst>
              <a:gd name="adj" fmla="val 1521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" y="4160520"/>
            <a:ext cx="7827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expediente de cumplimiento por copropietario, y un responsable operativo designado por contrato.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Compendio de preguntas, 9ª edición · Sesión 5·A · 29 de septiembre de 2026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795528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204·205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07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 PÚBLICA Y SERVICIOS PROFESIONALES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4864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Avalúos y una fusión preparada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2816352"/>
          </a:xfrm>
          <a:prstGeom prst="roundRect">
            <a:avLst>
              <a:gd name="adj" fmla="val 2273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13258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204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56432" y="1335024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6432" y="13350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" y="1325880"/>
            <a:ext cx="2267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Avalúos: sólo uno es AV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1810512"/>
            <a:ext cx="36941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 la </a:t>
            </a:r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corredora pública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usando </a:t>
            </a:r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fe pública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sobre bienes de </a:t>
            </a:r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8,025 UMA o más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(fr. XII, Ap. B).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notarios (Ap. A) no tienen avalúos en su catálogo, y los peritos que no son corredores no aparecen en ninguna fracción.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Verde: el catálogo del art. 17 es cerrado.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4023360" cy="2816352"/>
          </a:xfrm>
          <a:prstGeom prst="roundRect">
            <a:avLst>
              <a:gd name="adj" fmla="val 2273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9744" y="13258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9744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205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62672" y="1335024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62672" y="13350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ÁMBAR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340096" y="1325880"/>
            <a:ext cx="2267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Despacho que prepara una fusión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28032" y="1810512"/>
            <a:ext cx="36941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sí, fr. XI e). Preparar basta; sin umbral de identificación.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sólo si ejecuta, en nombre del cliente, una </a:t>
            </a:r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 financiera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ligada a la fusión.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hay uno «por la asesoría»; es el mensual sin Avisos.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Abierto: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qué es «preparar».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8229600" cy="420624"/>
          </a:xfrm>
          <a:prstGeom prst="roundRect">
            <a:avLst>
              <a:gd name="adj" fmla="val 1521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4160520"/>
            <a:ext cx="7827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Redactar, calcular o preparar no es operación financiera.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eso no hay Aviso sólo por asesorar.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Compendio de preguntas, 9ª edición · Sesión 5·A · 29 de septiembre de 2026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07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FRACCIÓN VIII · VEHÍCULOS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48640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Maquinaria: entra sólo si es vehículo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635240" y="4572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35240" y="4572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ÁMBAR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0972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2 VI: automotores a los que </a:t>
            </a:r>
            <a:pPr indent="0" marL="0">
              <a:buNone/>
            </a:pPr>
            <a:r>
              <a:rPr lang="en-US" sz="11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les permita transitar en vías públicas o</a:t>
            </a:r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estén </a:t>
            </a:r>
            <a:pPr indent="0" marL="0">
              <a:buNone/>
            </a:pPr>
            <a:r>
              <a:rPr lang="en-US" sz="11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sujetos a control o registro vehicular</a:t>
            </a:r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2633472" cy="2011680"/>
          </a:xfrm>
          <a:prstGeom prst="roundRect">
            <a:avLst>
              <a:gd name="adj" fmla="val 3182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682496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automotora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28600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fijo, herramienta, implementos que se remolcan.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" y="310896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1089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55264" y="1554480"/>
            <a:ext cx="2633472" cy="2011680"/>
          </a:xfrm>
          <a:prstGeom prst="roundRect">
            <a:avLst>
              <a:gd name="adj" fmla="val 3182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19856" y="1682496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Automotora con permiso de tránsito o registro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419856" y="228600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Grúas, montacargas o tractores que se emplacan.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19856" y="310896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19856" y="31089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Fracción VIII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53328" y="1554480"/>
            <a:ext cx="2633472" cy="2011680"/>
          </a:xfrm>
          <a:prstGeom prst="roundRect">
            <a:avLst>
              <a:gd name="adj" fmla="val 3182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1682496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Automotora sin permiso ni registro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28600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 el permiso jurídico, no el uso: si podría circular legalmente, entra.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310896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31089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Fuera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Ámbar: el registro vehicular depende de normas federales y estatales que varían por equipo y entidad. Si es vehículo, efectivo prohibido desde 3,210 UMA.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8229600" cy="420624"/>
          </a:xfrm>
          <a:prstGeom prst="roundRect">
            <a:avLst>
              <a:gd name="adj" fmla="val 1521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4160520"/>
            <a:ext cx="7827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Clasifique el inventario por modelo, con la razón escrita de por qué es o no vehículo terrestre.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Compendio de preguntas, 9ª edición · Sesión 5·A · 29 de septiembre de 2026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07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· FRACCIÓN IV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48640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Arrendamiento financiero y fracción IV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635240" y="4572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35240" y="4572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ÁMBAR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023360" cy="1481328"/>
          </a:xfrm>
          <a:prstGeom prst="roundRect">
            <a:avLst>
              <a:gd name="adj" fmla="val 4321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316736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entra en la fr. IV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1700784"/>
            <a:ext cx="36941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LGTOC 408, supletoria: el arrendatario paga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valor de adquisición, las cargas financieras y accesorios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En sustancia, es financiar.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1481328"/>
          </a:xfrm>
          <a:prstGeom prst="roundRect">
            <a:avLst>
              <a:gd name="adj" fmla="val 4321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28032" y="1316736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argumento contrario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828032" y="1700784"/>
            <a:ext cx="36941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 capítulo propio, distinto de «De los créditos». Pero ese Título también incluye depósito y fideicomiso: la ubicación no decide,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contenido económico sí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07208"/>
            <a:ext cx="263347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" y="286207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SOFOM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" y="310896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Entidad Financiera: otro régimen.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55264" y="2807208"/>
            <a:ext cx="263347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01568" y="286207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es inmueble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401568" y="310896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también la fr. XV.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53328" y="2807208"/>
            <a:ext cx="263347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99632" y="286207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Fecha y base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199632" y="310896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encajan: se entrega un bien, no recursos.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8229600" cy="548640"/>
          </a:xfrm>
          <a:prstGeom prst="roundRect">
            <a:avLst>
              <a:gd name="adj" fmla="val 1166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3657600"/>
            <a:ext cx="7827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Criterio: identificar desde el primer acto; fecha, la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del bien</a:t>
            </a:r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base, el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de adquisición financiado</a:t>
            </a:r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Aviso desde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1,605 UMA</a:t>
            </a:r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297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arts. 3 VI, 4 II Bis y 17 IV y XV · LGTOC art. 408 · Reglamento arts. 7 y 24 · véase la pregunta 132.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Compendio de preguntas, 9ª edición · Sesión 5·A · 29 de septiembre de 2026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CORREGIMOS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Catorce respuestas cambiaron.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hay que decirlas en voz alta.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Aviso modificatorio · el calendario que fijó el DOF del 24 de septiembre · el domicilio · varios vehículos en una sola operación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Compendio de preguntas, 9ª edición · Sesión 5·A · 29 de septiembre de 2026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70·151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07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CORRECCIÓN · ERROR PROPIO DE LA 8ª EDICIÓN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48640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Aviso modificatorio sí tiene plazo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635240" y="4572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35240" y="4572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ÁMBAR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8229600" cy="822960"/>
          </a:xfrm>
          <a:prstGeom prst="roundRect">
            <a:avLst>
              <a:gd name="adj" fmla="val 7778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225296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«podrá modificarse por una sola ocasión dentro de los 30 días siguientes de la fecha de emisión del acuse electrónico del Aviso»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73736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Resolución de formatos de Avisos e Informes, art. 8 (texto vigente, 2013)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2633472" cy="1143000"/>
          </a:xfrm>
          <a:prstGeom prst="roundRect">
            <a:avLst>
              <a:gd name="adj" fmla="val 5600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2276856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sola vez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2660904"/>
            <a:ext cx="23042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segunda oportunidad: la corrección tiene que salir completa.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55264" y="2148840"/>
            <a:ext cx="2633472" cy="1143000"/>
          </a:xfrm>
          <a:prstGeom prst="roundRect">
            <a:avLst>
              <a:gd name="adj" fmla="val 5600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19856" y="2276856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días desde el acuse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419856" y="2660904"/>
            <a:ext cx="23042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Aviso original. No desde que se detecta el error.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53328" y="2148840"/>
            <a:ext cx="2633472" cy="1143000"/>
          </a:xfrm>
          <a:prstGeom prst="roundRect">
            <a:avLst>
              <a:gd name="adj" fmla="val 5600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2276856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Días naturales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660904"/>
            <a:ext cx="23042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el 1-jun-2027 lo dice el texto. Hoy, criterio: contar naturales.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confundir con el rechazo:</a:t>
            </a:r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 el Portal rechaza el archivo, se corrige y reenvía dentro del plazo de presentación. Avisos con formato anterior: modificables </a:t>
            </a:r>
            <a:pPr indent="0" marL="0"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 sumo hasta el 30-jun-2027</a:t>
            </a:r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y siempre dentro de los 30 días.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8229600" cy="420624"/>
          </a:xfrm>
          <a:prstGeom prst="roundRect">
            <a:avLst>
              <a:gd name="adj" fmla="val 1521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4160520"/>
            <a:ext cx="7827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octava edición decía que no había plazo.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grupo tenía razón.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Compendio de preguntas, 9ª edición · Sesión 5·A · 29 de septiembre de 2026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DOF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07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CORRECCIONES POR LAS RESOLUCIONES DEL 24 DE SEPTIEMBRE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4864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fechas que ya son ciertas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7863840" cy="0"/>
          </a:xfrm>
          <a:prstGeom prst="line">
            <a:avLst/>
          </a:prstGeom>
          <a:noFill/>
          <a:ln w="25400">
            <a:solidFill>
              <a:srgbClr val="1222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89888"/>
            <a:ext cx="182880" cy="182880"/>
          </a:xfrm>
          <a:prstGeom prst="ellipse">
            <a:avLst/>
          </a:prstGeom>
          <a:solidFill>
            <a:srgbClr val="F2A541"/>
          </a:solidFill>
          <a:ln w="19050">
            <a:solidFill>
              <a:srgbClr val="1222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0972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oct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" y="1719072"/>
            <a:ext cx="1536192" cy="2286000"/>
          </a:xfrm>
          <a:prstGeom prst="roundRect">
            <a:avLst>
              <a:gd name="adj" fmla="val 4167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" y="181051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UIF publica instructivos y catálogos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3504" y="269748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límite. De ellos depende la 67.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94560" y="1389888"/>
            <a:ext cx="182880" cy="182880"/>
          </a:xfrm>
          <a:prstGeom prst="ellipse">
            <a:avLst/>
          </a:prstGeom>
          <a:solidFill>
            <a:srgbClr val="F2A541"/>
          </a:solidFill>
          <a:ln w="19050">
            <a:solidFill>
              <a:srgbClr val="1222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48840" y="10972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dic 2026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39696" y="1719072"/>
            <a:ext cx="1536192" cy="2286000"/>
          </a:xfrm>
          <a:prstGeom prst="roundRect">
            <a:avLst>
              <a:gd name="adj" fmla="val 4167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49424" y="181051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en vigor la Resolución de Avisos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249424" y="269748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efectos del Transitorio Quinto del Acuerdo.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0" y="1389888"/>
            <a:ext cx="182880" cy="182880"/>
          </a:xfrm>
          <a:prstGeom prst="ellipse">
            <a:avLst/>
          </a:prstGeom>
          <a:solidFill>
            <a:srgbClr val="F2A541"/>
          </a:solidFill>
          <a:ln w="19050">
            <a:solidFill>
              <a:srgbClr val="1222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94760" y="10972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feb 2027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85616" y="1719072"/>
            <a:ext cx="1536192" cy="2286000"/>
          </a:xfrm>
          <a:prstGeom prst="roundRect">
            <a:avLst>
              <a:gd name="adj" fmla="val 4167"/>
            </a:avLst>
          </a:prstGeom>
          <a:solidFill>
            <a:srgbClr val="12224A"/>
          </a:solidFill>
          <a:ln w="9525">
            <a:solidFill>
              <a:srgbClr val="1222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95344" y="181051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de fideicomisos y otras figuras, agencias aduanales y despacho sin agente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895344" y="269748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se registró antes: baja y alta de nuevo. Anexo B.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0" y="1389888"/>
            <a:ext cx="182880" cy="182880"/>
          </a:xfrm>
          <a:prstGeom prst="ellipse">
            <a:avLst/>
          </a:prstGeom>
          <a:solidFill>
            <a:srgbClr val="F2A541"/>
          </a:solidFill>
          <a:ln w="19050">
            <a:solidFill>
              <a:srgbClr val="1222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40680" y="10972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jun 2027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31536" y="1719072"/>
            <a:ext cx="1536192" cy="2286000"/>
          </a:xfrm>
          <a:prstGeom prst="roundRect">
            <a:avLst>
              <a:gd name="adj" fmla="val 4167"/>
            </a:avLst>
          </a:prstGeom>
          <a:solidFill>
            <a:srgbClr val="12224A"/>
          </a:solidFill>
          <a:ln w="9525">
            <a:solidFill>
              <a:srgbClr val="1222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41264" y="181051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Formatos nuevos para todos los Avisos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541264" y="269748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abren los Avisos de 24 h (67, sigue ámbar) y el alta y Avisos de facilitadores.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132320" y="1389888"/>
            <a:ext cx="182880" cy="182880"/>
          </a:xfrm>
          <a:prstGeom prst="ellipse">
            <a:avLst/>
          </a:prstGeom>
          <a:solidFill>
            <a:srgbClr val="F2A541"/>
          </a:solidFill>
          <a:ln w="19050">
            <a:solidFill>
              <a:srgbClr val="1222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86600" y="10972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jun 2027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077456" y="1719072"/>
            <a:ext cx="1536192" cy="2286000"/>
          </a:xfrm>
          <a:prstGeom prst="roundRect">
            <a:avLst>
              <a:gd name="adj" fmla="val 4167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87184" y="181051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Tope para modificar Avisos con el formato anterior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187184" y="269748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siempre dentro de los 30 días (70).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8229600" cy="420624"/>
          </a:xfrm>
          <a:prstGeom prst="roundRect">
            <a:avLst>
              <a:gd name="adj" fmla="val 1521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" y="4160520"/>
            <a:ext cx="7827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actualizadas: 1, 4, 67, 105, 113, 118, 135, 146 y 165, y el calendario del Anexo A.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Compendio de preguntas, 9ª edición · Sesión 5·A · 29 de septiembre de 2026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795528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136·168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07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CORRECCIONES MÁS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4864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domicilio y varios vehículos en una operación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2816352"/>
          </a:xfrm>
          <a:prstGeom prst="roundRect">
            <a:avLst>
              <a:gd name="adj" fmla="val 2273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13258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136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56432" y="1335024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6432" y="13350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ÁMBAR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" y="1325880"/>
            <a:ext cx="2267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domicilio se registra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1810512"/>
            <a:ext cx="36941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propio: el texto sí da criterio. Los Anexos 1 y 2, inciso d), piden el domicilio «en donde lleve a cabo </a:t>
            </a:r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mayoría de sus actividades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 relacionadas con la AV.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el </a:t>
            </a:r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1-feb-2027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una dirección </a:t>
            </a:r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cada Actividad Vulnerable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Sigue abierto: una misma actividad repartida en varios establecimientos.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4023360" cy="2816352"/>
          </a:xfrm>
          <a:prstGeom prst="roundRect">
            <a:avLst>
              <a:gd name="adj" fmla="val 2273"/>
            </a:avLst>
          </a:prstGeom>
          <a:solidFill>
            <a:srgbClr val="F7F8FA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9744" y="13258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9744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168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62672" y="1335024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62672" y="13350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ÁMBAR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340096" y="1325880"/>
            <a:ext cx="2267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Varios vehículos, un comprobante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28032" y="1810512"/>
            <a:ext cx="36941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Salió de la clase de sectores. Dos lecturas: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vehículo: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fr. VIII liga el umbral de identificación al valor del vehículo. Mejor apoyo en la letra.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operación: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 se pacta y liquida como una sola, cuenta el total. Mejor apoyo en la finalidad.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Prudencia: identificar y, en su caso, avisar.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8229600" cy="420624"/>
          </a:xfrm>
          <a:prstGeom prst="roundRect">
            <a:avLst>
              <a:gd name="adj" fmla="val 1521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4160520"/>
            <a:ext cx="7827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Debajo del umbral de identificación no hay obligación alguna,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siquiera para acumular.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Compendio de preguntas, 9ª edición · Sesión 5·A · 29 de septiembre de 2026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ESTÁ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la Biblioteca del aula: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«Preguntas del sector sobre el ACUERDO 115/2026»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Novena edición · 207 preguntas · 158 páginas. La numeración es estable: la 195 de hoy será la 195 de la siguiente edición.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7863840" cy="685800"/>
          </a:xfrm>
          <a:prstGeom prst="roundRect">
            <a:avLst>
              <a:gd name="adj" fmla="val 9333"/>
            </a:avLst>
          </a:prstGeom>
          <a:solidFill>
            <a:srgbClr val="1B2E5C"/>
          </a:solidFill>
          <a:ln w="9525">
            <a:solidFill>
              <a:srgbClr val="2C42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24612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pregunten hoy alimenta la siguiente edición.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Compendio de preguntas, 9ª edición · Sesión 5·A · 29 de septiembre de 2026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Compendio de preguntas · Novena edición</dc:title>
  <dc:subject>PptxGenJS Presentation</dc:subject>
  <dc:creator>Maribel Vázquez Menchaca · 360Educa</dc:creator>
  <cp:lastModifiedBy>Maribel Vázquez Menchaca · 360Educa</cp:lastModifiedBy>
  <cp:revision>1</cp:revision>
  <dcterms:created xsi:type="dcterms:W3CDTF">2026-09-29T19:35:43Z</dcterms:created>
  <dcterms:modified xsi:type="dcterms:W3CDTF">2026-09-29T19:35:43Z</dcterms:modified>
</cp:coreProperties>
</file>