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4C27B"/>
          </a:solidFill>
          <a:ln/>
        </p:spPr>
      </p:sp>
      <p:sp>
        <p:nvSpPr>
          <p:cNvPr id="3" name="Text 1"/>
          <p:cNvSpPr txBox="1"/>
          <p:nvPr/>
        </p:nvSpPr>
        <p:spPr>
          <a:xfrm>
            <a:off x="822960" y="1234440"/>
            <a:ext cx="7680960" cy="310896"/>
          </a:xfrm>
          <a:prstGeom prst="rect">
            <a:avLst/>
          </a:prstGeom>
          <a:noFill/>
          <a:ln/>
        </p:spPr>
        <p:txBody>
          <a:bodyPr wrap="square" lIns="0" tIns="0" rIns="0" bIns="0" rtlCol="0" anchor="ctr"/>
          <a:lstStyle/>
          <a:p>
            <a:pPr indent="0" marL="0">
              <a:buNone/>
            </a:pPr>
            <a:r>
              <a:rPr lang="en-US" sz="1200" b="1" spc="160" kern="0" dirty="0">
                <a:solidFill>
                  <a:srgbClr val="64C27B"/>
                </a:solidFill>
                <a:latin typeface="Arial" pitchFamily="34" charset="0"/>
                <a:ea typeface="Arial" pitchFamily="34" charset="-122"/>
                <a:cs typeface="Arial" pitchFamily="34" charset="-120"/>
              </a:rPr>
              <a:t>TALLER ANTILAVADO 360 · DE LA LEY A LA PRÁCTICA</a:t>
            </a:r>
            <a:endParaRPr lang="en-US" sz="1200" dirty="0"/>
          </a:p>
        </p:txBody>
      </p:sp>
      <p:sp>
        <p:nvSpPr>
          <p:cNvPr id="4" name="Text 2"/>
          <p:cNvSpPr txBox="1"/>
          <p:nvPr/>
        </p:nvSpPr>
        <p:spPr>
          <a:xfrm>
            <a:off x="822960" y="1691640"/>
            <a:ext cx="7680960" cy="1463040"/>
          </a:xfrm>
          <a:prstGeom prst="rect">
            <a:avLst/>
          </a:prstGeom>
          <a:noFill/>
          <a:ln/>
        </p:spPr>
        <p:txBody>
          <a:bodyPr wrap="square" lIns="0" tIns="0" rIns="0" bIns="0" rtlCol="0" anchor="ctr"/>
          <a:lstStyle/>
          <a:p>
            <a:pPr indent="0" marL="0">
              <a:lnSpc>
                <a:spcPts val="4400"/>
              </a:lnSpc>
              <a:buNone/>
            </a:pPr>
            <a:r>
              <a:rPr lang="en-US" sz="3400" b="1" dirty="0">
                <a:solidFill>
                  <a:srgbClr val="FFFFFF"/>
                </a:solidFill>
                <a:latin typeface="Arial" pitchFamily="34" charset="0"/>
                <a:ea typeface="Arial" pitchFamily="34" charset="-122"/>
                <a:cs typeface="Arial" pitchFamily="34" charset="-120"/>
              </a:rPr>
              <a:t>Monitoreo, aviso de 24 horas,</a:t>
            </a:r>
            <a:endParaRPr lang="en-US" sz="3400" dirty="0"/>
          </a:p>
          <a:p>
            <a:pPr indent="0" marL="0">
              <a:lnSpc>
                <a:spcPts val="4400"/>
              </a:lnSpc>
              <a:buNone/>
            </a:pPr>
            <a:r>
              <a:rPr lang="en-US" sz="3400" b="1" dirty="0">
                <a:solidFill>
                  <a:srgbClr val="FFFFFF"/>
                </a:solidFill>
                <a:latin typeface="Arial" pitchFamily="34" charset="0"/>
                <a:ea typeface="Arial" pitchFamily="34" charset="-122"/>
                <a:cs typeface="Arial" pitchFamily="34" charset="-120"/>
              </a:rPr>
              <a:t>Beneficiario Controlador y efectivo</a:t>
            </a:r>
            <a:endParaRPr lang="en-US" sz="3400" dirty="0"/>
          </a:p>
        </p:txBody>
      </p:sp>
      <p:sp>
        <p:nvSpPr>
          <p:cNvPr id="5" name="Text 3"/>
          <p:cNvSpPr txBox="1"/>
          <p:nvPr/>
        </p:nvSpPr>
        <p:spPr>
          <a:xfrm>
            <a:off x="822960" y="3310128"/>
            <a:ext cx="7680960" cy="274320"/>
          </a:xfrm>
          <a:prstGeom prst="rect">
            <a:avLst/>
          </a:prstGeom>
          <a:noFill/>
          <a:ln/>
        </p:spPr>
        <p:txBody>
          <a:bodyPr wrap="square" lIns="0" tIns="0" rIns="0" bIns="0" rtlCol="0" anchor="ctr"/>
          <a:lstStyle/>
          <a:p>
            <a:pPr indent="0" marL="0">
              <a:buNone/>
            </a:pPr>
            <a:r>
              <a:rPr lang="en-US" sz="1300" dirty="0">
                <a:solidFill>
                  <a:srgbClr val="87D895"/>
                </a:solidFill>
                <a:latin typeface="Arial" pitchFamily="34" charset="0"/>
                <a:ea typeface="Arial" pitchFamily="34" charset="-122"/>
                <a:cs typeface="Arial" pitchFamily="34" charset="-120"/>
              </a:rPr>
              <a:t>Sesión 4 · Martes 8 de septiembre de 2026 · 16:00 a 18:00 h</a:t>
            </a:r>
            <a:endParaRPr lang="en-US" sz="1300" dirty="0"/>
          </a:p>
        </p:txBody>
      </p:sp>
      <p:sp>
        <p:nvSpPr>
          <p:cNvPr id="6" name="Text 4"/>
          <p:cNvSpPr txBox="1"/>
          <p:nvPr/>
        </p:nvSpPr>
        <p:spPr>
          <a:xfrm>
            <a:off x="822960" y="3639312"/>
            <a:ext cx="7680960" cy="274320"/>
          </a:xfrm>
          <a:prstGeom prst="rect">
            <a:avLst/>
          </a:prstGeom>
          <a:noFill/>
          <a:ln/>
        </p:spPr>
        <p:txBody>
          <a:bodyPr wrap="square" lIns="0" tIns="0" rIns="0" bIns="0" rtlCol="0" anchor="ctr"/>
          <a:lstStyle/>
          <a:p>
            <a:pPr indent="0" marL="0">
              <a:buNone/>
            </a:pPr>
            <a:r>
              <a:rPr lang="en-US" sz="1100" dirty="0">
                <a:solidFill>
                  <a:srgbClr val="8C9A90"/>
                </a:solidFill>
                <a:latin typeface="Arial" pitchFamily="34" charset="0"/>
                <a:ea typeface="Arial" pitchFamily="34" charset="-122"/>
                <a:cs typeface="Arial" pitchFamily="34" charset="-120"/>
              </a:rPr>
              <a:t>Maribel Vázquez Menchaca · GMC360 · 360Educa · ASONOC · LEXQUO</a:t>
            </a:r>
            <a:endParaRPr lang="en-US" sz="1100" dirty="0"/>
          </a:p>
        </p:txBody>
      </p:sp>
      <p:sp>
        <p:nvSpPr>
          <p:cNvPr id="7" name="Shape 5"/>
          <p:cNvSpPr/>
          <p:nvPr/>
        </p:nvSpPr>
        <p:spPr>
          <a:xfrm>
            <a:off x="0" y="4846320"/>
            <a:ext cx="9144000" cy="18288"/>
          </a:xfrm>
          <a:prstGeom prst="rect">
            <a:avLst/>
          </a:prstGeom>
          <a:solidFill>
            <a:srgbClr val="2E7D4F"/>
          </a:solidFill>
          <a:ln/>
        </p:spPr>
      </p:sp>
      <p:sp>
        <p:nvSpPr>
          <p:cNvPr id="8" name="Text 6"/>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8C9A90"/>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9" name="Text 7"/>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64C27B"/>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APERTURA</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De dónde venimos, y qué falta</a:t>
            </a:r>
            <a:endParaRPr lang="en-US" sz="2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554480"/>
                <a:gridCol w="5029200"/>
                <a:gridCol w="1554480"/>
              </a:tblGrid>
              <a:tr h="0">
                <a:tc>
                  <a:txBody>
                    <a:bodyPr/>
                    <a:lstStyle/>
                    <a:p>
                      <a:pPr indent="0" marL="0">
                        <a:buNone/>
                      </a:pPr>
                      <a:r>
                        <a:rPr lang="en-US" sz="1100" b="1" dirty="0">
                          <a:solidFill>
                            <a:srgbClr val="1B1B1E"/>
                          </a:solidFill>
                          <a:latin typeface="Arial" pitchFamily="34" charset="0"/>
                          <a:ea typeface="Arial" pitchFamily="34" charset="-122"/>
                          <a:cs typeface="Arial" pitchFamily="34" charset="-120"/>
                        </a:rPr>
                        <a:t>Sesión</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Tema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Estado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0 · 11 ago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Panorama, arquitectura y calendario de exigibilidad</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Impartida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1 · 18 ago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Identificación del cliente y expediente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Impartida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2 · 25 ago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Metodología de riesgos y grado de riesgo del cliente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Impartida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3 · 1 sep</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Manual, Representante y capacitación</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Impartida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4 · 8 sep</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Monitoreo, aviso de 24 h, Beneficiario Controlador y efectivo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Hoy</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5 · LUNES 14 sep</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Los sectores, uno por uno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Falta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6 · 22 sep</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Autoridad, auditoría de efectividad y cierre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Falta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14 de septiembre es LUNES. Es el único cambio de día del taller.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LO QUE SE LLEVAN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Los tres mensajes de hoy</a:t>
            </a:r>
            <a:endParaRPr lang="en-US" sz="2700" dirty="0"/>
          </a:p>
        </p:txBody>
      </p:sp>
      <p:sp>
        <p:nvSpPr>
          <p:cNvPr id="9" name="Shape 7"/>
          <p:cNvSpPr/>
          <p:nvPr/>
        </p:nvSpPr>
        <p:spPr>
          <a:xfrm>
            <a:off x="502920" y="196596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2112264"/>
            <a:ext cx="274320" cy="274320"/>
          </a:xfrm>
          <a:prstGeom prst="ellipse">
            <a:avLst/>
          </a:prstGeom>
          <a:solidFill>
            <a:srgbClr val="87D895"/>
          </a:solidFill>
          <a:ln/>
        </p:spPr>
      </p:sp>
      <p:sp>
        <p:nvSpPr>
          <p:cNvPr id="11" name="Text 9"/>
          <p:cNvSpPr txBox="1"/>
          <p:nvPr/>
        </p:nvSpPr>
        <p:spPr>
          <a:xfrm>
            <a:off x="649224" y="211226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209397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Hay una fecha nueva</a:t>
            </a:r>
            <a:endParaRPr lang="en-US" sz="1200" dirty="0"/>
          </a:p>
        </p:txBody>
      </p:sp>
      <p:sp>
        <p:nvSpPr>
          <p:cNvPr id="13" name="Text 11"/>
          <p:cNvSpPr txBox="1"/>
          <p:nvPr/>
        </p:nvSpPr>
        <p:spPr>
          <a:xfrm>
            <a:off x="649224" y="245973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Ustedes tienen dos fechas en la cabeza. Hoy salen con cuatro. La nueva es el 1 de junio de 2027.</a:t>
            </a:r>
            <a:endParaRPr lang="en-US" sz="950" dirty="0"/>
          </a:p>
        </p:txBody>
      </p:sp>
      <p:sp>
        <p:nvSpPr>
          <p:cNvPr id="14" name="Text 12"/>
          <p:cNvSpPr txBox="1"/>
          <p:nvPr/>
        </p:nvSpPr>
        <p:spPr>
          <a:xfrm>
            <a:off x="649224" y="307238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Trans. Noveno</a:t>
            </a:r>
            <a:endParaRPr lang="en-US" sz="850" dirty="0"/>
          </a:p>
        </p:txBody>
      </p:sp>
      <p:sp>
        <p:nvSpPr>
          <p:cNvPr id="15" name="Shape 13"/>
          <p:cNvSpPr/>
          <p:nvPr/>
        </p:nvSpPr>
        <p:spPr>
          <a:xfrm>
            <a:off x="3282696" y="1965960"/>
            <a:ext cx="2578608" cy="1335024"/>
          </a:xfrm>
          <a:prstGeom prst="roundRect">
            <a:avLst>
              <a:gd name="adj" fmla="val 4110"/>
            </a:avLst>
          </a:prstGeom>
          <a:solidFill>
            <a:srgbClr val="FFFFFF"/>
          </a:solidFill>
          <a:ln w="9525">
            <a:solidFill>
              <a:srgbClr val="DCE6DE"/>
            </a:solidFill>
            <a:prstDash val="solid"/>
          </a:ln>
        </p:spPr>
      </p:sp>
      <p:sp>
        <p:nvSpPr>
          <p:cNvPr id="16" name="Shape 14"/>
          <p:cNvSpPr/>
          <p:nvPr/>
        </p:nvSpPr>
        <p:spPr>
          <a:xfrm>
            <a:off x="3429000" y="2112264"/>
            <a:ext cx="274320" cy="274320"/>
          </a:xfrm>
          <a:prstGeom prst="ellipse">
            <a:avLst/>
          </a:prstGeom>
          <a:solidFill>
            <a:srgbClr val="87D895"/>
          </a:solidFill>
          <a:ln/>
        </p:spPr>
      </p:sp>
      <p:sp>
        <p:nvSpPr>
          <p:cNvPr id="17" name="Text 15"/>
          <p:cNvSpPr txBox="1"/>
          <p:nvPr/>
        </p:nvSpPr>
        <p:spPr>
          <a:xfrm>
            <a:off x="3429000" y="211226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8" name="Text 16"/>
          <p:cNvSpPr txBox="1"/>
          <p:nvPr/>
        </p:nvSpPr>
        <p:spPr>
          <a:xfrm>
            <a:off x="3785616" y="209397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La hoja de cálculo sí cuenta</a:t>
            </a:r>
            <a:endParaRPr lang="en-US" sz="1200" dirty="0"/>
          </a:p>
        </p:txBody>
      </p:sp>
      <p:sp>
        <p:nvSpPr>
          <p:cNvPr id="19" name="Text 17"/>
          <p:cNvSpPr txBox="1"/>
          <p:nvPr/>
        </p:nvSpPr>
        <p:spPr>
          <a:xfrm>
            <a:off x="3429000" y="245973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No hay exención por ser chico ni por bajo riesgo. Hay proporcionalidad, que no es lo mismo.</a:t>
            </a:r>
            <a:endParaRPr lang="en-US" sz="950" dirty="0"/>
          </a:p>
        </p:txBody>
      </p:sp>
      <p:sp>
        <p:nvSpPr>
          <p:cNvPr id="20" name="Text 18"/>
          <p:cNvSpPr txBox="1"/>
          <p:nvPr/>
        </p:nvSpPr>
        <p:spPr>
          <a:xfrm>
            <a:off x="3429000" y="307238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3 fr. XI Ter</a:t>
            </a:r>
            <a:endParaRPr lang="en-US" sz="850" dirty="0"/>
          </a:p>
        </p:txBody>
      </p:sp>
      <p:sp>
        <p:nvSpPr>
          <p:cNvPr id="21" name="Shape 19"/>
          <p:cNvSpPr/>
          <p:nvPr/>
        </p:nvSpPr>
        <p:spPr>
          <a:xfrm>
            <a:off x="6062472" y="1965960"/>
            <a:ext cx="2578608" cy="1335024"/>
          </a:xfrm>
          <a:prstGeom prst="roundRect">
            <a:avLst>
              <a:gd name="adj" fmla="val 4110"/>
            </a:avLst>
          </a:prstGeom>
          <a:solidFill>
            <a:srgbClr val="FFFFFF"/>
          </a:solidFill>
          <a:ln w="9525">
            <a:solidFill>
              <a:srgbClr val="DCE6DE"/>
            </a:solidFill>
            <a:prstDash val="solid"/>
          </a:ln>
        </p:spPr>
      </p:sp>
      <p:sp>
        <p:nvSpPr>
          <p:cNvPr id="22" name="Shape 20"/>
          <p:cNvSpPr/>
          <p:nvPr/>
        </p:nvSpPr>
        <p:spPr>
          <a:xfrm>
            <a:off x="6208776" y="2112264"/>
            <a:ext cx="274320" cy="274320"/>
          </a:xfrm>
          <a:prstGeom prst="ellipse">
            <a:avLst/>
          </a:prstGeom>
          <a:solidFill>
            <a:srgbClr val="87D895"/>
          </a:solidFill>
          <a:ln/>
        </p:spPr>
      </p:sp>
      <p:sp>
        <p:nvSpPr>
          <p:cNvPr id="23" name="Text 21"/>
          <p:cNvSpPr txBox="1"/>
          <p:nvPr/>
        </p:nvSpPr>
        <p:spPr>
          <a:xfrm>
            <a:off x="6208776" y="211226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4" name="Text 22"/>
          <p:cNvSpPr txBox="1"/>
          <p:nvPr/>
        </p:nvSpPr>
        <p:spPr>
          <a:xfrm>
            <a:off x="6565392" y="209397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Siempre hay Beneficiario Controlador</a:t>
            </a:r>
            <a:endParaRPr lang="en-US" sz="1200" dirty="0"/>
          </a:p>
        </p:txBody>
      </p:sp>
      <p:sp>
        <p:nvSpPr>
          <p:cNvPr id="25" name="Text 23"/>
          <p:cNvSpPr txBox="1"/>
          <p:nvPr/>
        </p:nvSpPr>
        <p:spPr>
          <a:xfrm>
            <a:off x="6208776" y="245973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La prelación tiene tres niveles y el tercero cierra siempre. Concluir que no hay nunca es válido.</a:t>
            </a:r>
            <a:endParaRPr lang="en-US" sz="950" dirty="0"/>
          </a:p>
        </p:txBody>
      </p:sp>
      <p:sp>
        <p:nvSpPr>
          <p:cNvPr id="26" name="Text 24"/>
          <p:cNvSpPr txBox="1"/>
          <p:nvPr/>
        </p:nvSpPr>
        <p:spPr>
          <a:xfrm>
            <a:off x="6208776" y="307238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23 Quinquies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4</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CUÁNDO</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calendario, con una fecha más</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103120"/>
                <a:gridCol w="4206240"/>
                <a:gridCol w="1828800"/>
              </a:tblGrid>
              <a:tr h="0">
                <a:tc>
                  <a:txBody>
                    <a:bodyPr/>
                    <a:lstStyle/>
                    <a:p>
                      <a:pPr indent="0" marL="0">
                        <a:buNone/>
                      </a:pPr>
                      <a:r>
                        <a:rPr lang="en-US" sz="1150" b="1" dirty="0">
                          <a:solidFill>
                            <a:srgbClr val="1B1B1E"/>
                          </a:solidFill>
                          <a:latin typeface="Arial" pitchFamily="34" charset="0"/>
                          <a:ea typeface="Arial" pitchFamily="34" charset="-122"/>
                          <a:cs typeface="Arial" pitchFamily="34" charset="-120"/>
                        </a:rPr>
                        <a:t>Cuándo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50" b="1" dirty="0">
                          <a:solidFill>
                            <a:srgbClr val="1B1B1E"/>
                          </a:solidFill>
                          <a:latin typeface="Arial" pitchFamily="34" charset="0"/>
                          <a:ea typeface="Arial" pitchFamily="34" charset="-122"/>
                          <a:cs typeface="Arial" pitchFamily="34" charset="-120"/>
                        </a:rPr>
                        <a:t>Qué es exigible</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50" b="1" dirty="0">
                          <a:solidFill>
                            <a:srgbClr val="1B1B1E"/>
                          </a:solidFill>
                          <a:latin typeface="Arial" pitchFamily="34" charset="0"/>
                          <a:ea typeface="Arial" pitchFamily="34" charset="-122"/>
                          <a:cs typeface="Arial" pitchFamily="34" charset="-120"/>
                        </a:rPr>
                        <a:t>Fundamento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30 de noviembre de 2026</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Entra en vigor el ACUERDO 115/2026</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RCG Trans. Primero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1 de marzo de 2027</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Manual con metodología · grado de riesgo · perfil transaccional · SISTEMA DE ALERTAS · orden de prelación del Beneficiario Controlador</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RCG Trans. Segundo a Cuarto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1 de junio de 2027</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Mecanismos automatizados de monitoreo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RCG Trans. Noveno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Sin fecha todavía</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El envío del Aviso de 24 horas</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 y RCG Trans. Quinto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Ojo al trimestre de en medio: el sistema de alertas es exigible desde el 1 de marzo y los mecanismos automatizados hasta el 1 de junio. De marzo a mayo el sistema tiene que poder operarse por otros medios.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5</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PERFIL TRANSACCIONAL · 10 a 27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No son lo mismo: grado de riesgo y perfil</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1371600"/>
                <a:gridCol w="3017520"/>
                <a:gridCol w="3749040"/>
              </a:tblGrid>
              <a:tr h="0">
                <a:tc>
                  <a:txBody>
                    <a:bodyPr/>
                    <a:lstStyle/>
                    <a:p>
                      <a:pPr indent="0" marL="0">
                        <a:buNone/>
                      </a:pP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Grado de Riesgo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Perfil transaccional</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Qué dice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Cuánto cuidado le pones al cliente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Qué esperas que el cliente haga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Cómo se expresa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Bajo, medio o alto, y los intermedios que quieras</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Seis elementos: monto, frecuencia, geografía, origen y destino, actividad, y lo demás relevante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De dónde sale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Modelo de evaluación de riesgos del Manual</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Lo que el cliente declara y lo que obra en tus archivos</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Fundamento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RCG 23 Bis</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RCG 3 fr. XI Sexties y 23 Ter 1</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RCG 41 fr. IV obliga a conservar el histórico de los dos, por separado, no menos de diez años. Si en su sistema son la misma columna, hay un problema.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6</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3 fr. XI SEXTIES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Los seis elementos del perfil</a:t>
            </a:r>
            <a:endParaRPr lang="en-US" sz="2700" dirty="0"/>
          </a:p>
        </p:txBody>
      </p:sp>
      <p:sp>
        <p:nvSpPr>
          <p:cNvPr id="9" name="Shape 7"/>
          <p:cNvSpPr/>
          <p:nvPr/>
        </p:nvSpPr>
        <p:spPr>
          <a:xfrm>
            <a:off x="502920" y="178308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29384"/>
            <a:ext cx="274320" cy="274320"/>
          </a:xfrm>
          <a:prstGeom prst="ellipse">
            <a:avLst/>
          </a:prstGeom>
          <a:solidFill>
            <a:srgbClr val="87D895"/>
          </a:solidFill>
          <a:ln/>
        </p:spPr>
      </p:sp>
      <p:sp>
        <p:nvSpPr>
          <p:cNvPr id="11" name="Text 9"/>
          <p:cNvSpPr txBox="1"/>
          <p:nvPr/>
        </p:nvSpPr>
        <p:spPr>
          <a:xfrm>
            <a:off x="649224"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Monto</a:t>
            </a:r>
            <a:endParaRPr lang="en-US" sz="1200" dirty="0"/>
          </a:p>
        </p:txBody>
      </p:sp>
      <p:sp>
        <p:nvSpPr>
          <p:cNvPr id="13" name="Text 11"/>
          <p:cNvSpPr txBox="1"/>
          <p:nvPr/>
        </p:nvSpPr>
        <p:spPr>
          <a:xfrm>
            <a:off x="649224"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Cuánto opera</a:t>
            </a:r>
            <a:endParaRPr lang="en-US" sz="950" dirty="0"/>
          </a:p>
        </p:txBody>
      </p:sp>
      <p:sp>
        <p:nvSpPr>
          <p:cNvPr id="14" name="Shape 12"/>
          <p:cNvSpPr/>
          <p:nvPr/>
        </p:nvSpPr>
        <p:spPr>
          <a:xfrm>
            <a:off x="3282696" y="178308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1929384"/>
            <a:ext cx="274320" cy="274320"/>
          </a:xfrm>
          <a:prstGeom prst="ellipse">
            <a:avLst/>
          </a:prstGeom>
          <a:solidFill>
            <a:srgbClr val="87D895"/>
          </a:solidFill>
          <a:ln/>
        </p:spPr>
      </p:sp>
      <p:sp>
        <p:nvSpPr>
          <p:cNvPr id="16" name="Text 14"/>
          <p:cNvSpPr txBox="1"/>
          <p:nvPr/>
        </p:nvSpPr>
        <p:spPr>
          <a:xfrm>
            <a:off x="3429000"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Frecuencia</a:t>
            </a:r>
            <a:endParaRPr lang="en-US" sz="1200" dirty="0"/>
          </a:p>
        </p:txBody>
      </p:sp>
      <p:sp>
        <p:nvSpPr>
          <p:cNvPr id="18" name="Text 16"/>
          <p:cNvSpPr txBox="1"/>
          <p:nvPr/>
        </p:nvSpPr>
        <p:spPr>
          <a:xfrm>
            <a:off x="3429000"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Cada cuánto</a:t>
            </a:r>
            <a:endParaRPr lang="en-US" sz="950" dirty="0"/>
          </a:p>
        </p:txBody>
      </p:sp>
      <p:sp>
        <p:nvSpPr>
          <p:cNvPr id="19" name="Shape 17"/>
          <p:cNvSpPr/>
          <p:nvPr/>
        </p:nvSpPr>
        <p:spPr>
          <a:xfrm>
            <a:off x="6062472" y="178308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1929384"/>
            <a:ext cx="274320" cy="274320"/>
          </a:xfrm>
          <a:prstGeom prst="ellipse">
            <a:avLst/>
          </a:prstGeom>
          <a:solidFill>
            <a:srgbClr val="87D895"/>
          </a:solidFill>
          <a:ln/>
        </p:spPr>
      </p:sp>
      <p:sp>
        <p:nvSpPr>
          <p:cNvPr id="21" name="Text 19"/>
          <p:cNvSpPr txBox="1"/>
          <p:nvPr/>
        </p:nvSpPr>
        <p:spPr>
          <a:xfrm>
            <a:off x="6208776"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Zona geográfica</a:t>
            </a:r>
            <a:endParaRPr lang="en-US" sz="1200" dirty="0"/>
          </a:p>
        </p:txBody>
      </p:sp>
      <p:sp>
        <p:nvSpPr>
          <p:cNvPr id="23" name="Text 21"/>
          <p:cNvSpPr txBox="1"/>
          <p:nvPr/>
        </p:nvSpPr>
        <p:spPr>
          <a:xfrm>
            <a:off x="6208776"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Dónde opera</a:t>
            </a:r>
            <a:endParaRPr lang="en-US" sz="950" dirty="0"/>
          </a:p>
        </p:txBody>
      </p:sp>
      <p:sp>
        <p:nvSpPr>
          <p:cNvPr id="24" name="Shape 22"/>
          <p:cNvSpPr/>
          <p:nvPr/>
        </p:nvSpPr>
        <p:spPr>
          <a:xfrm>
            <a:off x="502920" y="3264408"/>
            <a:ext cx="2578608" cy="1335024"/>
          </a:xfrm>
          <a:prstGeom prst="roundRect">
            <a:avLst>
              <a:gd name="adj" fmla="val 4110"/>
            </a:avLst>
          </a:prstGeom>
          <a:solidFill>
            <a:srgbClr val="FFFFFF"/>
          </a:solidFill>
          <a:ln w="9525">
            <a:solidFill>
              <a:srgbClr val="DCE6DE"/>
            </a:solidFill>
            <a:prstDash val="solid"/>
          </a:ln>
        </p:spPr>
      </p:sp>
      <p:sp>
        <p:nvSpPr>
          <p:cNvPr id="25" name="Shape 23"/>
          <p:cNvSpPr/>
          <p:nvPr/>
        </p:nvSpPr>
        <p:spPr>
          <a:xfrm>
            <a:off x="649224" y="3410712"/>
            <a:ext cx="274320" cy="274320"/>
          </a:xfrm>
          <a:prstGeom prst="ellipse">
            <a:avLst/>
          </a:prstGeom>
          <a:solidFill>
            <a:srgbClr val="87D895"/>
          </a:solidFill>
          <a:ln/>
        </p:spPr>
      </p:sp>
      <p:sp>
        <p:nvSpPr>
          <p:cNvPr id="26" name="Text 24"/>
          <p:cNvSpPr txBox="1"/>
          <p:nvPr/>
        </p:nvSpPr>
        <p:spPr>
          <a:xfrm>
            <a:off x="649224"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1005840"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Origen y destino</a:t>
            </a:r>
            <a:endParaRPr lang="en-US" sz="1200" dirty="0"/>
          </a:p>
        </p:txBody>
      </p:sp>
      <p:sp>
        <p:nvSpPr>
          <p:cNvPr id="28" name="Text 26"/>
          <p:cNvSpPr txBox="1"/>
          <p:nvPr/>
        </p:nvSpPr>
        <p:spPr>
          <a:xfrm>
            <a:off x="649224"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De dónde vienen y a dónde van los recursos</a:t>
            </a:r>
            <a:endParaRPr lang="en-US" sz="950" dirty="0"/>
          </a:p>
        </p:txBody>
      </p:sp>
      <p:sp>
        <p:nvSpPr>
          <p:cNvPr id="29" name="Shape 27"/>
          <p:cNvSpPr/>
          <p:nvPr/>
        </p:nvSpPr>
        <p:spPr>
          <a:xfrm>
            <a:off x="3282696" y="3264408"/>
            <a:ext cx="2578608" cy="1335024"/>
          </a:xfrm>
          <a:prstGeom prst="roundRect">
            <a:avLst>
              <a:gd name="adj" fmla="val 4110"/>
            </a:avLst>
          </a:prstGeom>
          <a:solidFill>
            <a:srgbClr val="FFFFFF"/>
          </a:solidFill>
          <a:ln w="9525">
            <a:solidFill>
              <a:srgbClr val="DCE6DE"/>
            </a:solidFill>
            <a:prstDash val="solid"/>
          </a:ln>
        </p:spPr>
      </p:sp>
      <p:sp>
        <p:nvSpPr>
          <p:cNvPr id="30" name="Shape 28"/>
          <p:cNvSpPr/>
          <p:nvPr/>
        </p:nvSpPr>
        <p:spPr>
          <a:xfrm>
            <a:off x="3429000" y="3410712"/>
            <a:ext cx="274320" cy="274320"/>
          </a:xfrm>
          <a:prstGeom prst="ellipse">
            <a:avLst/>
          </a:prstGeom>
          <a:solidFill>
            <a:srgbClr val="87D895"/>
          </a:solidFill>
          <a:ln/>
        </p:spPr>
      </p:sp>
      <p:sp>
        <p:nvSpPr>
          <p:cNvPr id="31" name="Text 29"/>
          <p:cNvSpPr txBox="1"/>
          <p:nvPr/>
        </p:nvSpPr>
        <p:spPr>
          <a:xfrm>
            <a:off x="3429000"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3785616"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Actividad económica</a:t>
            </a:r>
            <a:endParaRPr lang="en-US" sz="1200" dirty="0"/>
          </a:p>
        </p:txBody>
      </p:sp>
      <p:sp>
        <p:nvSpPr>
          <p:cNvPr id="33" name="Text 31"/>
          <p:cNvSpPr txBox="1"/>
          <p:nvPr/>
        </p:nvSpPr>
        <p:spPr>
          <a:xfrm>
            <a:off x="3429000"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A qué se dedica</a:t>
            </a:r>
            <a:endParaRPr lang="en-US" sz="950" dirty="0"/>
          </a:p>
        </p:txBody>
      </p:sp>
      <p:sp>
        <p:nvSpPr>
          <p:cNvPr id="34" name="Shape 32"/>
          <p:cNvSpPr/>
          <p:nvPr/>
        </p:nvSpPr>
        <p:spPr>
          <a:xfrm>
            <a:off x="6062472" y="3264408"/>
            <a:ext cx="2578608" cy="1335024"/>
          </a:xfrm>
          <a:prstGeom prst="roundRect">
            <a:avLst>
              <a:gd name="adj" fmla="val 4110"/>
            </a:avLst>
          </a:prstGeom>
          <a:solidFill>
            <a:srgbClr val="FFFFFF"/>
          </a:solidFill>
          <a:ln w="9525">
            <a:solidFill>
              <a:srgbClr val="DCE6DE"/>
            </a:solidFill>
            <a:prstDash val="solid"/>
          </a:ln>
        </p:spPr>
      </p:sp>
      <p:sp>
        <p:nvSpPr>
          <p:cNvPr id="35" name="Shape 33"/>
          <p:cNvSpPr/>
          <p:nvPr/>
        </p:nvSpPr>
        <p:spPr>
          <a:xfrm>
            <a:off x="6208776" y="3410712"/>
            <a:ext cx="274320" cy="274320"/>
          </a:xfrm>
          <a:prstGeom prst="ellipse">
            <a:avLst/>
          </a:prstGeom>
          <a:solidFill>
            <a:srgbClr val="87D895"/>
          </a:solidFill>
          <a:ln/>
        </p:spPr>
      </p:sp>
      <p:sp>
        <p:nvSpPr>
          <p:cNvPr id="36" name="Text 34"/>
          <p:cNvSpPr txBox="1"/>
          <p:nvPr/>
        </p:nvSpPr>
        <p:spPr>
          <a:xfrm>
            <a:off x="6208776"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6</a:t>
            </a:r>
            <a:endParaRPr lang="en-US" sz="1100" dirty="0"/>
          </a:p>
        </p:txBody>
      </p:sp>
      <p:sp>
        <p:nvSpPr>
          <p:cNvPr id="37" name="Text 35"/>
          <p:cNvSpPr txBox="1"/>
          <p:nvPr/>
        </p:nvSpPr>
        <p:spPr>
          <a:xfrm>
            <a:off x="6565392"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Lo demás relevante</a:t>
            </a:r>
            <a:endParaRPr lang="en-US" sz="1200" dirty="0"/>
          </a:p>
        </p:txBody>
      </p:sp>
      <p:sp>
        <p:nvSpPr>
          <p:cNvPr id="38" name="Text 36"/>
          <p:cNvSpPr txBox="1"/>
          <p:nvPr/>
        </p:nvSpPr>
        <p:spPr>
          <a:xfrm>
            <a:off x="6208776"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inciso f). Es su permiso para agregar lo que su giro necesite</a:t>
            </a:r>
            <a:endParaRPr lang="en-US" sz="950" dirty="0"/>
          </a:p>
        </p:txBody>
      </p:sp>
      <p:sp>
        <p:nvSpPr>
          <p:cNvPr id="39" name="Shape 37"/>
          <p:cNvSpPr/>
          <p:nvPr/>
        </p:nvSpPr>
        <p:spPr>
          <a:xfrm>
            <a:off x="502920" y="3977640"/>
            <a:ext cx="8138160" cy="640080"/>
          </a:xfrm>
          <a:prstGeom prst="roundRect">
            <a:avLst>
              <a:gd name="adj" fmla="val 8571"/>
            </a:avLst>
          </a:prstGeom>
          <a:solidFill>
            <a:srgbClr val="87D895"/>
          </a:solidFill>
          <a:ln/>
        </p:spPr>
      </p:sp>
      <p:sp>
        <p:nvSpPr>
          <p:cNvPr id="40" name="Text 3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Lo que agregue en el inciso f) sin explicar por qué, el auditor lo va a tratar como capricho. Documéntelo.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7</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EL DATO QUE NADIE TIENE</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perfil inicial no se calcula: se pregunta</a:t>
            </a:r>
            <a:endParaRPr lang="en-US" sz="2700" dirty="0"/>
          </a:p>
        </p:txBody>
      </p:sp>
      <p:sp>
        <p:nvSpPr>
          <p:cNvPr id="9" name="Shape 7"/>
          <p:cNvSpPr/>
          <p:nvPr/>
        </p:nvSpPr>
        <p:spPr>
          <a:xfrm>
            <a:off x="502920" y="1691640"/>
            <a:ext cx="54864" cy="1737360"/>
          </a:xfrm>
          <a:prstGeom prst="rect">
            <a:avLst/>
          </a:prstGeom>
          <a:solidFill>
            <a:srgbClr val="64C27B"/>
          </a:solidFill>
          <a:ln/>
        </p:spPr>
      </p:sp>
      <p:sp>
        <p:nvSpPr>
          <p:cNvPr id="10" name="Text 8"/>
          <p:cNvSpPr txBox="1"/>
          <p:nvPr/>
        </p:nvSpPr>
        <p:spPr>
          <a:xfrm>
            <a:off x="841248" y="1691640"/>
            <a:ext cx="7772400" cy="1737360"/>
          </a:xfrm>
          <a:prstGeom prst="rect">
            <a:avLst/>
          </a:prstGeom>
          <a:noFill/>
          <a:ln/>
        </p:spPr>
        <p:txBody>
          <a:bodyPr wrap="square" lIns="0" tIns="0" rIns="0" bIns="0" rtlCol="0" anchor="t"/>
          <a:lstStyle/>
          <a:p>
            <a:pPr indent="0" marL="0">
              <a:lnSpc>
                <a:spcPts val="3000"/>
              </a:lnSpc>
              <a:buNone/>
            </a:pPr>
            <a:r>
              <a:rPr lang="en-US" sz="2100" i="1" dirty="0">
                <a:solidFill>
                  <a:srgbClr val="1B1B1E"/>
                </a:solidFill>
                <a:latin typeface="Arial" pitchFamily="34" charset="0"/>
                <a:ea typeface="Arial" pitchFamily="34" charset="-122"/>
                <a:cs typeface="Arial" pitchFamily="34" charset="-120"/>
              </a:rPr>
              <a:t>«…la información que proporcione cada uno de sus Clientes o Usuarias en ese momento, relativa a los montos máximos mensuales de los actos u operaciones que los propios Clientes o Usuarias estimen realizar, para determinar su Perfil transaccional inicial…»</a:t>
            </a:r>
            <a:endParaRPr lang="en-US" sz="2100" dirty="0"/>
          </a:p>
        </p:txBody>
      </p:sp>
      <p:sp>
        <p:nvSpPr>
          <p:cNvPr id="11" name="Text 9"/>
          <p:cNvSpPr txBox="1"/>
          <p:nvPr/>
        </p:nvSpPr>
        <p:spPr>
          <a:xfrm>
            <a:off x="841248" y="3474720"/>
            <a:ext cx="7772400" cy="274320"/>
          </a:xfrm>
          <a:prstGeom prst="rect">
            <a:avLst/>
          </a:prstGeom>
          <a:noFill/>
          <a:ln/>
        </p:spPr>
        <p:txBody>
          <a:bodyPr wrap="square" lIns="0" tIns="0" rIns="0" bIns="0" rtlCol="0" anchor="ctr"/>
          <a:lstStyle/>
          <a:p>
            <a:pPr indent="0" marL="0">
              <a:buNone/>
            </a:pPr>
            <a:r>
              <a:rPr lang="en-US" sz="1100" b="1" dirty="0">
                <a:solidFill>
                  <a:srgbClr val="2E7D4F"/>
                </a:solidFill>
                <a:latin typeface="Arial" pitchFamily="34" charset="0"/>
                <a:ea typeface="Arial" pitchFamily="34" charset="-122"/>
                <a:cs typeface="Arial" pitchFamily="34" charset="-120"/>
              </a:rPr>
              <a:t>RCG 23 Ter 1, segundo párrafo</a:t>
            </a:r>
            <a:endParaRPr lang="en-US" sz="1100" dirty="0"/>
          </a:p>
        </p:txBody>
      </p:sp>
      <p:sp>
        <p:nvSpPr>
          <p:cNvPr id="12" name="Shape 10"/>
          <p:cNvSpPr/>
          <p:nvPr/>
        </p:nvSpPr>
        <p:spPr>
          <a:xfrm>
            <a:off x="502920" y="3977640"/>
            <a:ext cx="8138160" cy="640080"/>
          </a:xfrm>
          <a:prstGeom prst="roundRect">
            <a:avLst>
              <a:gd name="adj" fmla="val 8571"/>
            </a:avLst>
          </a:prstGeom>
          <a:solidFill>
            <a:srgbClr val="87D895"/>
          </a:solidFill>
          <a:ln/>
        </p:spPr>
      </p:sp>
      <p:sp>
        <p:nvSpPr>
          <p:cNvPr id="13" name="Text 11"/>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Y el mismo párrafo dice para qué: ese perfil inicial «deberá estar incluido en el sistema de alertas», para detectar la inconsistencia entre lo que el cliente dijo que iba a operar y lo que operó.</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8</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8</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23 TER · VA EN EL MANUAL</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 política de conocimiento del cliente</a:t>
            </a:r>
            <a:endParaRPr lang="en-US" sz="2700" dirty="0"/>
          </a:p>
        </p:txBody>
      </p:sp>
      <p:sp>
        <p:nvSpPr>
          <p:cNvPr id="9" name="Text 7"/>
          <p:cNvSpPr txBox="1"/>
          <p:nvPr/>
        </p:nvSpPr>
        <p:spPr>
          <a:xfrm>
            <a:off x="502920" y="1783080"/>
            <a:ext cx="8138160" cy="2651760"/>
          </a:xfrm>
          <a:prstGeom prst="rect">
            <a:avLst/>
          </a:prstGeom>
          <a:noFill/>
          <a:ln/>
        </p:spPr>
        <p:txBody>
          <a:bodyPr wrap="square" rtlCol="0" anchor="t"/>
          <a:lstStyle/>
          <a:p>
            <a:pPr marL="228600" indent="-228600">
              <a:lnSpc>
                <a:spcPts val="2000"/>
              </a:lnSpc>
              <a:spcAft>
                <a:spcPts val="900"/>
              </a:spcAft>
              <a:buSzPct val="100000"/>
              <a:buChar char="•"/>
            </a:pPr>
            <a:r>
              <a:rPr lang="en-US" sz="1400" dirty="0">
                <a:solidFill>
                  <a:srgbClr val="1B1B1E"/>
                </a:solidFill>
                <a:latin typeface="Arial" pitchFamily="34" charset="0"/>
                <a:ea typeface="Arial" pitchFamily="34" charset="-122"/>
                <a:cs typeface="Arial" pitchFamily="34" charset="-120"/>
              </a:rPr>
              <a:t>I. Políticas, criterios, medidas, procedimientos y controles para mitigar los riesgos, ajustados a los resultados de la metodología.</a:t>
            </a:r>
            <a:endParaRPr lang="en-US" sz="1400" dirty="0"/>
          </a:p>
          <a:p>
            <a:pPr marL="228600" indent="-228600">
              <a:lnSpc>
                <a:spcPts val="2000"/>
              </a:lnSpc>
              <a:spcAft>
                <a:spcPts val="900"/>
              </a:spcAft>
              <a:buSzPct val="100000"/>
              <a:buChar char="•"/>
            </a:pPr>
            <a:r>
              <a:rPr lang="en-US" sz="1400" dirty="0">
                <a:solidFill>
                  <a:srgbClr val="1B1B1E"/>
                </a:solidFill>
                <a:latin typeface="Arial" pitchFamily="34" charset="0"/>
                <a:ea typeface="Arial" pitchFamily="34" charset="-122"/>
                <a:cs typeface="Arial" pitchFamily="34" charset="-120"/>
              </a:rPr>
              <a:t>II. Procedimientos para dar seguimiento y monitorear los actos u operaciones.</a:t>
            </a:r>
            <a:endParaRPr lang="en-US" sz="1400" dirty="0"/>
          </a:p>
          <a:p>
            <a:pPr marL="228600" indent="-228600">
              <a:lnSpc>
                <a:spcPts val="2000"/>
              </a:lnSpc>
              <a:spcAft>
                <a:spcPts val="900"/>
              </a:spcAft>
              <a:buSzPct val="100000"/>
              <a:buChar char="•"/>
            </a:pPr>
            <a:r>
              <a:rPr lang="en-US" sz="1400" dirty="0">
                <a:solidFill>
                  <a:srgbClr val="1B1B1E"/>
                </a:solidFill>
                <a:latin typeface="Arial" pitchFamily="34" charset="0"/>
                <a:ea typeface="Arial" pitchFamily="34" charset="-122"/>
                <a:cs typeface="Arial" pitchFamily="34" charset="-120"/>
              </a:rPr>
              <a:t>III. Procedimientos para conocer el perfil transaccional de cada cliente.</a:t>
            </a:r>
            <a:endParaRPr lang="en-US" sz="1400" dirty="0"/>
          </a:p>
          <a:p>
            <a:pPr marL="228600" indent="-228600">
              <a:lnSpc>
                <a:spcPts val="2000"/>
              </a:lnSpc>
              <a:spcAft>
                <a:spcPts val="900"/>
              </a:spcAft>
              <a:buSzPct val="100000"/>
              <a:buChar char="•"/>
            </a:pPr>
            <a:r>
              <a:rPr lang="en-US" sz="1400" dirty="0">
                <a:solidFill>
                  <a:srgbClr val="1B1B1E"/>
                </a:solidFill>
                <a:latin typeface="Arial" pitchFamily="34" charset="0"/>
                <a:ea typeface="Arial" pitchFamily="34" charset="-122"/>
                <a:cs typeface="Arial" pitchFamily="34" charset="-120"/>
              </a:rPr>
              <a:t>IV. Los supuestos en que la operación se aparta del perfil y, si hay cambio significativo, los casos en que procede revisar y actualizar el expediente.</a:t>
            </a:r>
            <a:endParaRPr lang="en-US" sz="1400" dirty="0"/>
          </a:p>
          <a:p>
            <a:pPr marL="228600" indent="-228600">
              <a:lnSpc>
                <a:spcPts val="2000"/>
              </a:lnSpc>
              <a:spcAft>
                <a:spcPts val="900"/>
              </a:spcAft>
              <a:buSzPct val="100000"/>
              <a:buChar char="•"/>
            </a:pPr>
            <a:r>
              <a:rPr lang="en-US" sz="1400" dirty="0">
                <a:solidFill>
                  <a:srgbClr val="1B1B1E"/>
                </a:solidFill>
                <a:latin typeface="Arial" pitchFamily="34" charset="0"/>
                <a:ea typeface="Arial" pitchFamily="34" charset="-122"/>
                <a:cs typeface="Arial" pitchFamily="34" charset="-120"/>
              </a:rPr>
              <a:t>V. Criterios para establecer y modificar el grado de riesgo ya asignado.</a:t>
            </a:r>
            <a:endParaRPr lang="en-US" sz="1400" dirty="0"/>
          </a:p>
        </p:txBody>
      </p:sp>
      <p:sp>
        <p:nvSpPr>
          <p:cNvPr id="10" name="Shape 8"/>
          <p:cNvSpPr/>
          <p:nvPr/>
        </p:nvSpPr>
        <p:spPr>
          <a:xfrm>
            <a:off x="502920" y="3977640"/>
            <a:ext cx="8138160" cy="640080"/>
          </a:xfrm>
          <a:prstGeom prst="roundRect">
            <a:avLst>
              <a:gd name="adj" fmla="val 8571"/>
            </a:avLst>
          </a:prstGeom>
          <a:solidFill>
            <a:srgbClr val="87D895"/>
          </a:solidFill>
          <a:ln/>
        </p:spPr>
      </p:sp>
      <p:sp>
        <p:nvSpPr>
          <p:cNvPr id="11" name="Text 9"/>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La alerta no siempre termina en aviso. A veces termina en que hay que volver a abrir el expediente.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1E"/>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2E7D4F"/>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8C9A90"/>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64C27B"/>
                </a:solidFill>
                <a:latin typeface="Arial" pitchFamily="34" charset="0"/>
                <a:ea typeface="Arial" pitchFamily="34" charset="-122"/>
                <a:cs typeface="Arial" pitchFamily="34" charset="-120"/>
              </a:rPr>
              <a:t>9</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64C27B"/>
                </a:solidFill>
                <a:latin typeface="Arial" pitchFamily="34" charset="0"/>
                <a:ea typeface="Arial" pitchFamily="34" charset="-122"/>
                <a:cs typeface="Arial" pitchFamily="34" charset="-120"/>
              </a:rPr>
              <a:t>EJERCICIO 1 · SIETE MINUTOS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Defina el perfil de un cliente suyo</a:t>
            </a:r>
            <a:endParaRPr lang="en-US" sz="2700" dirty="0"/>
          </a:p>
        </p:txBody>
      </p:sp>
      <p:sp>
        <p:nvSpPr>
          <p:cNvPr id="9" name="Text 7"/>
          <p:cNvSpPr txBox="1"/>
          <p:nvPr/>
        </p:nvSpPr>
        <p:spPr>
          <a:xfrm>
            <a:off x="502920" y="1920240"/>
            <a:ext cx="8138160" cy="1920240"/>
          </a:xfrm>
          <a:prstGeom prst="rect">
            <a:avLst/>
          </a:prstGeom>
          <a:noFill/>
          <a:ln/>
        </p:spPr>
        <p:txBody>
          <a:bodyPr wrap="square" rtlCol="0" anchor="ctr"/>
          <a:lstStyle/>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Abra la hoja «Perfil transaccional» del archivo de hoy.</a:t>
            </a:r>
            <a:endParaRPr lang="en-US" sz="1600" dirty="0"/>
          </a:p>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Un solo cliente, con nombre en su cabeza. No el promedio de su cartera.</a:t>
            </a:r>
            <a:endParaRPr lang="en-US" sz="1600" dirty="0"/>
          </a:p>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Conteste los seis elementos.</a:t>
            </a:r>
            <a:endParaRPr lang="en-US" sz="1600" dirty="0"/>
          </a:p>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Si en alguno tiene que inventar, marque la celda: ése es el dato que no le preguntó en el alta.</a:t>
            </a:r>
            <a:endParaRPr lang="en-US" sz="1600" dirty="0"/>
          </a:p>
        </p:txBody>
      </p:sp>
      <p:sp>
        <p:nvSpPr>
          <p:cNvPr id="10" name="Shape 8"/>
          <p:cNvSpPr/>
          <p:nvPr/>
        </p:nvSpPr>
        <p:spPr>
          <a:xfrm>
            <a:off x="502920" y="3931920"/>
            <a:ext cx="8138160" cy="603504"/>
          </a:xfrm>
          <a:prstGeom prst="roundRect">
            <a:avLst>
              <a:gd name="adj" fmla="val 9091"/>
            </a:avLst>
          </a:prstGeom>
          <a:solidFill>
            <a:srgbClr val="2E7D4F"/>
          </a:solidFill>
          <a:ln/>
        </p:spPr>
      </p:sp>
      <p:sp>
        <p:nvSpPr>
          <p:cNvPr id="11" name="Text 9"/>
          <p:cNvSpPr txBox="1"/>
          <p:nvPr/>
        </p:nvSpPr>
        <p:spPr>
          <a:xfrm>
            <a:off x="731520" y="3950208"/>
            <a:ext cx="7680960" cy="56692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 final, en el chat: ¿cuántos elementos tuvo que inventar? Ése es el número que se lleva.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10</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MONITOREO · 27 a 42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¿Tengo que comprar un sistema?</a:t>
            </a:r>
            <a:endParaRPr lang="en-US" sz="2700" dirty="0"/>
          </a:p>
        </p:txBody>
      </p:sp>
      <p:sp>
        <p:nvSpPr>
          <p:cNvPr id="9" name="Shape 7"/>
          <p:cNvSpPr/>
          <p:nvPr/>
        </p:nvSpPr>
        <p:spPr>
          <a:xfrm>
            <a:off x="502920" y="1645920"/>
            <a:ext cx="54864" cy="1737360"/>
          </a:xfrm>
          <a:prstGeom prst="rect">
            <a:avLst/>
          </a:prstGeom>
          <a:solidFill>
            <a:srgbClr val="64C27B"/>
          </a:solidFill>
          <a:ln/>
        </p:spPr>
      </p:sp>
      <p:sp>
        <p:nvSpPr>
          <p:cNvPr id="10" name="Text 8"/>
          <p:cNvSpPr txBox="1"/>
          <p:nvPr/>
        </p:nvSpPr>
        <p:spPr>
          <a:xfrm>
            <a:off x="841248" y="1645920"/>
            <a:ext cx="7772400" cy="1737360"/>
          </a:xfrm>
          <a:prstGeom prst="rect">
            <a:avLst/>
          </a:prstGeom>
          <a:noFill/>
          <a:ln/>
        </p:spPr>
        <p:txBody>
          <a:bodyPr wrap="square" lIns="0" tIns="0" rIns="0" bIns="0" rtlCol="0" anchor="t"/>
          <a:lstStyle/>
          <a:p>
            <a:pPr indent="0" marL="0">
              <a:lnSpc>
                <a:spcPts val="3000"/>
              </a:lnSpc>
              <a:buNone/>
            </a:pPr>
            <a:r>
              <a:rPr lang="en-US" sz="2100" i="1" dirty="0">
                <a:solidFill>
                  <a:srgbClr val="1B1B1E"/>
                </a:solidFill>
                <a:latin typeface="Arial" pitchFamily="34" charset="0"/>
                <a:ea typeface="Arial" pitchFamily="34" charset="-122"/>
                <a:cs typeface="Arial" pitchFamily="34" charset="-120"/>
              </a:rPr>
              <a:t>«No tiene que comprar un sistema. Sí tiene que tener un mecanismo. Y la hoja de cálculo cuenta.»</a:t>
            </a:r>
            <a:endParaRPr lang="en-US" sz="2100" dirty="0"/>
          </a:p>
        </p:txBody>
      </p:sp>
      <p:sp>
        <p:nvSpPr>
          <p:cNvPr id="11" name="Text 9"/>
          <p:cNvSpPr txBox="1"/>
          <p:nvPr/>
        </p:nvSpPr>
        <p:spPr>
          <a:xfrm>
            <a:off x="841248" y="2788920"/>
            <a:ext cx="7772400" cy="1005840"/>
          </a:xfrm>
          <a:prstGeom prst="rect">
            <a:avLst/>
          </a:prstGeom>
          <a:noFill/>
          <a:ln/>
        </p:spPr>
        <p:txBody>
          <a:bodyPr wrap="square" lIns="0" tIns="0" rIns="0" bIns="0" rtlCol="0" anchor="ctr"/>
          <a:lstStyle/>
          <a:p>
            <a:pPr indent="0" marL="0">
              <a:buNone/>
            </a:pPr>
            <a:r>
              <a:rPr lang="en-US" sz="1150" i="1" dirty="0">
                <a:solidFill>
                  <a:srgbClr val="4D4D4D"/>
                </a:solidFill>
                <a:latin typeface="Arial" pitchFamily="34" charset="0"/>
                <a:ea typeface="Arial" pitchFamily="34" charset="-122"/>
                <a:cs typeface="Arial" pitchFamily="34" charset="-120"/>
              </a:rPr>
              <a:t>«…que pueden incluir desde sistemas informáticos especializados hasta procesos automatizados apoyados en hojas de cálculo, bases de datos u otros medios equivalentes, siempre que sus funciones cumplan con lo previsto en el artículo 41 de estas reglas y sea verificable ante la autoridad competente.»</a:t>
            </a:r>
            <a:endParaRPr lang="en-US" sz="1150" dirty="0"/>
          </a:p>
        </p:txBody>
      </p:sp>
      <p:sp>
        <p:nvSpPr>
          <p:cNvPr id="12" name="Shape 10"/>
          <p:cNvSpPr/>
          <p:nvPr/>
        </p:nvSpPr>
        <p:spPr>
          <a:xfrm>
            <a:off x="502920" y="3977640"/>
            <a:ext cx="8138160" cy="640080"/>
          </a:xfrm>
          <a:prstGeom prst="roundRect">
            <a:avLst>
              <a:gd name="adj" fmla="val 8571"/>
            </a:avLst>
          </a:prstGeom>
          <a:solidFill>
            <a:srgbClr val="87D895"/>
          </a:solidFill>
          <a:ln/>
        </p:spPr>
      </p:sp>
      <p:sp>
        <p:nvSpPr>
          <p:cNvPr id="13" name="Text 11"/>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No hay exención por tamaño ni por grado de riesgo. Hay proporcionalidad, que no es lo mismo. · RCG 3 fr. XI Ter y RCG 41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11</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41</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Las seis funciones del mecanismo</a:t>
            </a:r>
            <a:endParaRPr lang="en-US" sz="2700" dirty="0"/>
          </a:p>
        </p:txBody>
      </p:sp>
      <p:sp>
        <p:nvSpPr>
          <p:cNvPr id="9" name="Shape 7"/>
          <p:cNvSpPr/>
          <p:nvPr/>
        </p:nvSpPr>
        <p:spPr>
          <a:xfrm>
            <a:off x="502920" y="178308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29384"/>
            <a:ext cx="274320" cy="274320"/>
          </a:xfrm>
          <a:prstGeom prst="ellipse">
            <a:avLst/>
          </a:prstGeom>
          <a:solidFill>
            <a:srgbClr val="87D895"/>
          </a:solidFill>
          <a:ln/>
        </p:spPr>
      </p:sp>
      <p:sp>
        <p:nvSpPr>
          <p:cNvPr id="11" name="Text 9"/>
          <p:cNvSpPr txBox="1"/>
          <p:nvPr/>
        </p:nvSpPr>
        <p:spPr>
          <a:xfrm>
            <a:off x="649224"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I · Expediente</a:t>
            </a:r>
            <a:endParaRPr lang="en-US" sz="1200" dirty="0"/>
          </a:p>
        </p:txBody>
      </p:sp>
      <p:sp>
        <p:nvSpPr>
          <p:cNvPr id="13" name="Text 11"/>
          <p:cNvSpPr txBox="1"/>
          <p:nvPr/>
        </p:nvSpPr>
        <p:spPr>
          <a:xfrm>
            <a:off x="649224"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Conservar, actualizar y permitir la consulta de los datos del expediente único de cada cliente</a:t>
            </a:r>
            <a:endParaRPr lang="en-US" sz="950" dirty="0"/>
          </a:p>
        </p:txBody>
      </p:sp>
      <p:sp>
        <p:nvSpPr>
          <p:cNvPr id="14" name="Shape 12"/>
          <p:cNvSpPr/>
          <p:nvPr/>
        </p:nvSpPr>
        <p:spPr>
          <a:xfrm>
            <a:off x="3282696" y="178308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1929384"/>
            <a:ext cx="274320" cy="274320"/>
          </a:xfrm>
          <a:prstGeom prst="ellipse">
            <a:avLst/>
          </a:prstGeom>
          <a:solidFill>
            <a:srgbClr val="87D895"/>
          </a:solidFill>
          <a:ln/>
        </p:spPr>
      </p:sp>
      <p:sp>
        <p:nvSpPr>
          <p:cNvPr id="16" name="Text 14"/>
          <p:cNvSpPr txBox="1"/>
          <p:nvPr/>
        </p:nvSpPr>
        <p:spPr>
          <a:xfrm>
            <a:off x="3429000"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II · Base consolidada</a:t>
            </a:r>
            <a:endParaRPr lang="en-US" sz="1200" dirty="0"/>
          </a:p>
        </p:txBody>
      </p:sp>
      <p:sp>
        <p:nvSpPr>
          <p:cNvPr id="18" name="Text 16"/>
          <p:cNvSpPr txBox="1"/>
          <p:nvPr/>
        </p:nvSpPr>
        <p:spPr>
          <a:xfrm>
            <a:off x="3429000"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Agrupar lo del mismo cliente para ver lo que se aparta del perfil y para acumular</a:t>
            </a:r>
            <a:endParaRPr lang="en-US" sz="950" dirty="0"/>
          </a:p>
        </p:txBody>
      </p:sp>
      <p:sp>
        <p:nvSpPr>
          <p:cNvPr id="19" name="Shape 17"/>
          <p:cNvSpPr/>
          <p:nvPr/>
        </p:nvSpPr>
        <p:spPr>
          <a:xfrm>
            <a:off x="6062472" y="178308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1929384"/>
            <a:ext cx="274320" cy="274320"/>
          </a:xfrm>
          <a:prstGeom prst="ellipse">
            <a:avLst/>
          </a:prstGeom>
          <a:solidFill>
            <a:srgbClr val="87D895"/>
          </a:solidFill>
          <a:ln/>
        </p:spPr>
      </p:sp>
      <p:sp>
        <p:nvSpPr>
          <p:cNvPr id="21" name="Text 19"/>
          <p:cNvSpPr txBox="1"/>
          <p:nvPr/>
        </p:nvSpPr>
        <p:spPr>
          <a:xfrm>
            <a:off x="6208776"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III · Metodología</a:t>
            </a:r>
            <a:endParaRPr lang="en-US" sz="1200" dirty="0"/>
          </a:p>
        </p:txBody>
      </p:sp>
      <p:sp>
        <p:nvSpPr>
          <p:cNvPr id="23" name="Text 21"/>
          <p:cNvSpPr txBox="1"/>
          <p:nvPr/>
        </p:nvSpPr>
        <p:spPr>
          <a:xfrm>
            <a:off x="6208776"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Proveer la información que alimenta la metodología del Capítulo II Quáter</a:t>
            </a:r>
            <a:endParaRPr lang="en-US" sz="950" dirty="0"/>
          </a:p>
        </p:txBody>
      </p:sp>
      <p:sp>
        <p:nvSpPr>
          <p:cNvPr id="24" name="Shape 22"/>
          <p:cNvSpPr/>
          <p:nvPr/>
        </p:nvSpPr>
        <p:spPr>
          <a:xfrm>
            <a:off x="502920" y="3264408"/>
            <a:ext cx="2578608" cy="1335024"/>
          </a:xfrm>
          <a:prstGeom prst="roundRect">
            <a:avLst>
              <a:gd name="adj" fmla="val 4110"/>
            </a:avLst>
          </a:prstGeom>
          <a:solidFill>
            <a:srgbClr val="FFFFFF"/>
          </a:solidFill>
          <a:ln w="9525">
            <a:solidFill>
              <a:srgbClr val="DCE6DE"/>
            </a:solidFill>
            <a:prstDash val="solid"/>
          </a:ln>
        </p:spPr>
      </p:sp>
      <p:sp>
        <p:nvSpPr>
          <p:cNvPr id="25" name="Shape 23"/>
          <p:cNvSpPr/>
          <p:nvPr/>
        </p:nvSpPr>
        <p:spPr>
          <a:xfrm>
            <a:off x="649224" y="3410712"/>
            <a:ext cx="274320" cy="274320"/>
          </a:xfrm>
          <a:prstGeom prst="ellipse">
            <a:avLst/>
          </a:prstGeom>
          <a:solidFill>
            <a:srgbClr val="87D895"/>
          </a:solidFill>
          <a:ln/>
        </p:spPr>
      </p:sp>
      <p:sp>
        <p:nvSpPr>
          <p:cNvPr id="26" name="Text 24"/>
          <p:cNvSpPr txBox="1"/>
          <p:nvPr/>
        </p:nvSpPr>
        <p:spPr>
          <a:xfrm>
            <a:off x="649224"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1005840"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IV · Ejecutar el modelo</a:t>
            </a:r>
            <a:endParaRPr lang="en-US" sz="1200" dirty="0"/>
          </a:p>
        </p:txBody>
      </p:sp>
      <p:sp>
        <p:nvSpPr>
          <p:cNvPr id="28" name="Text 26"/>
          <p:cNvSpPr txBox="1"/>
          <p:nvPr/>
        </p:nvSpPr>
        <p:spPr>
          <a:xfrm>
            <a:off x="649224"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Ejecutar —no consultar— el modelo de riesgos y guardar histórico diez años</a:t>
            </a:r>
            <a:endParaRPr lang="en-US" sz="950" dirty="0"/>
          </a:p>
        </p:txBody>
      </p:sp>
      <p:sp>
        <p:nvSpPr>
          <p:cNvPr id="29" name="Shape 27"/>
          <p:cNvSpPr/>
          <p:nvPr/>
        </p:nvSpPr>
        <p:spPr>
          <a:xfrm>
            <a:off x="3282696" y="3264408"/>
            <a:ext cx="2578608" cy="1335024"/>
          </a:xfrm>
          <a:prstGeom prst="roundRect">
            <a:avLst>
              <a:gd name="adj" fmla="val 4110"/>
            </a:avLst>
          </a:prstGeom>
          <a:solidFill>
            <a:srgbClr val="FFFFFF"/>
          </a:solidFill>
          <a:ln w="9525">
            <a:solidFill>
              <a:srgbClr val="DCE6DE"/>
            </a:solidFill>
            <a:prstDash val="solid"/>
          </a:ln>
        </p:spPr>
      </p:sp>
      <p:sp>
        <p:nvSpPr>
          <p:cNvPr id="30" name="Shape 28"/>
          <p:cNvSpPr/>
          <p:nvPr/>
        </p:nvSpPr>
        <p:spPr>
          <a:xfrm>
            <a:off x="3429000" y="3410712"/>
            <a:ext cx="274320" cy="274320"/>
          </a:xfrm>
          <a:prstGeom prst="ellipse">
            <a:avLst/>
          </a:prstGeom>
          <a:solidFill>
            <a:srgbClr val="87D895"/>
          </a:solidFill>
          <a:ln/>
        </p:spPr>
      </p:sp>
      <p:sp>
        <p:nvSpPr>
          <p:cNvPr id="31" name="Text 29"/>
          <p:cNvSpPr txBox="1"/>
          <p:nvPr/>
        </p:nvSpPr>
        <p:spPr>
          <a:xfrm>
            <a:off x="3429000"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3785616"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V · Alertas</a:t>
            </a:r>
            <a:endParaRPr lang="en-US" sz="1200" dirty="0"/>
          </a:p>
        </p:txBody>
      </p:sp>
      <p:sp>
        <p:nvSpPr>
          <p:cNvPr id="33" name="Text 31"/>
          <p:cNvSpPr txBox="1"/>
          <p:nvPr/>
        </p:nvSpPr>
        <p:spPr>
          <a:xfrm>
            <a:off x="3429000"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Alertar en riesgo alto, PEP, listas del artículo 38 y jurisdicciones señaladas</a:t>
            </a:r>
            <a:endParaRPr lang="en-US" sz="950" dirty="0"/>
          </a:p>
        </p:txBody>
      </p:sp>
      <p:sp>
        <p:nvSpPr>
          <p:cNvPr id="34" name="Shape 32"/>
          <p:cNvSpPr/>
          <p:nvPr/>
        </p:nvSpPr>
        <p:spPr>
          <a:xfrm>
            <a:off x="6062472" y="3264408"/>
            <a:ext cx="2578608" cy="1335024"/>
          </a:xfrm>
          <a:prstGeom prst="roundRect">
            <a:avLst>
              <a:gd name="adj" fmla="val 4110"/>
            </a:avLst>
          </a:prstGeom>
          <a:solidFill>
            <a:srgbClr val="FFFFFF"/>
          </a:solidFill>
          <a:ln w="9525">
            <a:solidFill>
              <a:srgbClr val="DCE6DE"/>
            </a:solidFill>
            <a:prstDash val="solid"/>
          </a:ln>
        </p:spPr>
      </p:sp>
      <p:sp>
        <p:nvSpPr>
          <p:cNvPr id="35" name="Shape 33"/>
          <p:cNvSpPr/>
          <p:nvPr/>
        </p:nvSpPr>
        <p:spPr>
          <a:xfrm>
            <a:off x="6208776" y="3410712"/>
            <a:ext cx="274320" cy="274320"/>
          </a:xfrm>
          <a:prstGeom prst="ellipse">
            <a:avLst/>
          </a:prstGeom>
          <a:solidFill>
            <a:srgbClr val="87D895"/>
          </a:solidFill>
          <a:ln/>
        </p:spPr>
      </p:sp>
      <p:sp>
        <p:nvSpPr>
          <p:cNvPr id="36" name="Text 34"/>
          <p:cNvSpPr txBox="1"/>
          <p:nvPr/>
        </p:nvSpPr>
        <p:spPr>
          <a:xfrm>
            <a:off x="6208776"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6</a:t>
            </a:r>
            <a:endParaRPr lang="en-US" sz="1100" dirty="0"/>
          </a:p>
        </p:txBody>
      </p:sp>
      <p:sp>
        <p:nvSpPr>
          <p:cNvPr id="37" name="Text 35"/>
          <p:cNvSpPr txBox="1"/>
          <p:nvPr/>
        </p:nvSpPr>
        <p:spPr>
          <a:xfrm>
            <a:off x="6565392"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VI · Efectivo</a:t>
            </a:r>
            <a:endParaRPr lang="en-US" sz="1200" dirty="0"/>
          </a:p>
        </p:txBody>
      </p:sp>
      <p:sp>
        <p:nvSpPr>
          <p:cNvPr id="38" name="Text 36"/>
          <p:cNvSpPr txBox="1"/>
          <p:nvPr/>
        </p:nvSpPr>
        <p:spPr>
          <a:xfrm>
            <a:off x="6208776"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Monitorear el uso de efectivo y metales preciosos del artículo 32</a:t>
            </a:r>
            <a:endParaRPr lang="en-US" sz="950" dirty="0"/>
          </a:p>
        </p:txBody>
      </p:sp>
      <p:sp>
        <p:nvSpPr>
          <p:cNvPr id="39" name="Shape 37"/>
          <p:cNvSpPr/>
          <p:nvPr/>
        </p:nvSpPr>
        <p:spPr>
          <a:xfrm>
            <a:off x="502920" y="3977640"/>
            <a:ext cx="8138160" cy="640080"/>
          </a:xfrm>
          <a:prstGeom prst="roundRect">
            <a:avLst>
              <a:gd name="adj" fmla="val 8571"/>
            </a:avLst>
          </a:prstGeom>
          <a:solidFill>
            <a:srgbClr val="87D895"/>
          </a:solidFill>
          <a:ln/>
        </p:spPr>
      </p:sp>
      <p:sp>
        <p:nvSpPr>
          <p:cNvPr id="40" name="Text 3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Esto no es una lista de deseos: es la especificación funcional de lo que su herramienta tiene que poder hacer.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12</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10 SEPTIES 2 fr. I</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 que el auditor va a cruzar</a:t>
            </a:r>
            <a:endParaRPr lang="en-US" sz="2700" dirty="0"/>
          </a:p>
        </p:txBody>
      </p:sp>
      <p:sp>
        <p:nvSpPr>
          <p:cNvPr id="9" name="Shape 7"/>
          <p:cNvSpPr/>
          <p:nvPr/>
        </p:nvSpPr>
        <p:spPr>
          <a:xfrm>
            <a:off x="502920" y="1691640"/>
            <a:ext cx="54864" cy="1737360"/>
          </a:xfrm>
          <a:prstGeom prst="rect">
            <a:avLst/>
          </a:prstGeom>
          <a:solidFill>
            <a:srgbClr val="64C27B"/>
          </a:solidFill>
          <a:ln/>
        </p:spPr>
      </p:sp>
      <p:sp>
        <p:nvSpPr>
          <p:cNvPr id="10" name="Text 8"/>
          <p:cNvSpPr txBox="1"/>
          <p:nvPr/>
        </p:nvSpPr>
        <p:spPr>
          <a:xfrm>
            <a:off x="841248" y="1691640"/>
            <a:ext cx="7772400" cy="1737360"/>
          </a:xfrm>
          <a:prstGeom prst="rect">
            <a:avLst/>
          </a:prstGeom>
          <a:noFill/>
          <a:ln/>
        </p:spPr>
        <p:txBody>
          <a:bodyPr wrap="square" lIns="0" tIns="0" rIns="0" bIns="0" rtlCol="0" anchor="t"/>
          <a:lstStyle/>
          <a:p>
            <a:pPr indent="0" marL="0">
              <a:lnSpc>
                <a:spcPts val="3000"/>
              </a:lnSpc>
              <a:buNone/>
            </a:pPr>
            <a:r>
              <a:rPr lang="en-US" sz="2100" i="1" dirty="0">
                <a:solidFill>
                  <a:srgbClr val="1B1B1E"/>
                </a:solidFill>
                <a:latin typeface="Arial" pitchFamily="34" charset="0"/>
                <a:ea typeface="Arial" pitchFamily="34" charset="-122"/>
                <a:cs typeface="Arial" pitchFamily="34" charset="-120"/>
              </a:rPr>
              <a:t>«…asegurarse de que no existan inconsistencias entre la información que incorporen a ésta y la que obre en sus mecanismos automatizados previstos en el artículo 18, fracción X de la Ley.»</a:t>
            </a:r>
            <a:endParaRPr lang="en-US" sz="2100" dirty="0"/>
          </a:p>
        </p:txBody>
      </p:sp>
      <p:sp>
        <p:nvSpPr>
          <p:cNvPr id="11" name="Text 9"/>
          <p:cNvSpPr txBox="1"/>
          <p:nvPr/>
        </p:nvSpPr>
        <p:spPr>
          <a:xfrm>
            <a:off x="841248" y="3474720"/>
            <a:ext cx="7772400" cy="274320"/>
          </a:xfrm>
          <a:prstGeom prst="rect">
            <a:avLst/>
          </a:prstGeom>
          <a:noFill/>
          <a:ln/>
        </p:spPr>
        <p:txBody>
          <a:bodyPr wrap="square" lIns="0" tIns="0" rIns="0" bIns="0" rtlCol="0" anchor="ctr"/>
          <a:lstStyle/>
          <a:p>
            <a:pPr indent="0" marL="0">
              <a:buNone/>
            </a:pPr>
            <a:r>
              <a:rPr lang="en-US" sz="1100" b="1" dirty="0">
                <a:solidFill>
                  <a:srgbClr val="2E7D4F"/>
                </a:solidFill>
                <a:latin typeface="Arial" pitchFamily="34" charset="0"/>
                <a:ea typeface="Arial" pitchFamily="34" charset="-122"/>
                <a:cs typeface="Arial" pitchFamily="34" charset="-120"/>
              </a:rPr>
              <a:t>RCG 10 Septies 2, fracción I</a:t>
            </a:r>
            <a:endParaRPr lang="en-US" sz="1100" dirty="0"/>
          </a:p>
        </p:txBody>
      </p:sp>
      <p:sp>
        <p:nvSpPr>
          <p:cNvPr id="12" name="Shape 10"/>
          <p:cNvSpPr/>
          <p:nvPr/>
        </p:nvSpPr>
        <p:spPr>
          <a:xfrm>
            <a:off x="502920" y="4023360"/>
            <a:ext cx="8138160" cy="640080"/>
          </a:xfrm>
          <a:prstGeom prst="roundRect">
            <a:avLst>
              <a:gd name="adj" fmla="val 8571"/>
            </a:avLst>
          </a:prstGeom>
          <a:solidFill>
            <a:srgbClr val="87D895"/>
          </a:solidFill>
          <a:ln/>
        </p:spPr>
      </p:sp>
      <p:sp>
        <p:nvSpPr>
          <p:cNvPr id="13" name="Text 11"/>
          <p:cNvSpPr txBox="1"/>
          <p:nvPr/>
        </p:nvSpPr>
        <p:spPr>
          <a:xfrm>
            <a:off x="731520" y="404164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Es una instrucción al auditor disfrazada de obligación para usted. Cuadrar hoy es gratis; en 2029, no.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13</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LA DEUDA DE LA SESIÓN 3</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Seguimiento intensificado y diligencia reforzada</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1828800"/>
                <a:gridCol w="6309360"/>
              </a:tblGrid>
              <a:tr h="0">
                <a:tc>
                  <a:txBody>
                    <a:bodyPr/>
                    <a:lstStyle/>
                    <a:p>
                      <a:pPr indent="0" marL="0">
                        <a:buNone/>
                      </a:pPr>
                      <a:r>
                        <a:rPr lang="en-US" sz="1050" b="1" dirty="0">
                          <a:solidFill>
                            <a:srgbClr val="1B1B1E"/>
                          </a:solidFill>
                          <a:latin typeface="Arial" pitchFamily="34" charset="0"/>
                          <a:ea typeface="Arial" pitchFamily="34" charset="-122"/>
                          <a:cs typeface="Arial" pitchFamily="34" charset="-120"/>
                        </a:rPr>
                        <a:t>Precepto</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50" b="1" dirty="0">
                          <a:solidFill>
                            <a:srgbClr val="1B1B1E"/>
                          </a:solidFill>
                          <a:latin typeface="Arial" pitchFamily="34" charset="0"/>
                          <a:ea typeface="Arial" pitchFamily="34" charset="-122"/>
                          <a:cs typeface="Arial" pitchFamily="34" charset="-120"/>
                        </a:rPr>
                        <a:t>Qué exige para el cliente de Grado de Riesgo alto</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RCG 23 Ter 3</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Más información sobre su actividad preponderante · revisión y monitoreo más estricto · cuestionario sobre origen y destino de los recursos. Puede ser remoto, pero con Firma Electrónica de quien lo suscribe</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RCG 23 Ter 4 fr. I</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Persona física: medidas reforzadas de origen y destino y, en su caso, datos de cónyuge, dependientes económicos y sociedades con vínculo patrimonial</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RCG 23 Ter 4 fr. II</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Persona moral: más información de accionistas o socios, y consulta obligatoria a los registros electrónicos de la Secretaría de Economía</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RCG 23 Ter 4 fr. III</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Persona Políticamente Expuesta extranjera: además, la documentación del Capítulo III</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«deberán consultar» de la fracción II no es opcional. Y el cuestionario remoto sin Firma Electrónica no acredita nada.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14</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DECISIÓN PRÁCTICA</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Tres preguntas para elegir herramienta</a:t>
            </a:r>
            <a:endParaRPr lang="en-US" sz="2700" dirty="0"/>
          </a:p>
        </p:txBody>
      </p:sp>
      <p:sp>
        <p:nvSpPr>
          <p:cNvPr id="9" name="Shape 7"/>
          <p:cNvSpPr/>
          <p:nvPr/>
        </p:nvSpPr>
        <p:spPr>
          <a:xfrm>
            <a:off x="502920" y="196596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2112264"/>
            <a:ext cx="274320" cy="274320"/>
          </a:xfrm>
          <a:prstGeom prst="ellipse">
            <a:avLst/>
          </a:prstGeom>
          <a:solidFill>
            <a:srgbClr val="87D895"/>
          </a:solidFill>
          <a:ln/>
        </p:spPr>
      </p:sp>
      <p:sp>
        <p:nvSpPr>
          <p:cNvPr id="11" name="Text 9"/>
          <p:cNvSpPr txBox="1"/>
          <p:nvPr/>
        </p:nvSpPr>
        <p:spPr>
          <a:xfrm>
            <a:off x="649224" y="211226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209397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¿Cuántos clientes activos tiene?</a:t>
            </a:r>
            <a:endParaRPr lang="en-US" sz="1200" dirty="0"/>
          </a:p>
        </p:txBody>
      </p:sp>
      <p:sp>
        <p:nvSpPr>
          <p:cNvPr id="13" name="Text 11"/>
          <p:cNvSpPr txBox="1"/>
          <p:nvPr/>
        </p:nvSpPr>
        <p:spPr>
          <a:xfrm>
            <a:off x="649224" y="245973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No cuántos ha tenido: cuántos están vivos hoy</a:t>
            </a:r>
            <a:endParaRPr lang="en-US" sz="950" dirty="0"/>
          </a:p>
        </p:txBody>
      </p:sp>
      <p:sp>
        <p:nvSpPr>
          <p:cNvPr id="14" name="Shape 12"/>
          <p:cNvSpPr/>
          <p:nvPr/>
        </p:nvSpPr>
        <p:spPr>
          <a:xfrm>
            <a:off x="3282696" y="196596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2112264"/>
            <a:ext cx="274320" cy="274320"/>
          </a:xfrm>
          <a:prstGeom prst="ellipse">
            <a:avLst/>
          </a:prstGeom>
          <a:solidFill>
            <a:srgbClr val="87D895"/>
          </a:solidFill>
          <a:ln/>
        </p:spPr>
      </p:sp>
      <p:sp>
        <p:nvSpPr>
          <p:cNvPr id="16" name="Text 14"/>
          <p:cNvSpPr txBox="1"/>
          <p:nvPr/>
        </p:nvSpPr>
        <p:spPr>
          <a:xfrm>
            <a:off x="3429000" y="211226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209397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¿Cuántas operaciones al mes?</a:t>
            </a:r>
            <a:endParaRPr lang="en-US" sz="1200" dirty="0"/>
          </a:p>
        </p:txBody>
      </p:sp>
      <p:sp>
        <p:nvSpPr>
          <p:cNvPr id="18" name="Text 16"/>
          <p:cNvSpPr txBox="1"/>
          <p:nvPr/>
        </p:nvSpPr>
        <p:spPr>
          <a:xfrm>
            <a:off x="3429000" y="245973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Contando las que no llegan al umbral, que también se acumulan</a:t>
            </a:r>
            <a:endParaRPr lang="en-US" sz="950" dirty="0"/>
          </a:p>
        </p:txBody>
      </p:sp>
      <p:sp>
        <p:nvSpPr>
          <p:cNvPr id="19" name="Shape 17"/>
          <p:cNvSpPr/>
          <p:nvPr/>
        </p:nvSpPr>
        <p:spPr>
          <a:xfrm>
            <a:off x="6062472" y="196596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2112264"/>
            <a:ext cx="274320" cy="274320"/>
          </a:xfrm>
          <a:prstGeom prst="ellipse">
            <a:avLst/>
          </a:prstGeom>
          <a:solidFill>
            <a:srgbClr val="87D895"/>
          </a:solidFill>
          <a:ln/>
        </p:spPr>
      </p:sp>
      <p:sp>
        <p:nvSpPr>
          <p:cNvPr id="21" name="Text 19"/>
          <p:cNvSpPr txBox="1"/>
          <p:nvPr/>
        </p:nvSpPr>
        <p:spPr>
          <a:xfrm>
            <a:off x="6208776" y="211226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209397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¿Puede exportar por cliente y por periodo?</a:t>
            </a:r>
            <a:endParaRPr lang="en-US" sz="1200" dirty="0"/>
          </a:p>
        </p:txBody>
      </p:sp>
      <p:sp>
        <p:nvSpPr>
          <p:cNvPr id="23" name="Text 21"/>
          <p:cNvSpPr txBox="1"/>
          <p:nvPr/>
        </p:nvSpPr>
        <p:spPr>
          <a:xfrm>
            <a:off x="6208776" y="245973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Si su sistema actual no puede, el Excel tampoco lo va a salvar</a:t>
            </a:r>
            <a:endParaRPr lang="en-US" sz="950" dirty="0"/>
          </a:p>
        </p:txBody>
      </p:sp>
      <p:sp>
        <p:nvSpPr>
          <p:cNvPr id="24" name="Shape 22"/>
          <p:cNvSpPr/>
          <p:nvPr/>
        </p:nvSpPr>
        <p:spPr>
          <a:xfrm>
            <a:off x="502920" y="3977640"/>
            <a:ext cx="8138160" cy="640080"/>
          </a:xfrm>
          <a:prstGeom prst="roundRect">
            <a:avLst>
              <a:gd name="adj" fmla="val 8571"/>
            </a:avLst>
          </a:prstGeom>
          <a:solidFill>
            <a:srgbClr val="87D895"/>
          </a:solidFill>
          <a:ln/>
        </p:spPr>
      </p:sp>
      <p:sp>
        <p:nvSpPr>
          <p:cNvPr id="25" name="Text 23"/>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criterio de decisión no es el precio: es si puede enseñarlo y reconstruirlo.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1E"/>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2E7D4F"/>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8C9A90"/>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64C27B"/>
                </a:solidFill>
                <a:latin typeface="Arial" pitchFamily="34" charset="0"/>
                <a:ea typeface="Arial" pitchFamily="34" charset="-122"/>
                <a:cs typeface="Arial" pitchFamily="34" charset="-120"/>
              </a:rPr>
              <a:t>15</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64C27B"/>
                </a:solidFill>
                <a:latin typeface="Arial" pitchFamily="34" charset="0"/>
                <a:ea typeface="Arial" pitchFamily="34" charset="-122"/>
                <a:cs typeface="Arial" pitchFamily="34" charset="-120"/>
              </a:rPr>
              <a:t>ALERTAS · 42 a 54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La tesis de hoy</a:t>
            </a:r>
            <a:endParaRPr lang="en-US" sz="2700" dirty="0"/>
          </a:p>
        </p:txBody>
      </p:sp>
      <p:sp>
        <p:nvSpPr>
          <p:cNvPr id="9" name="Shape 7"/>
          <p:cNvSpPr/>
          <p:nvPr/>
        </p:nvSpPr>
        <p:spPr>
          <a:xfrm>
            <a:off x="502920" y="1828800"/>
            <a:ext cx="54864" cy="1828800"/>
          </a:xfrm>
          <a:prstGeom prst="rect">
            <a:avLst/>
          </a:prstGeom>
          <a:solidFill>
            <a:srgbClr val="64C27B"/>
          </a:solidFill>
          <a:ln/>
        </p:spPr>
      </p:sp>
      <p:sp>
        <p:nvSpPr>
          <p:cNvPr id="10" name="Text 8"/>
          <p:cNvSpPr txBox="1"/>
          <p:nvPr/>
        </p:nvSpPr>
        <p:spPr>
          <a:xfrm>
            <a:off x="841248" y="1828800"/>
            <a:ext cx="7772400" cy="1828800"/>
          </a:xfrm>
          <a:prstGeom prst="rect">
            <a:avLst/>
          </a:prstGeom>
          <a:noFill/>
          <a:ln/>
        </p:spPr>
        <p:txBody>
          <a:bodyPr wrap="square" lIns="0" tIns="0" rIns="0" bIns="0" rtlCol="0" anchor="ctr"/>
          <a:lstStyle/>
          <a:p>
            <a:pPr indent="0" marL="0">
              <a:lnSpc>
                <a:spcPts val="3200"/>
              </a:lnSpc>
              <a:buNone/>
            </a:pPr>
            <a:r>
              <a:rPr lang="en-US" sz="2200" i="1" dirty="0">
                <a:solidFill>
                  <a:srgbClr val="FFFFFF"/>
                </a:solidFill>
                <a:latin typeface="Arial" pitchFamily="34" charset="0"/>
                <a:ea typeface="Arial" pitchFamily="34" charset="-122"/>
                <a:cs typeface="Arial" pitchFamily="34" charset="-120"/>
              </a:rPr>
              <a:t>«Una alerta no es una confesión. Es la prueba de que el control existe.</a:t>
            </a:r>
            <a:endParaRPr lang="en-US" sz="2200" dirty="0"/>
          </a:p>
          <a:p>
            <a:pPr indent="0" marL="0">
              <a:lnSpc>
                <a:spcPts val="3200"/>
              </a:lnSpc>
              <a:buNone/>
            </a:pPr>
            <a:endParaRPr lang="en-US" sz="2200" dirty="0"/>
          </a:p>
          <a:p>
            <a:pPr indent="0" marL="0">
              <a:lnSpc>
                <a:spcPts val="3200"/>
              </a:lnSpc>
              <a:buNone/>
            </a:pPr>
            <a:r>
              <a:rPr lang="en-US" sz="2200" i="1" dirty="0">
                <a:solidFill>
                  <a:srgbClr val="FFFFFF"/>
                </a:solidFill>
                <a:latin typeface="Arial" pitchFamily="34" charset="0"/>
                <a:ea typeface="Arial" pitchFamily="34" charset="-122"/>
                <a:cs typeface="Arial" pitchFamily="34" charset="-120"/>
              </a:rPr>
              <a:t>El expediente que en un año no generó ni una sola alerta es el que se ve mal.»</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16</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41 fr. V · LOS CUATRO SUPUESTOS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Cuándo tiene que sonar la alerta</a:t>
            </a:r>
            <a:endParaRPr lang="en-US" sz="2700" dirty="0"/>
          </a:p>
        </p:txBody>
      </p:sp>
      <p:sp>
        <p:nvSpPr>
          <p:cNvPr id="9" name="Shape 7"/>
          <p:cNvSpPr/>
          <p:nvPr/>
        </p:nvSpPr>
        <p:spPr>
          <a:xfrm>
            <a:off x="502920" y="1828800"/>
            <a:ext cx="3968496"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75104"/>
            <a:ext cx="274320" cy="274320"/>
          </a:xfrm>
          <a:prstGeom prst="ellipse">
            <a:avLst/>
          </a:prstGeom>
          <a:solidFill>
            <a:srgbClr val="87D895"/>
          </a:solidFill>
          <a:ln/>
        </p:spPr>
      </p:sp>
      <p:sp>
        <p:nvSpPr>
          <p:cNvPr id="11" name="Text 9"/>
          <p:cNvSpPr txBox="1"/>
          <p:nvPr/>
        </p:nvSpPr>
        <p:spPr>
          <a:xfrm>
            <a:off x="649224"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56816"/>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Grado de Riesgo alto</a:t>
            </a:r>
            <a:endParaRPr lang="en-US" sz="1200" dirty="0"/>
          </a:p>
        </p:txBody>
      </p:sp>
      <p:sp>
        <p:nvSpPr>
          <p:cNvPr id="13" name="Text 11"/>
          <p:cNvSpPr txBox="1"/>
          <p:nvPr/>
        </p:nvSpPr>
        <p:spPr>
          <a:xfrm>
            <a:off x="649224" y="2322576"/>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que su propio modelo del Capítulo III Bis haya clasificado así</a:t>
            </a:r>
            <a:endParaRPr lang="en-US" sz="950" dirty="0"/>
          </a:p>
        </p:txBody>
      </p:sp>
      <p:sp>
        <p:nvSpPr>
          <p:cNvPr id="14" name="Shape 12"/>
          <p:cNvSpPr/>
          <p:nvPr/>
        </p:nvSpPr>
        <p:spPr>
          <a:xfrm>
            <a:off x="4672584" y="1828800"/>
            <a:ext cx="3968496"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4818888" y="1975104"/>
            <a:ext cx="274320" cy="274320"/>
          </a:xfrm>
          <a:prstGeom prst="ellipse">
            <a:avLst/>
          </a:prstGeom>
          <a:solidFill>
            <a:srgbClr val="87D895"/>
          </a:solidFill>
          <a:ln/>
        </p:spPr>
      </p:sp>
      <p:sp>
        <p:nvSpPr>
          <p:cNvPr id="16" name="Text 14"/>
          <p:cNvSpPr txBox="1"/>
          <p:nvPr/>
        </p:nvSpPr>
        <p:spPr>
          <a:xfrm>
            <a:off x="4818888"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5175504" y="1956816"/>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Persona Políticamente Expuesta</a:t>
            </a:r>
            <a:endParaRPr lang="en-US" sz="1200" dirty="0"/>
          </a:p>
        </p:txBody>
      </p:sp>
      <p:sp>
        <p:nvSpPr>
          <p:cNvPr id="18" name="Text 16"/>
          <p:cNvSpPr txBox="1"/>
          <p:nvPr/>
        </p:nvSpPr>
        <p:spPr>
          <a:xfrm>
            <a:off x="4818888" y="2322576"/>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Nacional o extranjera, y las asimiladas del RCG 23 Quáter</a:t>
            </a:r>
            <a:endParaRPr lang="en-US" sz="950" dirty="0"/>
          </a:p>
        </p:txBody>
      </p:sp>
      <p:sp>
        <p:nvSpPr>
          <p:cNvPr id="19" name="Shape 17"/>
          <p:cNvSpPr/>
          <p:nvPr/>
        </p:nvSpPr>
        <p:spPr>
          <a:xfrm>
            <a:off x="502920" y="3310128"/>
            <a:ext cx="3968496"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49224" y="3456432"/>
            <a:ext cx="274320" cy="274320"/>
          </a:xfrm>
          <a:prstGeom prst="ellipse">
            <a:avLst/>
          </a:prstGeom>
          <a:solidFill>
            <a:srgbClr val="87D895"/>
          </a:solidFill>
          <a:ln/>
        </p:spPr>
      </p:sp>
      <p:sp>
        <p:nvSpPr>
          <p:cNvPr id="21" name="Text 19"/>
          <p:cNvSpPr txBox="1"/>
          <p:nvPr/>
        </p:nvSpPr>
        <p:spPr>
          <a:xfrm>
            <a:off x="649224" y="345643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1005840" y="3438144"/>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Listado del artículo 38</a:t>
            </a:r>
            <a:endParaRPr lang="en-US" sz="1200" dirty="0"/>
          </a:p>
        </p:txBody>
      </p:sp>
      <p:sp>
        <p:nvSpPr>
          <p:cNvPr id="23" name="Text 21"/>
          <p:cNvSpPr txBox="1"/>
          <p:nvPr/>
        </p:nvSpPr>
        <p:spPr>
          <a:xfrm>
            <a:off x="649224" y="3803904"/>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Las personas incluidas en el listado que da a conocer la UIF</a:t>
            </a:r>
            <a:endParaRPr lang="en-US" sz="950" dirty="0"/>
          </a:p>
        </p:txBody>
      </p:sp>
      <p:sp>
        <p:nvSpPr>
          <p:cNvPr id="24" name="Shape 22"/>
          <p:cNvSpPr/>
          <p:nvPr/>
        </p:nvSpPr>
        <p:spPr>
          <a:xfrm>
            <a:off x="4672584" y="3310128"/>
            <a:ext cx="3968496" cy="1335024"/>
          </a:xfrm>
          <a:prstGeom prst="roundRect">
            <a:avLst>
              <a:gd name="adj" fmla="val 4110"/>
            </a:avLst>
          </a:prstGeom>
          <a:solidFill>
            <a:srgbClr val="FFFFFF"/>
          </a:solidFill>
          <a:ln w="9525">
            <a:solidFill>
              <a:srgbClr val="DCE6DE"/>
            </a:solidFill>
            <a:prstDash val="solid"/>
          </a:ln>
        </p:spPr>
      </p:sp>
      <p:sp>
        <p:nvSpPr>
          <p:cNvPr id="25" name="Shape 23"/>
          <p:cNvSpPr/>
          <p:nvPr/>
        </p:nvSpPr>
        <p:spPr>
          <a:xfrm>
            <a:off x="4818888" y="3456432"/>
            <a:ext cx="274320" cy="274320"/>
          </a:xfrm>
          <a:prstGeom prst="ellipse">
            <a:avLst/>
          </a:prstGeom>
          <a:solidFill>
            <a:srgbClr val="87D895"/>
          </a:solidFill>
          <a:ln/>
        </p:spPr>
      </p:sp>
      <p:sp>
        <p:nvSpPr>
          <p:cNvPr id="26" name="Text 24"/>
          <p:cNvSpPr txBox="1"/>
          <p:nvPr/>
        </p:nvSpPr>
        <p:spPr>
          <a:xfrm>
            <a:off x="4818888" y="345643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5175504" y="3438144"/>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Países y jurisdicciones</a:t>
            </a:r>
            <a:endParaRPr lang="en-US" sz="1200" dirty="0"/>
          </a:p>
        </p:txBody>
      </p:sp>
      <p:sp>
        <p:nvSpPr>
          <p:cNvPr id="28" name="Text 26"/>
          <p:cNvSpPr txBox="1"/>
          <p:nvPr/>
        </p:nvSpPr>
        <p:spPr>
          <a:xfrm>
            <a:off x="4818888" y="3803904"/>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Régimen fiscal preferente, o sin medidas suficientes, o con aplicación deficiente</a:t>
            </a:r>
            <a:endParaRPr lang="en-US" sz="950" dirty="0"/>
          </a:p>
        </p:txBody>
      </p:sp>
      <p:sp>
        <p:nvSpPr>
          <p:cNvPr id="29" name="Shape 27"/>
          <p:cNvSpPr/>
          <p:nvPr/>
        </p:nvSpPr>
        <p:spPr>
          <a:xfrm>
            <a:off x="502920" y="3977640"/>
            <a:ext cx="8138160" cy="640080"/>
          </a:xfrm>
          <a:prstGeom prst="roundRect">
            <a:avLst>
              <a:gd name="adj" fmla="val 8571"/>
            </a:avLst>
          </a:prstGeom>
          <a:solidFill>
            <a:srgbClr val="87D895"/>
          </a:solidFill>
          <a:ln/>
        </p:spPr>
      </p:sp>
      <p:sp>
        <p:nvSpPr>
          <p:cNvPr id="30" name="Text 2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Y el 23 Ter 2 nombra DOS delitos: el 400 Bis y el 139 Quáter. Un sistema que sólo mide monto cubre la mitad: el financiamiento al terrorismo se ve por contraparte, destino y listas, no por importe.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17</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MÉTODO DEL TALLER, NO NORMA</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ciclo de la alerta, en cuatro pasos</a:t>
            </a:r>
            <a:endParaRPr lang="en-US" sz="2700" dirty="0"/>
          </a:p>
        </p:txBody>
      </p:sp>
      <p:sp>
        <p:nvSpPr>
          <p:cNvPr id="9" name="Shape 7"/>
          <p:cNvSpPr/>
          <p:nvPr/>
        </p:nvSpPr>
        <p:spPr>
          <a:xfrm>
            <a:off x="502920" y="1920240"/>
            <a:ext cx="1883664"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2066544"/>
            <a:ext cx="274320" cy="274320"/>
          </a:xfrm>
          <a:prstGeom prst="ellipse">
            <a:avLst/>
          </a:prstGeom>
          <a:solidFill>
            <a:srgbClr val="87D895"/>
          </a:solidFill>
          <a:ln/>
        </p:spPr>
      </p:sp>
      <p:sp>
        <p:nvSpPr>
          <p:cNvPr id="11" name="Text 9"/>
          <p:cNvSpPr txBox="1"/>
          <p:nvPr/>
        </p:nvSpPr>
        <p:spPr>
          <a:xfrm>
            <a:off x="649224"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2048256"/>
            <a:ext cx="1225296"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Generación</a:t>
            </a:r>
            <a:endParaRPr lang="en-US" sz="1200" dirty="0"/>
          </a:p>
        </p:txBody>
      </p:sp>
      <p:sp>
        <p:nvSpPr>
          <p:cNvPr id="13" name="Text 11"/>
          <p:cNvSpPr txBox="1"/>
          <p:nvPr/>
        </p:nvSpPr>
        <p:spPr>
          <a:xfrm>
            <a:off x="649224" y="2414016"/>
            <a:ext cx="1591056"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sistema alerta y alguien abre registro, con la hora</a:t>
            </a:r>
            <a:endParaRPr lang="en-US" sz="950" dirty="0"/>
          </a:p>
        </p:txBody>
      </p:sp>
      <p:sp>
        <p:nvSpPr>
          <p:cNvPr id="14" name="Shape 12"/>
          <p:cNvSpPr/>
          <p:nvPr/>
        </p:nvSpPr>
        <p:spPr>
          <a:xfrm>
            <a:off x="2587752" y="1920240"/>
            <a:ext cx="1883664"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2734056" y="2066544"/>
            <a:ext cx="274320" cy="274320"/>
          </a:xfrm>
          <a:prstGeom prst="ellipse">
            <a:avLst/>
          </a:prstGeom>
          <a:solidFill>
            <a:srgbClr val="87D895"/>
          </a:solidFill>
          <a:ln/>
        </p:spPr>
      </p:sp>
      <p:sp>
        <p:nvSpPr>
          <p:cNvPr id="16" name="Text 14"/>
          <p:cNvSpPr txBox="1"/>
          <p:nvPr/>
        </p:nvSpPr>
        <p:spPr>
          <a:xfrm>
            <a:off x="2734056"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090672" y="2048256"/>
            <a:ext cx="1225296"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Escalamiento</a:t>
            </a:r>
            <a:endParaRPr lang="en-US" sz="1200" dirty="0"/>
          </a:p>
        </p:txBody>
      </p:sp>
      <p:sp>
        <p:nvSpPr>
          <p:cNvPr id="18" name="Text 16"/>
          <p:cNvSpPr txBox="1"/>
          <p:nvPr/>
        </p:nvSpPr>
        <p:spPr>
          <a:xfrm>
            <a:off x="2734056" y="2414016"/>
            <a:ext cx="1591056"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Llega al área de cumplimiento sin filtro previo</a:t>
            </a:r>
            <a:endParaRPr lang="en-US" sz="950" dirty="0"/>
          </a:p>
        </p:txBody>
      </p:sp>
      <p:sp>
        <p:nvSpPr>
          <p:cNvPr id="19" name="Shape 17"/>
          <p:cNvSpPr/>
          <p:nvPr/>
        </p:nvSpPr>
        <p:spPr>
          <a:xfrm>
            <a:off x="4672584" y="1920240"/>
            <a:ext cx="1883664"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4818888" y="2066544"/>
            <a:ext cx="274320" cy="274320"/>
          </a:xfrm>
          <a:prstGeom prst="ellipse">
            <a:avLst/>
          </a:prstGeom>
          <a:solidFill>
            <a:srgbClr val="87D895"/>
          </a:solidFill>
          <a:ln/>
        </p:spPr>
      </p:sp>
      <p:sp>
        <p:nvSpPr>
          <p:cNvPr id="21" name="Text 19"/>
          <p:cNvSpPr txBox="1"/>
          <p:nvPr/>
        </p:nvSpPr>
        <p:spPr>
          <a:xfrm>
            <a:off x="4818888"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5175504" y="2048256"/>
            <a:ext cx="1225296"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Resolución</a:t>
            </a:r>
            <a:endParaRPr lang="en-US" sz="1200" dirty="0"/>
          </a:p>
        </p:txBody>
      </p:sp>
      <p:sp>
        <p:nvSpPr>
          <p:cNvPr id="23" name="Text 21"/>
          <p:cNvSpPr txBox="1"/>
          <p:nvPr/>
        </p:nvSpPr>
        <p:spPr>
          <a:xfrm>
            <a:off x="4818888" y="2414016"/>
            <a:ext cx="1591056"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Se revisa expediente, perfil y operaciones previas</a:t>
            </a:r>
            <a:endParaRPr lang="en-US" sz="950" dirty="0"/>
          </a:p>
        </p:txBody>
      </p:sp>
      <p:sp>
        <p:nvSpPr>
          <p:cNvPr id="24" name="Shape 22"/>
          <p:cNvSpPr/>
          <p:nvPr/>
        </p:nvSpPr>
        <p:spPr>
          <a:xfrm>
            <a:off x="6757416" y="1920240"/>
            <a:ext cx="1883664" cy="1335024"/>
          </a:xfrm>
          <a:prstGeom prst="roundRect">
            <a:avLst>
              <a:gd name="adj" fmla="val 4110"/>
            </a:avLst>
          </a:prstGeom>
          <a:solidFill>
            <a:srgbClr val="FFFFFF"/>
          </a:solidFill>
          <a:ln w="9525">
            <a:solidFill>
              <a:srgbClr val="DCE6DE"/>
            </a:solidFill>
            <a:prstDash val="solid"/>
          </a:ln>
        </p:spPr>
      </p:sp>
      <p:sp>
        <p:nvSpPr>
          <p:cNvPr id="25" name="Shape 23"/>
          <p:cNvSpPr/>
          <p:nvPr/>
        </p:nvSpPr>
        <p:spPr>
          <a:xfrm>
            <a:off x="6903720" y="2066544"/>
            <a:ext cx="274320" cy="274320"/>
          </a:xfrm>
          <a:prstGeom prst="ellipse">
            <a:avLst/>
          </a:prstGeom>
          <a:solidFill>
            <a:srgbClr val="87D895"/>
          </a:solidFill>
          <a:ln/>
        </p:spPr>
      </p:sp>
      <p:sp>
        <p:nvSpPr>
          <p:cNvPr id="26" name="Text 24"/>
          <p:cNvSpPr txBox="1"/>
          <p:nvPr/>
        </p:nvSpPr>
        <p:spPr>
          <a:xfrm>
            <a:off x="6903720"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7260336" y="2048256"/>
            <a:ext cx="1225296"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Cierre documentado</a:t>
            </a:r>
            <a:endParaRPr lang="en-US" sz="1200" dirty="0"/>
          </a:p>
        </p:txBody>
      </p:sp>
      <p:sp>
        <p:nvSpPr>
          <p:cNvPr id="28" name="Text 26"/>
          <p:cNvSpPr txBox="1"/>
          <p:nvPr/>
        </p:nvSpPr>
        <p:spPr>
          <a:xfrm>
            <a:off x="6903720" y="2414016"/>
            <a:ext cx="1591056"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Se decide y se firma la razón, cualquiera que sea</a:t>
            </a:r>
            <a:endParaRPr lang="en-US" sz="950" dirty="0"/>
          </a:p>
        </p:txBody>
      </p:sp>
      <p:sp>
        <p:nvSpPr>
          <p:cNvPr id="29" name="Shape 27"/>
          <p:cNvSpPr/>
          <p:nvPr/>
        </p:nvSpPr>
        <p:spPr>
          <a:xfrm>
            <a:off x="502920" y="3886200"/>
            <a:ext cx="8138160" cy="640080"/>
          </a:xfrm>
          <a:prstGeom prst="roundRect">
            <a:avLst>
              <a:gd name="adj" fmla="val 8571"/>
            </a:avLst>
          </a:prstGeom>
          <a:solidFill>
            <a:srgbClr val="FFF2CC"/>
          </a:solidFill>
          <a:ln/>
        </p:spPr>
      </p:sp>
      <p:sp>
        <p:nvSpPr>
          <p:cNvPr id="30" name="Text 28"/>
          <p:cNvSpPr txBox="1"/>
          <p:nvPr/>
        </p:nvSpPr>
        <p:spPr>
          <a:xfrm>
            <a:off x="731520" y="390448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La norma exige el sistema de alertas (RCG 23 Ter 2). El formato de la bitácora y estos cuatro pasos son método nuestro. Se los damos porque funciona, no como artículo.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18</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18</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SÓLO UNA ES EL AVISO</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Las tres salidas de una alerta</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103120"/>
                <a:gridCol w="3291840"/>
                <a:gridCol w="2743200"/>
              </a:tblGrid>
              <a:tr h="0">
                <a:tc>
                  <a:txBody>
                    <a:bodyPr/>
                    <a:lstStyle/>
                    <a:p>
                      <a:pPr indent="0" marL="0">
                        <a:buNone/>
                      </a:pPr>
                      <a:r>
                        <a:rPr lang="en-US" sz="1050" b="1" dirty="0">
                          <a:solidFill>
                            <a:srgbClr val="1B1B1E"/>
                          </a:solidFill>
                          <a:latin typeface="Arial" pitchFamily="34" charset="0"/>
                          <a:ea typeface="Arial" pitchFamily="34" charset="-122"/>
                          <a:cs typeface="Arial" pitchFamily="34" charset="-120"/>
                        </a:rPr>
                        <a:t>Salida</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50" b="1" dirty="0">
                          <a:solidFill>
                            <a:srgbClr val="1B1B1E"/>
                          </a:solidFill>
                          <a:latin typeface="Arial" pitchFamily="34" charset="0"/>
                          <a:ea typeface="Arial" pitchFamily="34" charset="-122"/>
                          <a:cs typeface="Arial" pitchFamily="34" charset="-120"/>
                        </a:rPr>
                        <a:t>Cuándo procede</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50" b="1" dirty="0">
                          <a:solidFill>
                            <a:srgbClr val="1B1B1E"/>
                          </a:solidFill>
                          <a:latin typeface="Arial" pitchFamily="34" charset="0"/>
                          <a:ea typeface="Arial" pitchFamily="34" charset="-122"/>
                          <a:cs typeface="Arial" pitchFamily="34" charset="-120"/>
                        </a:rPr>
                        <a:t>Qué queda escrito</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Se descarta</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El análisis explica la conducta de manera razonable y consistente con el expediente y el perfil</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La razón, quién firmó y qué se revisó. Es la salida más frecuente y es legítima</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Actualiza el expediente o el perfil</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El acto se apartó por una causa real y verificada, y hay cambio significativo (RCG 23 Ter fr. IV)</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El soporte del cambio, el perfil anterior y el nuevo. Histórico diez años</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50" dirty="0">
                          <a:solidFill>
                            <a:srgbClr val="1B1B1E"/>
                          </a:solidFill>
                          <a:latin typeface="Arial" pitchFamily="34" charset="0"/>
                          <a:ea typeface="Arial" pitchFamily="34" charset="-122"/>
                          <a:cs typeface="Arial" pitchFamily="34" charset="-120"/>
                        </a:rPr>
                        <a:t>Se convierte en Aviso de 24 horas</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Subsiste la sospecha, o el hecho o indicio no se desvirtúa</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50" dirty="0">
                          <a:solidFill>
                            <a:srgbClr val="1B1B1E"/>
                          </a:solidFill>
                          <a:latin typeface="Arial" pitchFamily="34" charset="0"/>
                          <a:ea typeface="Arial" pitchFamily="34" charset="-122"/>
                          <a:cs typeface="Arial" pitchFamily="34" charset="-120"/>
                        </a:rPr>
                        <a:t>Registro completo, análisis, decisión firmada y acuse cuando exista formato</a:t>
                      </a:r>
                      <a:endParaRPr lang="en-US" sz="10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De la tercera salida hablamos los próximos veinte minutos. Es la que todavía no tiene fecha.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19</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19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AVISO DE 24 HORAS · 54 a 76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No es un aviso de 24 horas: son tres</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371600"/>
                <a:gridCol w="1920240"/>
                <a:gridCol w="3657600"/>
                <a:gridCol w="1188720"/>
              </a:tblGrid>
              <a:tr h="0">
                <a:tc>
                  <a:txBody>
                    <a:bodyPr/>
                    <a:lstStyle/>
                    <a:p>
                      <a:pPr indent="0" marL="0">
                        <a:buNone/>
                      </a:pPr>
                      <a:r>
                        <a:rPr lang="en-US" sz="950" b="1" dirty="0">
                          <a:solidFill>
                            <a:srgbClr val="1B1B1E"/>
                          </a:solidFill>
                          <a:latin typeface="Arial" pitchFamily="34" charset="0"/>
                          <a:ea typeface="Arial" pitchFamily="34" charset="-122"/>
                          <a:cs typeface="Arial" pitchFamily="34" charset="-120"/>
                        </a:rPr>
                        <a:t>El artículo</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950" b="1" dirty="0">
                          <a:solidFill>
                            <a:srgbClr val="1B1B1E"/>
                          </a:solidFill>
                          <a:latin typeface="Arial" pitchFamily="34" charset="0"/>
                          <a:ea typeface="Arial" pitchFamily="34" charset="-122"/>
                          <a:cs typeface="Arial" pitchFamily="34" charset="-120"/>
                        </a:rPr>
                        <a:t>Cómo se llama</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950" b="1" dirty="0">
                          <a:solidFill>
                            <a:srgbClr val="1B1B1E"/>
                          </a:solidFill>
                          <a:latin typeface="Arial" pitchFamily="34" charset="0"/>
                          <a:ea typeface="Arial" pitchFamily="34" charset="-122"/>
                          <a:cs typeface="Arial" pitchFamily="34" charset="-120"/>
                        </a:rPr>
                        <a:t>De dónde nace</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950" b="1" dirty="0">
                          <a:solidFill>
                            <a:srgbClr val="1B1B1E"/>
                          </a:solidFill>
                          <a:latin typeface="Arial" pitchFamily="34" charset="0"/>
                          <a:ea typeface="Arial" pitchFamily="34" charset="-122"/>
                          <a:cs typeface="Arial" pitchFamily="34" charset="-120"/>
                        </a:rPr>
                        <a:t>El verbo del texto</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950" dirty="0">
                          <a:solidFill>
                            <a:srgbClr val="1B1B1E"/>
                          </a:solidFill>
                          <a:latin typeface="Arial" pitchFamily="34" charset="0"/>
                          <a:ea typeface="Arial" pitchFamily="34" charset="-122"/>
                          <a:cs typeface="Arial" pitchFamily="34" charset="-120"/>
                        </a:rPr>
                        <a:t>RCG 26 Bis</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Aviso por SOSPECHA</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De lo que usted reconoce en la actividad, conducta o comportamiento del cliente</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«reconozca»</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B1B1E"/>
                          </a:solidFill>
                          <a:latin typeface="Arial" pitchFamily="34" charset="0"/>
                          <a:ea typeface="Arial" pitchFamily="34" charset="-122"/>
                          <a:cs typeface="Arial" pitchFamily="34" charset="-120"/>
                        </a:rPr>
                        <a:t>RCG 26 Bis 1</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Aviso por HECHOS O INDICIOS</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De información que le llega de otras fuentes públicas o privadas</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«conozca»</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950" dirty="0">
                          <a:solidFill>
                            <a:srgbClr val="1B1B1E"/>
                          </a:solidFill>
                          <a:latin typeface="Arial" pitchFamily="34" charset="0"/>
                          <a:ea typeface="Arial" pitchFamily="34" charset="-122"/>
                          <a:cs typeface="Arial" pitchFamily="34" charset="-120"/>
                        </a:rPr>
                        <a:t>RCG 27, 2º párr.</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Aviso por COINCIDENCIA CON LISTAS</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De que la persona con quien realiza o intenta realizar el acto está en el listado del artículo 38</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«se trate de»</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B1B1E"/>
                          </a:solidFill>
                          <a:latin typeface="Arial" pitchFamily="34" charset="0"/>
                          <a:ea typeface="Arial" pitchFamily="34" charset="-122"/>
                          <a:cs typeface="Arial" pitchFamily="34" charset="-120"/>
                        </a:rPr>
                        <a:t>RCG 26 Bis 2</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No es un cuarto aviso</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Es la regla de alcance de los tres anteriores: se envían aunque no se alcance el umbral y aunque el acto no se haya celebrado</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50" dirty="0">
                          <a:solidFill>
                            <a:srgbClr val="1B1B1E"/>
                          </a:solidFill>
                          <a:latin typeface="Arial" pitchFamily="34" charset="0"/>
                          <a:ea typeface="Arial" pitchFamily="34" charset="-122"/>
                          <a:cs typeface="Arial" pitchFamily="34" charset="-120"/>
                        </a:rPr>
                        <a:t>—</a:t>
                      </a:r>
                      <a:endParaRPr lang="en-US" sz="9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4114800"/>
            <a:ext cx="8138160" cy="640080"/>
          </a:xfrm>
          <a:prstGeom prst="roundRect">
            <a:avLst>
              <a:gd name="adj" fmla="val 8571"/>
            </a:avLst>
          </a:prstGeom>
          <a:solidFill>
            <a:srgbClr val="87D895"/>
          </a:solidFill>
          <a:ln/>
        </p:spPr>
      </p:sp>
      <p:sp>
        <p:nvSpPr>
          <p:cNvPr id="11" name="Text 8"/>
          <p:cNvSpPr txBox="1"/>
          <p:nvPr/>
        </p:nvSpPr>
        <p:spPr>
          <a:xfrm>
            <a:off x="731520" y="413308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Los tres corren en 24 horas, pero el reloj arranca en momentos distintos y lo que hay que documentar es distinto en cada uno.</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20</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NO ES LA OPERACIÓN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Cuándo arranca el reloj</a:t>
            </a:r>
            <a:endParaRPr lang="en-US" sz="2700" dirty="0"/>
          </a:p>
        </p:txBody>
      </p:sp>
      <p:sp>
        <p:nvSpPr>
          <p:cNvPr id="9" name="Shape 7"/>
          <p:cNvSpPr/>
          <p:nvPr/>
        </p:nvSpPr>
        <p:spPr>
          <a:xfrm>
            <a:off x="502920" y="1645920"/>
            <a:ext cx="54864" cy="1737360"/>
          </a:xfrm>
          <a:prstGeom prst="rect">
            <a:avLst/>
          </a:prstGeom>
          <a:solidFill>
            <a:srgbClr val="64C27B"/>
          </a:solidFill>
          <a:ln/>
        </p:spPr>
      </p:sp>
      <p:sp>
        <p:nvSpPr>
          <p:cNvPr id="10" name="Text 8"/>
          <p:cNvSpPr txBox="1"/>
          <p:nvPr/>
        </p:nvSpPr>
        <p:spPr>
          <a:xfrm>
            <a:off x="841248" y="1645920"/>
            <a:ext cx="7772400" cy="1737360"/>
          </a:xfrm>
          <a:prstGeom prst="rect">
            <a:avLst/>
          </a:prstGeom>
          <a:noFill/>
          <a:ln/>
        </p:spPr>
        <p:txBody>
          <a:bodyPr wrap="square" lIns="0" tIns="0" rIns="0" bIns="0" rtlCol="0" anchor="t"/>
          <a:lstStyle/>
          <a:p>
            <a:pPr indent="0" marL="0">
              <a:lnSpc>
                <a:spcPts val="3000"/>
              </a:lnSpc>
              <a:buNone/>
            </a:pPr>
            <a:r>
              <a:rPr lang="en-US" sz="2100" i="1" dirty="0">
                <a:solidFill>
                  <a:srgbClr val="1B1B1E"/>
                </a:solidFill>
                <a:latin typeface="Arial" pitchFamily="34" charset="0"/>
                <a:ea typeface="Arial" pitchFamily="34" charset="-122"/>
                <a:cs typeface="Arial" pitchFamily="34" charset="-120"/>
              </a:rPr>
              <a:t>«Como el plazo arranca en un momento que sólo usted puede acreditar, el dato más importante del expediente es la hora en que se enteró. Sin ella no puede demostrar que llegó a tiempo — ni que no llegó tarde.»</a:t>
            </a:r>
            <a:endParaRPr lang="en-US" sz="2100" dirty="0"/>
          </a:p>
        </p:txBody>
      </p:sp>
      <p:sp>
        <p:nvSpPr>
          <p:cNvPr id="11" name="Text 9"/>
          <p:cNvSpPr txBox="1"/>
          <p:nvPr/>
        </p:nvSpPr>
        <p:spPr>
          <a:xfrm>
            <a:off x="841248" y="3063240"/>
            <a:ext cx="7772400" cy="640080"/>
          </a:xfrm>
          <a:prstGeom prst="rect">
            <a:avLst/>
          </a:prstGeom>
          <a:noFill/>
          <a:ln/>
        </p:spPr>
        <p:txBody>
          <a:bodyPr wrap="square" lIns="0" tIns="0" rIns="0" bIns="0" rtlCol="0" anchor="ctr"/>
          <a:lstStyle/>
          <a:p>
            <a:pPr indent="0" marL="0">
              <a:buNone/>
            </a:pPr>
            <a:r>
              <a:rPr lang="en-US" sz="1200" dirty="0">
                <a:solidFill>
                  <a:srgbClr val="4D4D4D"/>
                </a:solidFill>
                <a:latin typeface="Arial" pitchFamily="34" charset="0"/>
                <a:ea typeface="Arial" pitchFamily="34" charset="-122"/>
                <a:cs typeface="Arial" pitchFamily="34" charset="-120"/>
              </a:rPr>
              <a:t>Características que el RCG 26 Bis, segundo párrafo, manda considerar:  montos · frecuencia · formas de pago · periodos e instrumentos de pago · área geográfica · tipo o naturaleza del acto</a:t>
            </a:r>
            <a:endParaRPr lang="en-US" sz="1200" dirty="0"/>
          </a:p>
        </p:txBody>
      </p:sp>
      <p:sp>
        <p:nvSpPr>
          <p:cNvPr id="12" name="Shape 10"/>
          <p:cNvSpPr/>
          <p:nvPr/>
        </p:nvSpPr>
        <p:spPr>
          <a:xfrm>
            <a:off x="502920" y="3977640"/>
            <a:ext cx="8138160" cy="640080"/>
          </a:xfrm>
          <a:prstGeom prst="roundRect">
            <a:avLst>
              <a:gd name="adj" fmla="val 8571"/>
            </a:avLst>
          </a:prstGeom>
          <a:solidFill>
            <a:srgbClr val="87D895"/>
          </a:solidFill>
          <a:ln/>
        </p:spPr>
      </p:sp>
      <p:sp>
        <p:nvSpPr>
          <p:cNvPr id="13" name="Text 11"/>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Son casi los seis elementos del perfil transaccional. No es coincidencia: el aviso de 24 horas es lo que pasa cuando la alerta del perfil no se puede descartar.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21</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 7 BIS Y RCG 26 BIS 2</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Aunque no se celebre y aunque no llegue al umbral</a:t>
            </a:r>
            <a:endParaRPr lang="en-US" sz="2700" dirty="0"/>
          </a:p>
        </p:txBody>
      </p:sp>
      <p:sp>
        <p:nvSpPr>
          <p:cNvPr id="9" name="Shape 7"/>
          <p:cNvSpPr/>
          <p:nvPr/>
        </p:nvSpPr>
        <p:spPr>
          <a:xfrm>
            <a:off x="502920" y="187452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2020824"/>
            <a:ext cx="274320" cy="274320"/>
          </a:xfrm>
          <a:prstGeom prst="ellipse">
            <a:avLst/>
          </a:prstGeom>
          <a:solidFill>
            <a:srgbClr val="87D895"/>
          </a:solidFill>
          <a:ln/>
        </p:spPr>
      </p:sp>
      <p:sp>
        <p:nvSpPr>
          <p:cNvPr id="11" name="Text 9"/>
          <p:cNvSpPr txBox="1"/>
          <p:nvPr/>
        </p:nvSpPr>
        <p:spPr>
          <a:xfrm>
            <a:off x="649224" y="20208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200253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No se celebró: SE PRESENTA</a:t>
            </a:r>
            <a:endParaRPr lang="en-US" sz="1200" dirty="0"/>
          </a:p>
        </p:txBody>
      </p:sp>
      <p:sp>
        <p:nvSpPr>
          <p:cNvPr id="13" name="Text 11"/>
          <p:cNvSpPr txBox="1"/>
          <p:nvPr/>
        </p:nvSpPr>
        <p:spPr>
          <a:xfrm>
            <a:off x="649224" y="236829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La Ley dice «incluso si el acto no se celebró» y el Reglamento «se presentará aunque». Es imperativo, si hay datos de quien lo intentó</a:t>
            </a:r>
            <a:endParaRPr lang="en-US" sz="950" dirty="0"/>
          </a:p>
        </p:txBody>
      </p:sp>
      <p:sp>
        <p:nvSpPr>
          <p:cNvPr id="14" name="Text 12"/>
          <p:cNvSpPr txBox="1"/>
          <p:nvPr/>
        </p:nvSpPr>
        <p:spPr>
          <a:xfrm>
            <a:off x="649224" y="298094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L 18 fr. VI 2º p. · R 7 Bis</a:t>
            </a:r>
            <a:endParaRPr lang="en-US" sz="850" dirty="0"/>
          </a:p>
        </p:txBody>
      </p:sp>
      <p:sp>
        <p:nvSpPr>
          <p:cNvPr id="15" name="Shape 13"/>
          <p:cNvSpPr/>
          <p:nvPr/>
        </p:nvSpPr>
        <p:spPr>
          <a:xfrm>
            <a:off x="3282696" y="1874520"/>
            <a:ext cx="2578608" cy="1335024"/>
          </a:xfrm>
          <a:prstGeom prst="roundRect">
            <a:avLst>
              <a:gd name="adj" fmla="val 4110"/>
            </a:avLst>
          </a:prstGeom>
          <a:solidFill>
            <a:srgbClr val="FFFFFF"/>
          </a:solidFill>
          <a:ln w="9525">
            <a:solidFill>
              <a:srgbClr val="DCE6DE"/>
            </a:solidFill>
            <a:prstDash val="solid"/>
          </a:ln>
        </p:spPr>
      </p:sp>
      <p:sp>
        <p:nvSpPr>
          <p:cNvPr id="16" name="Shape 14"/>
          <p:cNvSpPr/>
          <p:nvPr/>
        </p:nvSpPr>
        <p:spPr>
          <a:xfrm>
            <a:off x="3429000" y="2020824"/>
            <a:ext cx="274320" cy="274320"/>
          </a:xfrm>
          <a:prstGeom prst="ellipse">
            <a:avLst/>
          </a:prstGeom>
          <a:solidFill>
            <a:srgbClr val="87D895"/>
          </a:solidFill>
          <a:ln/>
        </p:spPr>
      </p:sp>
      <p:sp>
        <p:nvSpPr>
          <p:cNvPr id="17" name="Text 15"/>
          <p:cNvSpPr txBox="1"/>
          <p:nvPr/>
        </p:nvSpPr>
        <p:spPr>
          <a:xfrm>
            <a:off x="3429000" y="20208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8" name="Text 16"/>
          <p:cNvSpPr txBox="1"/>
          <p:nvPr/>
        </p:nvSpPr>
        <p:spPr>
          <a:xfrm>
            <a:off x="3785616" y="200253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No llega al umbral: SE PUEDE</a:t>
            </a:r>
            <a:endParaRPr lang="en-US" sz="1200" dirty="0"/>
          </a:p>
        </p:txBody>
      </p:sp>
      <p:sp>
        <p:nvSpPr>
          <p:cNvPr id="19" name="Text 17"/>
          <p:cNvSpPr txBox="1"/>
          <p:nvPr/>
        </p:nvSpPr>
        <p:spPr>
          <a:xfrm>
            <a:off x="3429000" y="236829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Aquí el texto dice «se podrán enviar». Es facultad, no deber: se valora, y la valoración se documenta</a:t>
            </a:r>
            <a:endParaRPr lang="en-US" sz="950" dirty="0"/>
          </a:p>
        </p:txBody>
      </p:sp>
      <p:sp>
        <p:nvSpPr>
          <p:cNvPr id="20" name="Text 18"/>
          <p:cNvSpPr txBox="1"/>
          <p:nvPr/>
        </p:nvSpPr>
        <p:spPr>
          <a:xfrm>
            <a:off x="3429000" y="298094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26 Bis 2</a:t>
            </a:r>
            <a:endParaRPr lang="en-US" sz="850" dirty="0"/>
          </a:p>
        </p:txBody>
      </p:sp>
      <p:sp>
        <p:nvSpPr>
          <p:cNvPr id="21" name="Shape 19"/>
          <p:cNvSpPr/>
          <p:nvPr/>
        </p:nvSpPr>
        <p:spPr>
          <a:xfrm>
            <a:off x="6062472" y="1874520"/>
            <a:ext cx="2578608" cy="1335024"/>
          </a:xfrm>
          <a:prstGeom prst="roundRect">
            <a:avLst>
              <a:gd name="adj" fmla="val 4110"/>
            </a:avLst>
          </a:prstGeom>
          <a:solidFill>
            <a:srgbClr val="FFFFFF"/>
          </a:solidFill>
          <a:ln w="9525">
            <a:solidFill>
              <a:srgbClr val="DCE6DE"/>
            </a:solidFill>
            <a:prstDash val="solid"/>
          </a:ln>
        </p:spPr>
      </p:sp>
      <p:sp>
        <p:nvSpPr>
          <p:cNvPr id="22" name="Shape 20"/>
          <p:cNvSpPr/>
          <p:nvPr/>
        </p:nvSpPr>
        <p:spPr>
          <a:xfrm>
            <a:off x="6208776" y="2020824"/>
            <a:ext cx="274320" cy="274320"/>
          </a:xfrm>
          <a:prstGeom prst="ellipse">
            <a:avLst/>
          </a:prstGeom>
          <a:solidFill>
            <a:srgbClr val="87D895"/>
          </a:solidFill>
          <a:ln/>
        </p:spPr>
      </p:sp>
      <p:sp>
        <p:nvSpPr>
          <p:cNvPr id="23" name="Text 21"/>
          <p:cNvSpPr txBox="1"/>
          <p:nvPr/>
        </p:nvSpPr>
        <p:spPr>
          <a:xfrm>
            <a:off x="6208776" y="202082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4" name="Text 22"/>
          <p:cNvSpPr txBox="1"/>
          <p:nvPr/>
        </p:nvSpPr>
        <p:spPr>
          <a:xfrm>
            <a:off x="6565392" y="200253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Y lo que NO está diferido</a:t>
            </a:r>
            <a:endParaRPr lang="en-US" sz="1200" dirty="0"/>
          </a:p>
        </p:txBody>
      </p:sp>
      <p:sp>
        <p:nvSpPr>
          <p:cNvPr id="25" name="Text 23"/>
          <p:cNvSpPr txBox="1"/>
          <p:nvPr/>
        </p:nvSpPr>
        <p:spPr>
          <a:xfrm>
            <a:off x="6208776" y="236829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mecanismo para identificar a las personas de las listas, que va en el Manual y dispara alerta. Exigible por su propia vía</a:t>
            </a:r>
            <a:endParaRPr lang="en-US" sz="950" dirty="0"/>
          </a:p>
        </p:txBody>
      </p:sp>
      <p:sp>
        <p:nvSpPr>
          <p:cNvPr id="26" name="Text 24"/>
          <p:cNvSpPr txBox="1"/>
          <p:nvPr/>
        </p:nvSpPr>
        <p:spPr>
          <a:xfrm>
            <a:off x="6208776" y="298094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37 Bis fr. IX · 41 fr. V</a:t>
            </a:r>
            <a:endParaRPr lang="en-US" sz="850" dirty="0"/>
          </a:p>
        </p:txBody>
      </p:sp>
      <p:sp>
        <p:nvSpPr>
          <p:cNvPr id="27" name="Shape 25"/>
          <p:cNvSpPr/>
          <p:nvPr/>
        </p:nvSpPr>
        <p:spPr>
          <a:xfrm>
            <a:off x="502920" y="3977640"/>
            <a:ext cx="8138160" cy="640080"/>
          </a:xfrm>
          <a:prstGeom prst="roundRect">
            <a:avLst>
              <a:gd name="adj" fmla="val 8571"/>
            </a:avLst>
          </a:prstGeom>
          <a:solidFill>
            <a:srgbClr val="87D895"/>
          </a:solidFill>
          <a:ln/>
        </p:spPr>
      </p:sp>
      <p:sp>
        <p:nvSpPr>
          <p:cNvPr id="28" name="Text 26"/>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que llegó, preguntó y se fue cuando le pidieron identificación no es un cliente perdido: es un intento. · Y ojo con la diferencia entre «se presentará» y «se podrán enviar»: no es la misma obligación.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22</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EL DIFERIMIENTO, DE FRENTE</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 fecha que todavía no existe</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6035040"/>
                <a:gridCol w="2103120"/>
              </a:tblGrid>
              <a:tr h="0">
                <a:tc>
                  <a:txBody>
                    <a:bodyPr/>
                    <a:lstStyle/>
                    <a:p>
                      <a:pPr indent="0" marL="0">
                        <a:buNone/>
                      </a:pPr>
                      <a:r>
                        <a:rPr lang="en-US" sz="1100" b="1" dirty="0">
                          <a:solidFill>
                            <a:srgbClr val="1B1B1E"/>
                          </a:solidFill>
                          <a:latin typeface="Arial" pitchFamily="34" charset="0"/>
                          <a:ea typeface="Arial" pitchFamily="34" charset="-122"/>
                          <a:cs typeface="Arial" pitchFamily="34" charset="-120"/>
                        </a:rPr>
                        <a:t>Qué dice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Fundamento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La presentación del Aviso del artículo 7 Bis está sujeta a que los Anexos de la Resolución de formatos sean actualizados y abarquen los escenarios del artículo 18, fracción VI, segundo párrafo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R Trans. Quinto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El envío de los tres Avisos de 24 horas —sospecha, hechos o indicios, y coincidencia con listas— podrá hacerse seis meses después de que entre en vigor esa Resolución</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RCG Trans. Quinto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154680"/>
            <a:ext cx="8138160" cy="1280160"/>
          </a:xfrm>
          <a:prstGeom prst="roundRect">
            <a:avLst>
              <a:gd name="adj" fmla="val 4286"/>
            </a:avLst>
          </a:prstGeom>
          <a:solidFill>
            <a:srgbClr val="1B1B1E"/>
          </a:solidFill>
          <a:ln/>
        </p:spPr>
      </p:sp>
      <p:sp>
        <p:nvSpPr>
          <p:cNvPr id="11" name="Text 8"/>
          <p:cNvSpPr txBox="1"/>
          <p:nvPr/>
        </p:nvSpPr>
        <p:spPr>
          <a:xfrm>
            <a:off x="777240" y="3246120"/>
            <a:ext cx="7589520" cy="1097280"/>
          </a:xfrm>
          <a:prstGeom prst="rect">
            <a:avLst/>
          </a:prstGeom>
          <a:noFill/>
          <a:ln/>
        </p:spPr>
        <p:txBody>
          <a:bodyPr wrap="square" lIns="0" tIns="0" rIns="0" bIns="0" rtlCol="0" anchor="ctr"/>
          <a:lstStyle/>
          <a:p>
            <a:pPr indent="0" marL="0">
              <a:lnSpc>
                <a:spcPts val="2200"/>
              </a:lnSpc>
              <a:buNone/>
            </a:pPr>
            <a:r>
              <a:rPr lang="en-US" sz="1400" b="1" dirty="0">
                <a:solidFill>
                  <a:srgbClr val="FFFFFF"/>
                </a:solidFill>
                <a:latin typeface="Arial" pitchFamily="34" charset="0"/>
                <a:ea typeface="Arial" pitchFamily="34" charset="-122"/>
                <a:cs typeface="Arial" pitchFamily="34" charset="-120"/>
              </a:rPr>
              <a:t>Hoy no hay dónde presentarlos. Y cuando lo haya, todavía quedan seis meses.</a:t>
            </a:r>
            <a:endParaRPr lang="en-US" sz="1400" dirty="0"/>
          </a:p>
          <a:p>
            <a:pPr indent="0" marL="0">
              <a:lnSpc>
                <a:spcPts val="2200"/>
              </a:lnSpc>
              <a:buNone/>
            </a:pPr>
            <a:endParaRPr lang="en-US" sz="1400" dirty="0"/>
          </a:p>
          <a:p>
            <a:pPr indent="0" marL="0">
              <a:lnSpc>
                <a:spcPts val="2200"/>
              </a:lnSpc>
              <a:buNone/>
            </a:pPr>
            <a:r>
              <a:rPr lang="en-US" sz="1400" b="1" dirty="0">
                <a:solidFill>
                  <a:srgbClr val="FFFFFF"/>
                </a:solidFill>
                <a:latin typeface="Arial" pitchFamily="34" charset="0"/>
                <a:ea typeface="Arial" pitchFamily="34" charset="-122"/>
                <a:cs typeface="Arial" pitchFamily="34" charset="-120"/>
              </a:rPr>
              <a:t>Lo diferido es el envío. Detectar, documentar y tener el mecanismo de listas NO está diferido.</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23</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SEIS CAMPOS, NI UNO MÁS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Qué se documenta mientras tanto</a:t>
            </a:r>
            <a:endParaRPr lang="en-US" sz="2700" dirty="0"/>
          </a:p>
        </p:txBody>
      </p:sp>
      <p:sp>
        <p:nvSpPr>
          <p:cNvPr id="9" name="Shape 7"/>
          <p:cNvSpPr/>
          <p:nvPr/>
        </p:nvSpPr>
        <p:spPr>
          <a:xfrm>
            <a:off x="502920" y="178308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29384"/>
            <a:ext cx="274320" cy="274320"/>
          </a:xfrm>
          <a:prstGeom prst="ellipse">
            <a:avLst/>
          </a:prstGeom>
          <a:solidFill>
            <a:srgbClr val="87D895"/>
          </a:solidFill>
          <a:ln/>
        </p:spPr>
      </p:sp>
      <p:sp>
        <p:nvSpPr>
          <p:cNvPr id="11" name="Text 9"/>
          <p:cNvSpPr txBox="1"/>
          <p:nvPr/>
        </p:nvSpPr>
        <p:spPr>
          <a:xfrm>
            <a:off x="649224"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Quién detectó</a:t>
            </a:r>
            <a:endParaRPr lang="en-US" sz="1200" dirty="0"/>
          </a:p>
        </p:txBody>
      </p:sp>
      <p:sp>
        <p:nvSpPr>
          <p:cNvPr id="13" name="Text 11"/>
          <p:cNvSpPr txBox="1"/>
          <p:nvPr/>
        </p:nvSpPr>
        <p:spPr>
          <a:xfrm>
            <a:off x="649224"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Acredita que el mecanismo alcanzó a quien atiende al público</a:t>
            </a:r>
            <a:endParaRPr lang="en-US" sz="950" dirty="0"/>
          </a:p>
        </p:txBody>
      </p:sp>
      <p:sp>
        <p:nvSpPr>
          <p:cNvPr id="14" name="Shape 12"/>
          <p:cNvSpPr/>
          <p:nvPr/>
        </p:nvSpPr>
        <p:spPr>
          <a:xfrm>
            <a:off x="3282696" y="178308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1929384"/>
            <a:ext cx="274320" cy="274320"/>
          </a:xfrm>
          <a:prstGeom prst="ellipse">
            <a:avLst/>
          </a:prstGeom>
          <a:solidFill>
            <a:srgbClr val="87D895"/>
          </a:solidFill>
          <a:ln/>
        </p:spPr>
      </p:sp>
      <p:sp>
        <p:nvSpPr>
          <p:cNvPr id="16" name="Text 14"/>
          <p:cNvSpPr txBox="1"/>
          <p:nvPr/>
        </p:nvSpPr>
        <p:spPr>
          <a:xfrm>
            <a:off x="3429000"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Qué detectó</a:t>
            </a:r>
            <a:endParaRPr lang="en-US" sz="1200" dirty="0"/>
          </a:p>
        </p:txBody>
      </p:sp>
      <p:sp>
        <p:nvSpPr>
          <p:cNvPr id="18" name="Text 16"/>
          <p:cNvSpPr txBox="1"/>
          <p:nvPr/>
        </p:nvSpPr>
        <p:spPr>
          <a:xfrm>
            <a:off x="3429000"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hecho, descrito sin calificarlo</a:t>
            </a:r>
            <a:endParaRPr lang="en-US" sz="950" dirty="0"/>
          </a:p>
        </p:txBody>
      </p:sp>
      <p:sp>
        <p:nvSpPr>
          <p:cNvPr id="19" name="Shape 17"/>
          <p:cNvSpPr/>
          <p:nvPr/>
        </p:nvSpPr>
        <p:spPr>
          <a:xfrm>
            <a:off x="6062472" y="178308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1929384"/>
            <a:ext cx="274320" cy="274320"/>
          </a:xfrm>
          <a:prstGeom prst="ellipse">
            <a:avLst/>
          </a:prstGeom>
          <a:solidFill>
            <a:srgbClr val="87D895"/>
          </a:solidFill>
          <a:ln/>
        </p:spPr>
      </p:sp>
      <p:sp>
        <p:nvSpPr>
          <p:cNvPr id="21" name="Text 19"/>
          <p:cNvSpPr txBox="1"/>
          <p:nvPr/>
        </p:nvSpPr>
        <p:spPr>
          <a:xfrm>
            <a:off x="6208776"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A qué hora se supo</a:t>
            </a:r>
            <a:endParaRPr lang="en-US" sz="1200" dirty="0"/>
          </a:p>
        </p:txBody>
      </p:sp>
      <p:sp>
        <p:nvSpPr>
          <p:cNvPr id="23" name="Text 21"/>
          <p:cNvSpPr txBox="1"/>
          <p:nvPr/>
        </p:nvSpPr>
        <p:spPr>
          <a:xfrm>
            <a:off x="6208776"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De este dato depende el plazo</a:t>
            </a:r>
            <a:endParaRPr lang="en-US" sz="950" dirty="0"/>
          </a:p>
        </p:txBody>
      </p:sp>
      <p:sp>
        <p:nvSpPr>
          <p:cNvPr id="24" name="Shape 22"/>
          <p:cNvSpPr/>
          <p:nvPr/>
        </p:nvSpPr>
        <p:spPr>
          <a:xfrm>
            <a:off x="502920" y="3264408"/>
            <a:ext cx="2578608" cy="1335024"/>
          </a:xfrm>
          <a:prstGeom prst="roundRect">
            <a:avLst>
              <a:gd name="adj" fmla="val 4110"/>
            </a:avLst>
          </a:prstGeom>
          <a:solidFill>
            <a:srgbClr val="FFFFFF"/>
          </a:solidFill>
          <a:ln w="9525">
            <a:solidFill>
              <a:srgbClr val="DCE6DE"/>
            </a:solidFill>
            <a:prstDash val="solid"/>
          </a:ln>
        </p:spPr>
      </p:sp>
      <p:sp>
        <p:nvSpPr>
          <p:cNvPr id="25" name="Shape 23"/>
          <p:cNvSpPr/>
          <p:nvPr/>
        </p:nvSpPr>
        <p:spPr>
          <a:xfrm>
            <a:off x="649224" y="3410712"/>
            <a:ext cx="274320" cy="274320"/>
          </a:xfrm>
          <a:prstGeom prst="ellipse">
            <a:avLst/>
          </a:prstGeom>
          <a:solidFill>
            <a:srgbClr val="87D895"/>
          </a:solidFill>
          <a:ln/>
        </p:spPr>
      </p:sp>
      <p:sp>
        <p:nvSpPr>
          <p:cNvPr id="26" name="Text 24"/>
          <p:cNvSpPr txBox="1"/>
          <p:nvPr/>
        </p:nvSpPr>
        <p:spPr>
          <a:xfrm>
            <a:off x="649224"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1005840"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Qué se revisó</a:t>
            </a:r>
            <a:endParaRPr lang="en-US" sz="1200" dirty="0"/>
          </a:p>
        </p:txBody>
      </p:sp>
      <p:sp>
        <p:nvSpPr>
          <p:cNvPr id="28" name="Text 26"/>
          <p:cNvSpPr txBox="1"/>
          <p:nvPr/>
        </p:nvSpPr>
        <p:spPr>
          <a:xfrm>
            <a:off x="649224"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Lo que convierte una corazonada en un análisis</a:t>
            </a:r>
            <a:endParaRPr lang="en-US" sz="950" dirty="0"/>
          </a:p>
        </p:txBody>
      </p:sp>
      <p:sp>
        <p:nvSpPr>
          <p:cNvPr id="29" name="Shape 27"/>
          <p:cNvSpPr/>
          <p:nvPr/>
        </p:nvSpPr>
        <p:spPr>
          <a:xfrm>
            <a:off x="3282696" y="3264408"/>
            <a:ext cx="2578608" cy="1335024"/>
          </a:xfrm>
          <a:prstGeom prst="roundRect">
            <a:avLst>
              <a:gd name="adj" fmla="val 4110"/>
            </a:avLst>
          </a:prstGeom>
          <a:solidFill>
            <a:srgbClr val="FFFFFF"/>
          </a:solidFill>
          <a:ln w="9525">
            <a:solidFill>
              <a:srgbClr val="DCE6DE"/>
            </a:solidFill>
            <a:prstDash val="solid"/>
          </a:ln>
        </p:spPr>
      </p:sp>
      <p:sp>
        <p:nvSpPr>
          <p:cNvPr id="30" name="Shape 28"/>
          <p:cNvSpPr/>
          <p:nvPr/>
        </p:nvSpPr>
        <p:spPr>
          <a:xfrm>
            <a:off x="3429000" y="3410712"/>
            <a:ext cx="274320" cy="274320"/>
          </a:xfrm>
          <a:prstGeom prst="ellipse">
            <a:avLst/>
          </a:prstGeom>
          <a:solidFill>
            <a:srgbClr val="87D895"/>
          </a:solidFill>
          <a:ln/>
        </p:spPr>
      </p:sp>
      <p:sp>
        <p:nvSpPr>
          <p:cNvPr id="31" name="Text 29"/>
          <p:cNvSpPr txBox="1"/>
          <p:nvPr/>
        </p:nvSpPr>
        <p:spPr>
          <a:xfrm>
            <a:off x="3429000"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5</a:t>
            </a:r>
            <a:endParaRPr lang="en-US" sz="1100" dirty="0"/>
          </a:p>
        </p:txBody>
      </p:sp>
      <p:sp>
        <p:nvSpPr>
          <p:cNvPr id="32" name="Text 30"/>
          <p:cNvSpPr txBox="1"/>
          <p:nvPr/>
        </p:nvSpPr>
        <p:spPr>
          <a:xfrm>
            <a:off x="3785616"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Quién decidió y por qué</a:t>
            </a:r>
            <a:endParaRPr lang="en-US" sz="1200" dirty="0"/>
          </a:p>
        </p:txBody>
      </p:sp>
      <p:sp>
        <p:nvSpPr>
          <p:cNvPr id="33" name="Text 31"/>
          <p:cNvSpPr txBox="1"/>
          <p:nvPr/>
        </p:nvSpPr>
        <p:spPr>
          <a:xfrm>
            <a:off x="3429000"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Lo que hace defendible la decisión de no avisar</a:t>
            </a:r>
            <a:endParaRPr lang="en-US" sz="950" dirty="0"/>
          </a:p>
        </p:txBody>
      </p:sp>
      <p:sp>
        <p:nvSpPr>
          <p:cNvPr id="34" name="Shape 32"/>
          <p:cNvSpPr/>
          <p:nvPr/>
        </p:nvSpPr>
        <p:spPr>
          <a:xfrm>
            <a:off x="6062472" y="3264408"/>
            <a:ext cx="2578608" cy="1335024"/>
          </a:xfrm>
          <a:prstGeom prst="roundRect">
            <a:avLst>
              <a:gd name="adj" fmla="val 4110"/>
            </a:avLst>
          </a:prstGeom>
          <a:solidFill>
            <a:srgbClr val="FFFFFF"/>
          </a:solidFill>
          <a:ln w="9525">
            <a:solidFill>
              <a:srgbClr val="DCE6DE"/>
            </a:solidFill>
            <a:prstDash val="solid"/>
          </a:ln>
        </p:spPr>
      </p:sp>
      <p:sp>
        <p:nvSpPr>
          <p:cNvPr id="35" name="Shape 33"/>
          <p:cNvSpPr/>
          <p:nvPr/>
        </p:nvSpPr>
        <p:spPr>
          <a:xfrm>
            <a:off x="6208776" y="3410712"/>
            <a:ext cx="274320" cy="274320"/>
          </a:xfrm>
          <a:prstGeom prst="ellipse">
            <a:avLst/>
          </a:prstGeom>
          <a:solidFill>
            <a:srgbClr val="87D895"/>
          </a:solidFill>
          <a:ln/>
        </p:spPr>
      </p:sp>
      <p:sp>
        <p:nvSpPr>
          <p:cNvPr id="36" name="Text 34"/>
          <p:cNvSpPr txBox="1"/>
          <p:nvPr/>
        </p:nvSpPr>
        <p:spPr>
          <a:xfrm>
            <a:off x="6208776" y="341071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6</a:t>
            </a:r>
            <a:endParaRPr lang="en-US" sz="1100" dirty="0"/>
          </a:p>
        </p:txBody>
      </p:sp>
      <p:sp>
        <p:nvSpPr>
          <p:cNvPr id="37" name="Text 35"/>
          <p:cNvSpPr txBox="1"/>
          <p:nvPr/>
        </p:nvSpPr>
        <p:spPr>
          <a:xfrm>
            <a:off x="6565392" y="3392424"/>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En qué terminó</a:t>
            </a:r>
            <a:endParaRPr lang="en-US" sz="1200" dirty="0"/>
          </a:p>
        </p:txBody>
      </p:sp>
      <p:sp>
        <p:nvSpPr>
          <p:cNvPr id="38" name="Text 36"/>
          <p:cNvSpPr txBox="1"/>
          <p:nvPr/>
        </p:nvSpPr>
        <p:spPr>
          <a:xfrm>
            <a:off x="6208776" y="3758184"/>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Y dónde queda el soporte, para reconstruirlo años después</a:t>
            </a:r>
            <a:endParaRPr lang="en-US" sz="950" dirty="0"/>
          </a:p>
        </p:txBody>
      </p:sp>
      <p:sp>
        <p:nvSpPr>
          <p:cNvPr id="39" name="Shape 37"/>
          <p:cNvSpPr/>
          <p:nvPr/>
        </p:nvSpPr>
        <p:spPr>
          <a:xfrm>
            <a:off x="502920" y="3977640"/>
            <a:ext cx="8138160" cy="640080"/>
          </a:xfrm>
          <a:prstGeom prst="roundRect">
            <a:avLst>
              <a:gd name="adj" fmla="val 8571"/>
            </a:avLst>
          </a:prstGeom>
          <a:solidFill>
            <a:srgbClr val="87D895"/>
          </a:solidFill>
          <a:ln/>
        </p:spPr>
      </p:sp>
      <p:sp>
        <p:nvSpPr>
          <p:cNvPr id="40" name="Text 3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La bitácora corta se llena y la larga no. Ésa es toda la razón de que sean seis.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1E"/>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2E7D4F"/>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8C9A90"/>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64C27B"/>
                </a:solidFill>
                <a:latin typeface="Arial" pitchFamily="34" charset="0"/>
                <a:ea typeface="Arial" pitchFamily="34" charset="-122"/>
                <a:cs typeface="Arial" pitchFamily="34" charset="-120"/>
              </a:rPr>
              <a:t>24</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64C27B"/>
                </a:solidFill>
                <a:latin typeface="Arial" pitchFamily="34" charset="0"/>
                <a:ea typeface="Arial" pitchFamily="34" charset="-122"/>
                <a:cs typeface="Arial" pitchFamily="34" charset="-120"/>
              </a:rPr>
              <a:t>EJERCICIO 2 · OCHO MINUTOS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El cliente que se fue</a:t>
            </a:r>
            <a:endParaRPr lang="en-US" sz="2700" dirty="0"/>
          </a:p>
        </p:txBody>
      </p:sp>
      <p:sp>
        <p:nvSpPr>
          <p:cNvPr id="9" name="Text 7"/>
          <p:cNvSpPr txBox="1"/>
          <p:nvPr/>
        </p:nvSpPr>
        <p:spPr>
          <a:xfrm>
            <a:off x="502920" y="1920240"/>
            <a:ext cx="8138160" cy="1920240"/>
          </a:xfrm>
          <a:prstGeom prst="rect">
            <a:avLst/>
          </a:prstGeom>
          <a:noFill/>
          <a:ln/>
        </p:spPr>
        <p:txBody>
          <a:bodyPr wrap="square" rtlCol="0" anchor="ctr"/>
          <a:lstStyle/>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Abra el Protocolo y la hoja «Bitácora de intentos».</a:t>
            </a:r>
            <a:endParaRPr lang="en-US" sz="1600" dirty="0"/>
          </a:p>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Caso: la persona pregunta por una operación grande, ofrece pagarla en efectivo y se retira cuando le piden identificación.</a:t>
            </a:r>
            <a:endParaRPr lang="en-US" sz="1600" dirty="0"/>
          </a:p>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Llene los seis campos.</a:t>
            </a:r>
            <a:endParaRPr lang="en-US" sz="1600" dirty="0"/>
          </a:p>
          <a:p>
            <a:pPr marL="228600" indent="-228600">
              <a:lnSpc>
                <a:spcPts val="2400"/>
              </a:lnSpc>
              <a:spcAft>
                <a:spcPts val="1000"/>
              </a:spcAft>
              <a:buSzPct val="100000"/>
              <a:buChar char="•"/>
            </a:pPr>
            <a:r>
              <a:rPr lang="en-US" sz="1600" dirty="0">
                <a:solidFill>
                  <a:srgbClr val="FFFFFF"/>
                </a:solidFill>
                <a:latin typeface="Arial" pitchFamily="34" charset="0"/>
                <a:ea typeface="Arial" pitchFamily="34" charset="-122"/>
                <a:cs typeface="Arial" pitchFamily="34" charset="-120"/>
              </a:rPr>
              <a:t>Decida: ¿es RCG 26 Bis o RCG 26 Bis 1?</a:t>
            </a:r>
            <a:endParaRPr lang="en-US" sz="1600" dirty="0"/>
          </a:p>
        </p:txBody>
      </p:sp>
      <p:sp>
        <p:nvSpPr>
          <p:cNvPr id="10" name="Shape 8"/>
          <p:cNvSpPr/>
          <p:nvPr/>
        </p:nvSpPr>
        <p:spPr>
          <a:xfrm>
            <a:off x="502920" y="3931920"/>
            <a:ext cx="8138160" cy="603504"/>
          </a:xfrm>
          <a:prstGeom prst="roundRect">
            <a:avLst>
              <a:gd name="adj" fmla="val 9091"/>
            </a:avLst>
          </a:prstGeom>
          <a:solidFill>
            <a:srgbClr val="2E7D4F"/>
          </a:solidFill>
          <a:ln/>
        </p:spPr>
      </p:sp>
      <p:sp>
        <p:nvSpPr>
          <p:cNvPr id="11" name="Text 9"/>
          <p:cNvSpPr txBox="1"/>
          <p:nvPr/>
        </p:nvSpPr>
        <p:spPr>
          <a:xfrm>
            <a:off x="731520" y="3950208"/>
            <a:ext cx="7680960" cy="56692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En el chat: ¿cuántos lo clasificaron como sospecha y cuántos como hechos o indicios?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25</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AVISOS ORDINARIOS · 76 a 84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Su plazo no arranca cuando firma</a:t>
            </a:r>
            <a:endParaRPr lang="en-US" sz="2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2194560"/>
                <a:gridCol w="4206240"/>
                <a:gridCol w="1737360"/>
              </a:tblGrid>
              <a:tr h="0">
                <a:tc>
                  <a:txBody>
                    <a:bodyPr/>
                    <a:lstStyle/>
                    <a:p>
                      <a:pPr indent="0" marL="0">
                        <a:buNone/>
                      </a:pPr>
                      <a:r>
                        <a:rPr lang="en-US" sz="1000" b="1" dirty="0">
                          <a:solidFill>
                            <a:srgbClr val="1B1B1E"/>
                          </a:solidFill>
                          <a:latin typeface="Arial" pitchFamily="34" charset="0"/>
                          <a:ea typeface="Arial" pitchFamily="34" charset="-122"/>
                          <a:cs typeface="Arial" pitchFamily="34" charset="-120"/>
                        </a:rPr>
                        <a:t>Fracción del artículo 17</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La fecha del acto u operación es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Fundamento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I · Juegos con apuesta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Cuando se liquidó el boleto o se entregó el premio, y se alcanzó el umbral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24 Bis fr. I</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II a) · Tarjeta de servicios o crédito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El último día del mes del consumo mensual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24 Bis fr. II</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III, V, VI, VII y VIII</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Cuando se tenga por liquidado el acto y se alcanzó el umbral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24 Bis fr. III</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V Bis · Desarrollo inmobiliario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La última aportación del mes calendario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24 Bis fr. IV</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XI · Servicios profesionales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Cuando el prestador realiza la operación financiera, no la fecha del contrato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24 Bis fr. VII</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XII · Fe pública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Cuando se otorgó el instrumento o se hizo la protocolización</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 5, segundo párrafo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plazo del día 17 es del artículo 23 de la Ley. Lo que cambia por fracción es el día en que empieza a correr. Son nueve reglas distintas.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26</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24 BIS 1</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Un aviso por cada acto u operación</a:t>
            </a:r>
            <a:endParaRPr lang="en-US" sz="2700" dirty="0"/>
          </a:p>
        </p:txBody>
      </p:sp>
      <p:sp>
        <p:nvSpPr>
          <p:cNvPr id="9" name="Text 7"/>
          <p:cNvSpPr txBox="1"/>
          <p:nvPr/>
        </p:nvSpPr>
        <p:spPr>
          <a:xfrm>
            <a:off x="502920" y="1874520"/>
            <a:ext cx="8138160" cy="2651760"/>
          </a:xfrm>
          <a:prstGeom prst="rect">
            <a:avLst/>
          </a:prstGeom>
          <a:noFill/>
          <a:ln/>
        </p:spPr>
        <p:txBody>
          <a:bodyPr wrap="square" rtlCol="0" anchor="t"/>
          <a:lstStyle/>
          <a:p>
            <a:pPr marL="228600" indent="-228600">
              <a:lnSpc>
                <a:spcPts val="2000"/>
              </a:lnSpc>
              <a:spcAft>
                <a:spcPts val="900"/>
              </a:spcAft>
              <a:buSzPct val="100000"/>
              <a:buChar char="•"/>
            </a:pPr>
            <a:r>
              <a:rPr lang="en-US" sz="1500" dirty="0">
                <a:solidFill>
                  <a:srgbClr val="1B1B1E"/>
                </a:solidFill>
                <a:latin typeface="Arial" pitchFamily="34" charset="0"/>
                <a:ea typeface="Arial" pitchFamily="34" charset="-122"/>
                <a:cs typeface="Arial" pitchFamily="34" charset="-120"/>
              </a:rPr>
              <a:t>Un Aviso por cada acto u operación que, individualmente o por acumulación del artículo 7 del Reglamento, alcance el umbral o la condición de aviso.</a:t>
            </a:r>
            <a:endParaRPr lang="en-US" sz="1500" dirty="0"/>
          </a:p>
          <a:p>
            <a:pPr marL="228600" indent="-228600">
              <a:lnSpc>
                <a:spcPts val="2000"/>
              </a:lnSpc>
              <a:spcAft>
                <a:spcPts val="900"/>
              </a:spcAft>
              <a:buSzPct val="100000"/>
              <a:buChar char="•"/>
            </a:pPr>
            <a:r>
              <a:rPr lang="en-US" sz="1500" dirty="0">
                <a:solidFill>
                  <a:srgbClr val="1B1B1E"/>
                </a:solidFill>
                <a:latin typeface="Arial" pitchFamily="34" charset="0"/>
                <a:ea typeface="Arial" pitchFamily="34" charset="-122"/>
                <a:cs typeface="Arial" pitchFamily="34" charset="-120"/>
              </a:rPr>
              <a:t>Excepción 1 · Tarjeta de servicios o de crédito: el acto u operación es el gasto mensual acumulado de la cuenta.</a:t>
            </a:r>
            <a:endParaRPr lang="en-US" sz="1500" dirty="0"/>
          </a:p>
          <a:p>
            <a:pPr marL="228600" indent="-228600">
              <a:lnSpc>
                <a:spcPts val="2000"/>
              </a:lnSpc>
              <a:spcAft>
                <a:spcPts val="900"/>
              </a:spcAft>
              <a:buSzPct val="100000"/>
              <a:buChar char="•"/>
            </a:pPr>
            <a:r>
              <a:rPr lang="en-US" sz="1500" dirty="0">
                <a:solidFill>
                  <a:srgbClr val="1B1B1E"/>
                </a:solidFill>
                <a:latin typeface="Arial" pitchFamily="34" charset="0"/>
                <a:ea typeface="Arial" pitchFamily="34" charset="-122"/>
                <a:cs typeface="Arial" pitchFamily="34" charset="-120"/>
              </a:rPr>
              <a:t>Excepción 2 · Desarrollo inmobiliario: se puede enviar un solo Aviso al mes si todos los recursos van al mismo desarrollo y ninguno rebasa su plazo.</a:t>
            </a:r>
            <a:endParaRPr lang="en-US" sz="1500" dirty="0"/>
          </a:p>
        </p:txBody>
      </p:sp>
      <p:sp>
        <p:nvSpPr>
          <p:cNvPr id="10" name="Shape 8"/>
          <p:cNvSpPr/>
          <p:nvPr/>
        </p:nvSpPr>
        <p:spPr>
          <a:xfrm>
            <a:off x="502920" y="3977640"/>
            <a:ext cx="8138160" cy="640080"/>
          </a:xfrm>
          <a:prstGeom prst="roundRect">
            <a:avLst>
              <a:gd name="adj" fmla="val 8571"/>
            </a:avLst>
          </a:prstGeom>
          <a:solidFill>
            <a:srgbClr val="87D895"/>
          </a:solidFill>
          <a:ln/>
        </p:spPr>
      </p:sp>
      <p:sp>
        <p:nvSpPr>
          <p:cNvPr id="11" name="Text 9"/>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Da igual la herramienta con que lo envíe: el criterio es un aviso por acto, no un aviso por mes.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27</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25 · EL INFORME EN CERO</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mes en que no pasó nada también se reporta</a:t>
            </a:r>
            <a:endParaRPr lang="en-US" sz="2700" dirty="0"/>
          </a:p>
        </p:txBody>
      </p:sp>
      <p:sp>
        <p:nvSpPr>
          <p:cNvPr id="9" name="Shape 7"/>
          <p:cNvSpPr/>
          <p:nvPr/>
        </p:nvSpPr>
        <p:spPr>
          <a:xfrm>
            <a:off x="502920" y="192024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2066544"/>
            <a:ext cx="274320" cy="274320"/>
          </a:xfrm>
          <a:prstGeom prst="ellipse">
            <a:avLst/>
          </a:prstGeom>
          <a:solidFill>
            <a:srgbClr val="87D895"/>
          </a:solidFill>
          <a:ln/>
        </p:spPr>
      </p:sp>
      <p:sp>
        <p:nvSpPr>
          <p:cNvPr id="11" name="Text 9"/>
          <p:cNvSpPr txBox="1"/>
          <p:nvPr/>
        </p:nvSpPr>
        <p:spPr>
          <a:xfrm>
            <a:off x="649224"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204825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Qué se llena</a:t>
            </a:r>
            <a:endParaRPr lang="en-US" sz="1200" dirty="0"/>
          </a:p>
        </p:txBody>
      </p:sp>
      <p:sp>
        <p:nvSpPr>
          <p:cNvPr id="13" name="Text 11"/>
          <p:cNvSpPr txBox="1"/>
          <p:nvPr/>
        </p:nvSpPr>
        <p:spPr>
          <a:xfrm>
            <a:off x="649224" y="241401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Identificación de quien realiza la Actividad Vulnerable, el periodo, y el señalamiento de que no hubo actos objeto de Aviso</a:t>
            </a:r>
            <a:endParaRPr lang="en-US" sz="950" dirty="0"/>
          </a:p>
        </p:txBody>
      </p:sp>
      <p:sp>
        <p:nvSpPr>
          <p:cNvPr id="14" name="Shape 12"/>
          <p:cNvSpPr/>
          <p:nvPr/>
        </p:nvSpPr>
        <p:spPr>
          <a:xfrm>
            <a:off x="3282696" y="192024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2066544"/>
            <a:ext cx="274320" cy="274320"/>
          </a:xfrm>
          <a:prstGeom prst="ellipse">
            <a:avLst/>
          </a:prstGeom>
          <a:solidFill>
            <a:srgbClr val="87D895"/>
          </a:solidFill>
          <a:ln/>
        </p:spPr>
      </p:sp>
      <p:sp>
        <p:nvSpPr>
          <p:cNvPr id="16" name="Text 14"/>
          <p:cNvSpPr txBox="1"/>
          <p:nvPr/>
        </p:nvSpPr>
        <p:spPr>
          <a:xfrm>
            <a:off x="3429000"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204825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No se puede deshacer</a:t>
            </a:r>
            <a:endParaRPr lang="en-US" sz="1200" dirty="0"/>
          </a:p>
        </p:txBody>
      </p:sp>
      <p:sp>
        <p:nvSpPr>
          <p:cNvPr id="18" name="Text 16"/>
          <p:cNvSpPr txBox="1"/>
          <p:nvPr/>
        </p:nvSpPr>
        <p:spPr>
          <a:xfrm>
            <a:off x="3429000" y="241401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Una vez enviado, el informe no se puede modificar ni eliminar</a:t>
            </a:r>
            <a:endParaRPr lang="en-US" sz="950" dirty="0"/>
          </a:p>
        </p:txBody>
      </p:sp>
      <p:sp>
        <p:nvSpPr>
          <p:cNvPr id="19" name="Shape 17"/>
          <p:cNvSpPr/>
          <p:nvPr/>
        </p:nvSpPr>
        <p:spPr>
          <a:xfrm>
            <a:off x="6062472" y="192024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2066544"/>
            <a:ext cx="274320" cy="274320"/>
          </a:xfrm>
          <a:prstGeom prst="ellipse">
            <a:avLst/>
          </a:prstGeom>
          <a:solidFill>
            <a:srgbClr val="87D895"/>
          </a:solidFill>
          <a:ln/>
        </p:spPr>
      </p:sp>
      <p:sp>
        <p:nvSpPr>
          <p:cNvPr id="21" name="Text 19"/>
          <p:cNvSpPr txBox="1"/>
          <p:nvPr/>
        </p:nvSpPr>
        <p:spPr>
          <a:xfrm>
            <a:off x="6208776" y="206654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204825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Y si después aparece uno</a:t>
            </a:r>
            <a:endParaRPr lang="en-US" sz="1200" dirty="0"/>
          </a:p>
        </p:txBody>
      </p:sp>
      <p:sp>
        <p:nvSpPr>
          <p:cNvPr id="23" name="Text 21"/>
          <p:cNvSpPr txBox="1"/>
          <p:nvPr/>
        </p:nvSpPr>
        <p:spPr>
          <a:xfrm>
            <a:off x="6208776" y="241401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Se presenta el Aviso igual, y la autoridad determina si se cumplió en plazo</a:t>
            </a:r>
            <a:endParaRPr lang="en-US" sz="950" dirty="0"/>
          </a:p>
        </p:txBody>
      </p:sp>
      <p:sp>
        <p:nvSpPr>
          <p:cNvPr id="24" name="Shape 22"/>
          <p:cNvSpPr/>
          <p:nvPr/>
        </p:nvSpPr>
        <p:spPr>
          <a:xfrm>
            <a:off x="502920" y="3977640"/>
            <a:ext cx="8138160" cy="640080"/>
          </a:xfrm>
          <a:prstGeom prst="roundRect">
            <a:avLst>
              <a:gd name="adj" fmla="val 8571"/>
            </a:avLst>
          </a:prstGeom>
          <a:solidFill>
            <a:srgbClr val="87D895"/>
          </a:solidFill>
          <a:ln/>
        </p:spPr>
      </p:sp>
      <p:sp>
        <p:nvSpPr>
          <p:cNvPr id="25" name="Text 23"/>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silencio no es una opción. · Y si en el mes sólo hubo operaciones del artículo 27 Bis, hay un informe propio: RCG 25 Bis.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28</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28</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LO QUE MÁS RECHAZOS PRODUCE</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Tres cosas que casi nadie tiene bien</a:t>
            </a:r>
            <a:endParaRPr lang="en-US" sz="27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645920"/>
                <a:gridCol w="4937760"/>
                <a:gridCol w="1554480"/>
              </a:tblGrid>
              <a:tr h="0">
                <a:tc>
                  <a:txBody>
                    <a:bodyPr/>
                    <a:lstStyle/>
                    <a:p>
                      <a:pPr indent="0" marL="0">
                        <a:buNone/>
                      </a:pP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Qué hay que saber</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Fundamento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La firma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La persona moral, el fideicomiso y la Entidad Colegiada usan la e.firma asociada a SU PROPIO RFC. No la del representante legal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24, segundo párrafo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Lo que no es objeto de aviso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Cinco supuestos: préstamos dentro de un grupo empresarial · ciertos fideicomisos públicos · primera venta de vivienda con recursos de banca de desarrollo pagada por el sistema financiero · venta de armadora a su distribuidor · arrendamiento dentro del grupo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RCG 27 Bis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Dónde viven los formatos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Los formatos de Aviso NO están en las Reglas. Los Anexos 1 a 10 de las Reglas son de identificación; los formatos oficiales viven en la Resolución publicada en el Diario Oficial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L 24 · RCG 24</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Si alguien les vendió un curso donde el Anexo 4 es un formato de aviso, pidan su dinero de vuelta: el Anexo 4 es el expediente de una persona moral mexicana.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29</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29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BENEFICIARIO CONTROLADOR · 84 a 108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Las dos obligaciones que se confunden</a:t>
            </a:r>
            <a:endParaRPr lang="en-US" sz="2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1371600"/>
                <a:gridCol w="3383280"/>
                <a:gridCol w="3383280"/>
              </a:tblGrid>
              <a:tr h="0">
                <a:tc>
                  <a:txBody>
                    <a:bodyPr/>
                    <a:lstStyle/>
                    <a:p>
                      <a:pPr indent="0" marL="0">
                        <a:buNone/>
                      </a:pP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Identificar al BC de su cliente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00" b="1" dirty="0">
                          <a:solidFill>
                            <a:srgbClr val="1B1B1E"/>
                          </a:solidFill>
                          <a:latin typeface="Arial" pitchFamily="34" charset="0"/>
                          <a:ea typeface="Arial" pitchFamily="34" charset="-122"/>
                          <a:cs typeface="Arial" pitchFamily="34" charset="-120"/>
                        </a:rPr>
                        <a:t>Registrar su propio BC</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Fundamento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L 18 fr. III · RCG 23 Quinquies</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L 33 Bis y L 33 Ter</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Quién debe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Quien realiza la Actividad Vulnerable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Toda sociedad mercantil, sea o no sujeto obligado</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Ante quién</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En su propio expediente</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Sistema electrónico de la Secretaría de Economía</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B1B1E"/>
                          </a:solidFill>
                          <a:latin typeface="Arial" pitchFamily="34" charset="0"/>
                          <a:ea typeface="Arial" pitchFamily="34" charset="-122"/>
                          <a:cs typeface="Arial" pitchFamily="34" charset="-120"/>
                        </a:rPr>
                        <a:t>Sanción</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200 a 2,000 UMA · de $23,462 a $234,620</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00" dirty="0">
                          <a:solidFill>
                            <a:srgbClr val="1B1B1E"/>
                          </a:solidFill>
                          <a:latin typeface="Arial" pitchFamily="34" charset="0"/>
                          <a:ea typeface="Arial" pitchFamily="34" charset="-122"/>
                          <a:cs typeface="Arial" pitchFamily="34" charset="-120"/>
                        </a:rPr>
                        <a:t>2,000 a 10,000 UMA · de $234,620 a $1,173,100</a:t>
                      </a:r>
                      <a:endParaRPr lang="en-US" sz="11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Y hay una TERCERA, en otro ordenamiento: el CFF 32-B Ter obliga a las personas morales a identificar a su beneficiario controlador ante el SAT, con umbral de MÁS DEL 15 %. La constancia rendida ante una autoridad no libera ante la otra. · UMA 2026 = $117.31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30</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SU BLINDAJE</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umbral es doble, y las dos cifras son ciertas</a:t>
            </a:r>
            <a:endParaRPr lang="en-US" sz="2700" dirty="0"/>
          </a:p>
        </p:txBody>
      </p:sp>
      <p:sp>
        <p:nvSpPr>
          <p:cNvPr id="9" name="Shape 7"/>
          <p:cNvSpPr/>
          <p:nvPr/>
        </p:nvSpPr>
        <p:spPr>
          <a:xfrm>
            <a:off x="502920" y="1920240"/>
            <a:ext cx="3931920" cy="1463040"/>
          </a:xfrm>
          <a:prstGeom prst="roundRect">
            <a:avLst>
              <a:gd name="adj" fmla="val 5000"/>
            </a:avLst>
          </a:prstGeom>
          <a:solidFill>
            <a:srgbClr val="FFFFFF"/>
          </a:solidFill>
          <a:ln w="9525">
            <a:solidFill>
              <a:srgbClr val="DCE6DE"/>
            </a:solidFill>
            <a:prstDash val="solid"/>
          </a:ln>
        </p:spPr>
      </p:sp>
      <p:sp>
        <p:nvSpPr>
          <p:cNvPr id="10" name="Text 8"/>
          <p:cNvSpPr txBox="1"/>
          <p:nvPr/>
        </p:nvSpPr>
        <p:spPr>
          <a:xfrm>
            <a:off x="685800" y="2066544"/>
            <a:ext cx="3566160" cy="658368"/>
          </a:xfrm>
          <a:prstGeom prst="rect">
            <a:avLst/>
          </a:prstGeom>
          <a:noFill/>
          <a:ln/>
        </p:spPr>
        <p:txBody>
          <a:bodyPr wrap="square" lIns="0" tIns="0" rIns="0" bIns="0" rtlCol="0" anchor="ctr"/>
          <a:lstStyle/>
          <a:p>
            <a:pPr indent="0" marL="0">
              <a:buNone/>
            </a:pPr>
            <a:r>
              <a:rPr lang="en-US" sz="3000" b="1" dirty="0">
                <a:solidFill>
                  <a:srgbClr val="2E7D4F"/>
                </a:solidFill>
                <a:latin typeface="Arial" pitchFamily="34" charset="0"/>
                <a:ea typeface="Arial" pitchFamily="34" charset="-122"/>
                <a:cs typeface="Arial" pitchFamily="34" charset="-120"/>
              </a:rPr>
              <a:t>más del 25 %</a:t>
            </a:r>
            <a:endParaRPr lang="en-US" sz="3000" dirty="0"/>
          </a:p>
        </p:txBody>
      </p:sp>
      <p:sp>
        <p:nvSpPr>
          <p:cNvPr id="11" name="Text 9"/>
          <p:cNvSpPr txBox="1"/>
          <p:nvPr/>
        </p:nvSpPr>
        <p:spPr>
          <a:xfrm>
            <a:off x="685800" y="2761488"/>
            <a:ext cx="3566160" cy="512064"/>
          </a:xfrm>
          <a:prstGeom prst="rect">
            <a:avLst/>
          </a:prstGeom>
          <a:noFill/>
          <a:ln/>
        </p:spPr>
        <p:txBody>
          <a:bodyPr wrap="square" lIns="0" tIns="0" rIns="0" bIns="0" rtlCol="0" anchor="t"/>
          <a:lstStyle/>
          <a:p>
            <a:pPr indent="0" marL="0">
              <a:buNone/>
            </a:pPr>
            <a:r>
              <a:rPr lang="en-US" sz="1100" dirty="0">
                <a:solidFill>
                  <a:srgbClr val="4D4D4D"/>
                </a:solidFill>
                <a:latin typeface="Arial" pitchFamily="34" charset="0"/>
                <a:ea typeface="Arial" pitchFamily="34" charset="-122"/>
                <a:cs typeface="Arial" pitchFamily="34" charset="-120"/>
              </a:rPr>
              <a:t>LA LEY · L 3 fr. III, inciso b), subinciso ii)</a:t>
            </a:r>
            <a:endParaRPr lang="en-US" sz="1100" dirty="0"/>
          </a:p>
          <a:p>
            <a:pPr indent="0" marL="0">
              <a:buNone/>
            </a:pPr>
            <a:r>
              <a:rPr lang="en-US" sz="1100" dirty="0">
                <a:solidFill>
                  <a:srgbClr val="4D4D4D"/>
                </a:solidFill>
                <a:latin typeface="Arial" pitchFamily="34" charset="0"/>
                <a:ea typeface="Arial" pitchFamily="34" charset="-122"/>
                <a:cs typeface="Arial" pitchFamily="34" charset="-120"/>
              </a:rPr>
              <a:t>Habla de DERECHOS DE VOTO</a:t>
            </a:r>
            <a:endParaRPr lang="en-US" sz="1100" dirty="0"/>
          </a:p>
        </p:txBody>
      </p:sp>
      <p:sp>
        <p:nvSpPr>
          <p:cNvPr id="12" name="Shape 10"/>
          <p:cNvSpPr/>
          <p:nvPr/>
        </p:nvSpPr>
        <p:spPr>
          <a:xfrm>
            <a:off x="4709160" y="1920240"/>
            <a:ext cx="3931920" cy="1463040"/>
          </a:xfrm>
          <a:prstGeom prst="roundRect">
            <a:avLst>
              <a:gd name="adj" fmla="val 5000"/>
            </a:avLst>
          </a:prstGeom>
          <a:solidFill>
            <a:srgbClr val="FFFFFF"/>
          </a:solidFill>
          <a:ln w="9525">
            <a:solidFill>
              <a:srgbClr val="DCE6DE"/>
            </a:solidFill>
            <a:prstDash val="solid"/>
          </a:ln>
        </p:spPr>
      </p:sp>
      <p:sp>
        <p:nvSpPr>
          <p:cNvPr id="13" name="Text 11"/>
          <p:cNvSpPr txBox="1"/>
          <p:nvPr/>
        </p:nvSpPr>
        <p:spPr>
          <a:xfrm>
            <a:off x="4892040" y="2066544"/>
            <a:ext cx="3566160" cy="658368"/>
          </a:xfrm>
          <a:prstGeom prst="rect">
            <a:avLst/>
          </a:prstGeom>
          <a:noFill/>
          <a:ln/>
        </p:spPr>
        <p:txBody>
          <a:bodyPr wrap="square" lIns="0" tIns="0" rIns="0" bIns="0" rtlCol="0" anchor="ctr"/>
          <a:lstStyle/>
          <a:p>
            <a:pPr indent="0" marL="0">
              <a:buNone/>
            </a:pPr>
            <a:r>
              <a:rPr lang="en-US" sz="3000" b="1" dirty="0">
                <a:solidFill>
                  <a:srgbClr val="2E7D4F"/>
                </a:solidFill>
                <a:latin typeface="Arial" pitchFamily="34" charset="0"/>
                <a:ea typeface="Arial" pitchFamily="34" charset="-122"/>
                <a:cs typeface="Arial" pitchFamily="34" charset="-120"/>
              </a:rPr>
              <a:t>25 % o más</a:t>
            </a:r>
            <a:endParaRPr lang="en-US" sz="3000" dirty="0"/>
          </a:p>
        </p:txBody>
      </p:sp>
      <p:sp>
        <p:nvSpPr>
          <p:cNvPr id="14" name="Text 12"/>
          <p:cNvSpPr txBox="1"/>
          <p:nvPr/>
        </p:nvSpPr>
        <p:spPr>
          <a:xfrm>
            <a:off x="4892040" y="2761488"/>
            <a:ext cx="3566160" cy="512064"/>
          </a:xfrm>
          <a:prstGeom prst="rect">
            <a:avLst/>
          </a:prstGeom>
          <a:noFill/>
          <a:ln/>
        </p:spPr>
        <p:txBody>
          <a:bodyPr wrap="square" lIns="0" tIns="0" rIns="0" bIns="0" rtlCol="0" anchor="t"/>
          <a:lstStyle/>
          <a:p>
            <a:pPr indent="0" marL="0">
              <a:buNone/>
            </a:pPr>
            <a:r>
              <a:rPr lang="en-US" sz="1100" dirty="0">
                <a:solidFill>
                  <a:srgbClr val="4D4D4D"/>
                </a:solidFill>
                <a:latin typeface="Arial" pitchFamily="34" charset="0"/>
                <a:ea typeface="Arial" pitchFamily="34" charset="-122"/>
                <a:cs typeface="Arial" pitchFamily="34" charset="-120"/>
              </a:rPr>
              <a:t>LA REGLA · RCG 23 Quinquies fr. I</a:t>
            </a:r>
            <a:endParaRPr lang="en-US" sz="1100" dirty="0"/>
          </a:p>
          <a:p>
            <a:pPr indent="0" marL="0">
              <a:buNone/>
            </a:pPr>
            <a:r>
              <a:rPr lang="en-US" sz="1100" dirty="0">
                <a:solidFill>
                  <a:srgbClr val="4D4D4D"/>
                </a:solidFill>
                <a:latin typeface="Arial" pitchFamily="34" charset="0"/>
                <a:ea typeface="Arial" pitchFamily="34" charset="-122"/>
                <a:cs typeface="Arial" pitchFamily="34" charset="-120"/>
              </a:rPr>
              <a:t>Habla de COMPOSICIÓN ACCIONARIA o parte social</a:t>
            </a:r>
            <a:endParaRPr lang="en-US" sz="1100" dirty="0"/>
          </a:p>
        </p:txBody>
      </p:sp>
      <p:sp>
        <p:nvSpPr>
          <p:cNvPr id="15" name="Shape 13"/>
          <p:cNvSpPr/>
          <p:nvPr/>
        </p:nvSpPr>
        <p:spPr>
          <a:xfrm>
            <a:off x="502920" y="3703320"/>
            <a:ext cx="8138160" cy="640080"/>
          </a:xfrm>
          <a:prstGeom prst="roundRect">
            <a:avLst>
              <a:gd name="adj" fmla="val 8571"/>
            </a:avLst>
          </a:prstGeom>
          <a:solidFill>
            <a:srgbClr val="87D895"/>
          </a:solidFill>
          <a:ln/>
        </p:spPr>
      </p:sp>
      <p:sp>
        <p:nvSpPr>
          <p:cNvPr id="16" name="Text 14"/>
          <p:cNvSpPr txBox="1"/>
          <p:nvPr/>
        </p:nvSpPr>
        <p:spPr>
          <a:xfrm>
            <a:off x="731520" y="372160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Antes de la reforma del 16 de julio de 2025 la Ley decía «más del cincuenta por ciento». Cotejado contra el texto original publicado el 17 de octubre de 2012.</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31</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23 QUINQUIES · LA DEUDA DEL 10 DE AGOSTO</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orden de prelación</a:t>
            </a:r>
            <a:endParaRPr lang="en-US" sz="2700" dirty="0"/>
          </a:p>
        </p:txBody>
      </p:sp>
      <p:sp>
        <p:nvSpPr>
          <p:cNvPr id="9" name="Shape 7"/>
          <p:cNvSpPr/>
          <p:nvPr/>
        </p:nvSpPr>
        <p:spPr>
          <a:xfrm>
            <a:off x="502920" y="178308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29384"/>
            <a:ext cx="274320" cy="274320"/>
          </a:xfrm>
          <a:prstGeom prst="ellipse">
            <a:avLst/>
          </a:prstGeom>
          <a:solidFill>
            <a:srgbClr val="87D895"/>
          </a:solidFill>
          <a:ln/>
        </p:spPr>
      </p:sp>
      <p:sp>
        <p:nvSpPr>
          <p:cNvPr id="11" name="Text 9"/>
          <p:cNvSpPr txBox="1"/>
          <p:nvPr/>
        </p:nvSpPr>
        <p:spPr>
          <a:xfrm>
            <a:off x="649224"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Nivel 1</a:t>
            </a:r>
            <a:endParaRPr lang="en-US" sz="1200" dirty="0"/>
          </a:p>
        </p:txBody>
      </p:sp>
      <p:sp>
        <p:nvSpPr>
          <p:cNvPr id="13" name="Text 11"/>
          <p:cNvSpPr txBox="1"/>
          <p:nvPr/>
        </p:nvSpPr>
        <p:spPr>
          <a:xfrm>
            <a:off x="649224"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Quien directa o indirectamente adquiera, sea titular o posea por cualquier título legal el 25 % o más de la composición accionaria o parte social</a:t>
            </a:r>
            <a:endParaRPr lang="en-US" sz="950" dirty="0"/>
          </a:p>
        </p:txBody>
      </p:sp>
      <p:sp>
        <p:nvSpPr>
          <p:cNvPr id="14" name="Shape 12"/>
          <p:cNvSpPr/>
          <p:nvPr/>
        </p:nvSpPr>
        <p:spPr>
          <a:xfrm>
            <a:off x="3282696" y="178308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1929384"/>
            <a:ext cx="274320" cy="274320"/>
          </a:xfrm>
          <a:prstGeom prst="ellipse">
            <a:avLst/>
          </a:prstGeom>
          <a:solidFill>
            <a:srgbClr val="87D895"/>
          </a:solidFill>
          <a:ln/>
        </p:spPr>
      </p:sp>
      <p:sp>
        <p:nvSpPr>
          <p:cNvPr id="16" name="Text 14"/>
          <p:cNvSpPr txBox="1"/>
          <p:nvPr/>
        </p:nvSpPr>
        <p:spPr>
          <a:xfrm>
            <a:off x="3429000"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Nivel 2</a:t>
            </a:r>
            <a:endParaRPr lang="en-US" sz="1200" dirty="0"/>
          </a:p>
        </p:txBody>
      </p:sp>
      <p:sp>
        <p:nvSpPr>
          <p:cNvPr id="18" name="Text 16"/>
          <p:cNvSpPr txBox="1"/>
          <p:nvPr/>
        </p:nvSpPr>
        <p:spPr>
          <a:xfrm>
            <a:off x="3429000"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Quien tenga el control por otros medios distintos, con funciones relacionadas con la estrategia, la toma de decisiones y la dirección de las principales políticas</a:t>
            </a:r>
            <a:endParaRPr lang="en-US" sz="950" dirty="0"/>
          </a:p>
        </p:txBody>
      </p:sp>
      <p:sp>
        <p:nvSpPr>
          <p:cNvPr id="19" name="Shape 17"/>
          <p:cNvSpPr/>
          <p:nvPr/>
        </p:nvSpPr>
        <p:spPr>
          <a:xfrm>
            <a:off x="6062472" y="178308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1929384"/>
            <a:ext cx="274320" cy="274320"/>
          </a:xfrm>
          <a:prstGeom prst="ellipse">
            <a:avLst/>
          </a:prstGeom>
          <a:solidFill>
            <a:srgbClr val="87D895"/>
          </a:solidFill>
          <a:ln/>
        </p:spPr>
      </p:sp>
      <p:sp>
        <p:nvSpPr>
          <p:cNvPr id="21" name="Text 19"/>
          <p:cNvSpPr txBox="1"/>
          <p:nvPr/>
        </p:nvSpPr>
        <p:spPr>
          <a:xfrm>
            <a:off x="6208776"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Nivel 3</a:t>
            </a:r>
            <a:endParaRPr lang="en-US" sz="1200" dirty="0"/>
          </a:p>
        </p:txBody>
      </p:sp>
      <p:sp>
        <p:nvSpPr>
          <p:cNvPr id="23" name="Text 21"/>
          <p:cNvSpPr txBox="1"/>
          <p:nvPr/>
        </p:nvSpPr>
        <p:spPr>
          <a:xfrm>
            <a:off x="6208776"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Quien ocupe la posición de funcionario administrativo de mayor grado o de alta dirección</a:t>
            </a:r>
            <a:endParaRPr lang="en-US" sz="950" dirty="0"/>
          </a:p>
        </p:txBody>
      </p:sp>
      <p:sp>
        <p:nvSpPr>
          <p:cNvPr id="24" name="Shape 22"/>
          <p:cNvSpPr/>
          <p:nvPr/>
        </p:nvSpPr>
        <p:spPr>
          <a:xfrm>
            <a:off x="502920" y="3291840"/>
            <a:ext cx="8138160" cy="658368"/>
          </a:xfrm>
          <a:prstGeom prst="roundRect">
            <a:avLst>
              <a:gd name="adj" fmla="val 8333"/>
            </a:avLst>
          </a:prstGeom>
          <a:solidFill>
            <a:srgbClr val="1B1B1E"/>
          </a:solidFill>
          <a:ln/>
        </p:spPr>
      </p:sp>
      <p:sp>
        <p:nvSpPr>
          <p:cNvPr id="25" name="Text 23"/>
          <p:cNvSpPr txBox="1"/>
          <p:nvPr/>
        </p:nvSpPr>
        <p:spPr>
          <a:xfrm>
            <a:off x="777240" y="3310128"/>
            <a:ext cx="7589520" cy="62179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El nivel 3 cierra siempre. Nunca es válido concluir que no hay Beneficiario Controlador.</a:t>
            </a:r>
            <a:endParaRPr lang="en-US" sz="1400" dirty="0"/>
          </a:p>
        </p:txBody>
      </p:sp>
      <p:sp>
        <p:nvSpPr>
          <p:cNvPr id="26" name="Shape 24"/>
          <p:cNvSpPr/>
          <p:nvPr/>
        </p:nvSpPr>
        <p:spPr>
          <a:xfrm>
            <a:off x="502920" y="4069080"/>
            <a:ext cx="8138160" cy="640080"/>
          </a:xfrm>
          <a:prstGeom prst="roundRect">
            <a:avLst>
              <a:gd name="adj" fmla="val 8571"/>
            </a:avLst>
          </a:prstGeom>
          <a:solidFill>
            <a:srgbClr val="87D895"/>
          </a:solidFill>
          <a:ln/>
        </p:spPr>
      </p:sp>
      <p:sp>
        <p:nvSpPr>
          <p:cNvPr id="27" name="Text 25"/>
          <p:cNvSpPr txBox="1"/>
          <p:nvPr/>
        </p:nvSpPr>
        <p:spPr>
          <a:xfrm>
            <a:off x="731520" y="408736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En la cadena NO se multiplican porcentajes: se mide quién decide en cada eslabón. Quien controla el 75 % de una sociedad que tiene el 52 % de su cliente, decide en su cliente. · Es criterio, no artículo.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32</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3 fr. IV, PÁRRAFO FINAL</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Los dos que NO son Beneficiario Controlador</a:t>
            </a:r>
            <a:endParaRPr lang="en-US" sz="2700" dirty="0"/>
          </a:p>
        </p:txBody>
      </p:sp>
      <p:sp>
        <p:nvSpPr>
          <p:cNvPr id="9" name="Shape 7"/>
          <p:cNvSpPr/>
          <p:nvPr/>
        </p:nvSpPr>
        <p:spPr>
          <a:xfrm>
            <a:off x="502920" y="1627632"/>
            <a:ext cx="54864" cy="1234440"/>
          </a:xfrm>
          <a:prstGeom prst="rect">
            <a:avLst/>
          </a:prstGeom>
          <a:solidFill>
            <a:srgbClr val="64C27B"/>
          </a:solidFill>
          <a:ln/>
        </p:spPr>
      </p:sp>
      <p:sp>
        <p:nvSpPr>
          <p:cNvPr id="10" name="Text 8"/>
          <p:cNvSpPr txBox="1"/>
          <p:nvPr/>
        </p:nvSpPr>
        <p:spPr>
          <a:xfrm>
            <a:off x="841248" y="1627632"/>
            <a:ext cx="7772400" cy="1234440"/>
          </a:xfrm>
          <a:prstGeom prst="rect">
            <a:avLst/>
          </a:prstGeom>
          <a:noFill/>
          <a:ln/>
        </p:spPr>
        <p:txBody>
          <a:bodyPr wrap="square" lIns="0" tIns="0" rIns="0" bIns="0" rtlCol="0" anchor="t"/>
          <a:lstStyle/>
          <a:p>
            <a:pPr indent="0" marL="0">
              <a:lnSpc>
                <a:spcPts val="2500"/>
              </a:lnSpc>
              <a:buNone/>
            </a:pPr>
            <a:r>
              <a:rPr lang="en-US" sz="1700" i="1" dirty="0">
                <a:solidFill>
                  <a:srgbClr val="1B1B1E"/>
                </a:solidFill>
                <a:latin typeface="Arial" pitchFamily="34" charset="0"/>
                <a:ea typeface="Arial" pitchFamily="34" charset="-122"/>
                <a:cs typeface="Arial" pitchFamily="34" charset="-120"/>
              </a:rPr>
              <a:t>«No se considerarán como Beneficiarios Controladores a los poderdantes o mandantes en los casos en que sus apoderados o mandatarios celebren el acto u operación de que se trate.»</a:t>
            </a:r>
            <a:endParaRPr lang="en-US" sz="1700" dirty="0"/>
          </a:p>
        </p:txBody>
      </p:sp>
      <p:sp>
        <p:nvSpPr>
          <p:cNvPr id="11" name="Text 9"/>
          <p:cNvSpPr txBox="1"/>
          <p:nvPr/>
        </p:nvSpPr>
        <p:spPr>
          <a:xfrm>
            <a:off x="502920" y="2999232"/>
            <a:ext cx="8138160" cy="2651760"/>
          </a:xfrm>
          <a:prstGeom prst="rect">
            <a:avLst/>
          </a:prstGeom>
          <a:noFill/>
          <a:ln/>
        </p:spPr>
        <p:txBody>
          <a:bodyPr wrap="square" rtlCol="0" anchor="t"/>
          <a:lstStyle/>
          <a:p>
            <a:pPr marL="228600" indent="-228600">
              <a:lnSpc>
                <a:spcPts val="2000"/>
              </a:lnSpc>
              <a:spcAft>
                <a:spcPts val="900"/>
              </a:spcAft>
              <a:buSzPct val="100000"/>
              <a:buChar char="•"/>
            </a:pPr>
            <a:r>
              <a:rPr lang="en-US" sz="1300" dirty="0">
                <a:solidFill>
                  <a:srgbClr val="1B1B1E"/>
                </a:solidFill>
                <a:latin typeface="Arial" pitchFamily="34" charset="0"/>
                <a:ea typeface="Arial" pitchFamily="34" charset="-122"/>
                <a:cs typeface="Arial" pitchFamily="34" charset="-120"/>
              </a:rPr>
              <a:t>El apoderado no es Beneficiario Controlador por serlo: va al expediente como representante.</a:t>
            </a:r>
            <a:endParaRPr lang="en-US" sz="1300" dirty="0"/>
          </a:p>
          <a:p>
            <a:pPr marL="228600" indent="-228600">
              <a:lnSpc>
                <a:spcPts val="2000"/>
              </a:lnSpc>
              <a:spcAft>
                <a:spcPts val="900"/>
              </a:spcAft>
              <a:buSzPct val="100000"/>
              <a:buChar char="•"/>
            </a:pPr>
            <a:r>
              <a:rPr lang="en-US" sz="1300" dirty="0">
                <a:solidFill>
                  <a:srgbClr val="1B1B1E"/>
                </a:solidFill>
                <a:latin typeface="Arial" pitchFamily="34" charset="0"/>
                <a:ea typeface="Arial" pitchFamily="34" charset="-122"/>
                <a:cs typeface="Arial" pitchFamily="34" charset="-120"/>
              </a:rPr>
              <a:t>Y el poderdante tampoco lo es porque su apoderado firme. Si lo es, será por titularidad o por control.</a:t>
            </a:r>
            <a:endParaRPr lang="en-US" sz="1300" dirty="0"/>
          </a:p>
        </p:txBody>
      </p:sp>
      <p:sp>
        <p:nvSpPr>
          <p:cNvPr id="12" name="Shape 10"/>
          <p:cNvSpPr/>
          <p:nvPr/>
        </p:nvSpPr>
        <p:spPr>
          <a:xfrm>
            <a:off x="502920" y="4114800"/>
            <a:ext cx="8138160" cy="640080"/>
          </a:xfrm>
          <a:prstGeom prst="roundRect">
            <a:avLst>
              <a:gd name="adj" fmla="val 8571"/>
            </a:avLst>
          </a:prstGeom>
          <a:solidFill>
            <a:srgbClr val="87D895"/>
          </a:solidFill>
          <a:ln/>
        </p:spPr>
      </p:sp>
      <p:sp>
        <p:nvSpPr>
          <p:cNvPr id="13" name="Text 11"/>
          <p:cNvSpPr txBox="1"/>
          <p:nvPr/>
        </p:nvSpPr>
        <p:spPr>
          <a:xfrm>
            <a:off x="731520" y="413308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poder acredita quién puede firmar. No acredita quién manda.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33</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LA PREGUNTA QUE SIEMPRE SALE</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¿Y si el cliente no me da la información?</a:t>
            </a:r>
            <a:endParaRPr lang="en-US" sz="2700" dirty="0"/>
          </a:p>
        </p:txBody>
      </p:sp>
      <p:sp>
        <p:nvSpPr>
          <p:cNvPr id="9" name="Shape 7"/>
          <p:cNvSpPr/>
          <p:nvPr/>
        </p:nvSpPr>
        <p:spPr>
          <a:xfrm>
            <a:off x="502920" y="182880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75104"/>
            <a:ext cx="274320" cy="274320"/>
          </a:xfrm>
          <a:prstGeom prst="ellipse">
            <a:avLst/>
          </a:prstGeom>
          <a:solidFill>
            <a:srgbClr val="87D895"/>
          </a:solidFill>
          <a:ln/>
        </p:spPr>
      </p:sp>
      <p:sp>
        <p:nvSpPr>
          <p:cNvPr id="11" name="Text 9"/>
          <p:cNvSpPr txBox="1"/>
          <p:nvPr/>
        </p:nvSpPr>
        <p:spPr>
          <a:xfrm>
            <a:off x="649224"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5681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Se niega</a:t>
            </a:r>
            <a:endParaRPr lang="en-US" sz="1200" dirty="0"/>
          </a:p>
        </p:txBody>
      </p:sp>
      <p:sp>
        <p:nvSpPr>
          <p:cNvPr id="13" name="Text 11"/>
          <p:cNvSpPr txBox="1"/>
          <p:nvPr/>
        </p:nvSpPr>
        <p:spPr>
          <a:xfrm>
            <a:off x="649224" y="232257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La Ley no dice «documente el intento»: dice abstenerse de llevar a cabo el acto u operación, y lo dice SIN RESPONSABILIDAD ALGUNA para usted</a:t>
            </a:r>
            <a:endParaRPr lang="en-US" sz="950" dirty="0"/>
          </a:p>
        </p:txBody>
      </p:sp>
      <p:sp>
        <p:nvSpPr>
          <p:cNvPr id="14" name="Text 12"/>
          <p:cNvSpPr txBox="1"/>
          <p:nvPr/>
        </p:nvSpPr>
        <p:spPr>
          <a:xfrm>
            <a:off x="649224" y="293522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L 21, segundo párrafo</a:t>
            </a:r>
            <a:endParaRPr lang="en-US" sz="850" dirty="0"/>
          </a:p>
        </p:txBody>
      </p:sp>
      <p:sp>
        <p:nvSpPr>
          <p:cNvPr id="15" name="Shape 13"/>
          <p:cNvSpPr/>
          <p:nvPr/>
        </p:nvSpPr>
        <p:spPr>
          <a:xfrm>
            <a:off x="3282696" y="1828800"/>
            <a:ext cx="2578608" cy="1335024"/>
          </a:xfrm>
          <a:prstGeom prst="roundRect">
            <a:avLst>
              <a:gd name="adj" fmla="val 4110"/>
            </a:avLst>
          </a:prstGeom>
          <a:solidFill>
            <a:srgbClr val="FFFFFF"/>
          </a:solidFill>
          <a:ln w="9525">
            <a:solidFill>
              <a:srgbClr val="DCE6DE"/>
            </a:solidFill>
            <a:prstDash val="solid"/>
          </a:ln>
        </p:spPr>
      </p:sp>
      <p:sp>
        <p:nvSpPr>
          <p:cNvPr id="16" name="Shape 14"/>
          <p:cNvSpPr/>
          <p:nvPr/>
        </p:nvSpPr>
        <p:spPr>
          <a:xfrm>
            <a:off x="3429000" y="1975104"/>
            <a:ext cx="274320" cy="274320"/>
          </a:xfrm>
          <a:prstGeom prst="ellipse">
            <a:avLst/>
          </a:prstGeom>
          <a:solidFill>
            <a:srgbClr val="87D895"/>
          </a:solidFill>
          <a:ln/>
        </p:spPr>
      </p:sp>
      <p:sp>
        <p:nvSpPr>
          <p:cNvPr id="17" name="Text 15"/>
          <p:cNvSpPr txBox="1"/>
          <p:nvPr/>
        </p:nvSpPr>
        <p:spPr>
          <a:xfrm>
            <a:off x="3429000"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8" name="Text 16"/>
          <p:cNvSpPr txBox="1"/>
          <p:nvPr/>
        </p:nvSpPr>
        <p:spPr>
          <a:xfrm>
            <a:off x="3785616" y="195681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Coopera pero no alcanza</a:t>
            </a:r>
            <a:endParaRPr lang="en-US" sz="1200" dirty="0"/>
          </a:p>
        </p:txBody>
      </p:sp>
      <p:sp>
        <p:nvSpPr>
          <p:cNvPr id="19" name="Text 17"/>
          <p:cNvSpPr txBox="1"/>
          <p:nvPr/>
        </p:nvSpPr>
        <p:spPr>
          <a:xfrm>
            <a:off x="3429000" y="232257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No es negativa. Se sigue la prelación hasta el tercer nivel, que cierra siempre, y se documenta el recorrido</a:t>
            </a:r>
            <a:endParaRPr lang="en-US" sz="950" dirty="0"/>
          </a:p>
        </p:txBody>
      </p:sp>
      <p:sp>
        <p:nvSpPr>
          <p:cNvPr id="20" name="Text 18"/>
          <p:cNvSpPr txBox="1"/>
          <p:nvPr/>
        </p:nvSpPr>
        <p:spPr>
          <a:xfrm>
            <a:off x="3429000" y="293522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23 Quinquies</a:t>
            </a:r>
            <a:endParaRPr lang="en-US" sz="850" dirty="0"/>
          </a:p>
        </p:txBody>
      </p:sp>
      <p:sp>
        <p:nvSpPr>
          <p:cNvPr id="21" name="Shape 19"/>
          <p:cNvSpPr/>
          <p:nvPr/>
        </p:nvSpPr>
        <p:spPr>
          <a:xfrm>
            <a:off x="6062472" y="1828800"/>
            <a:ext cx="2578608" cy="1335024"/>
          </a:xfrm>
          <a:prstGeom prst="roundRect">
            <a:avLst>
              <a:gd name="adj" fmla="val 4110"/>
            </a:avLst>
          </a:prstGeom>
          <a:solidFill>
            <a:srgbClr val="FFFFFF"/>
          </a:solidFill>
          <a:ln w="9525">
            <a:solidFill>
              <a:srgbClr val="DCE6DE"/>
            </a:solidFill>
            <a:prstDash val="solid"/>
          </a:ln>
        </p:spPr>
      </p:sp>
      <p:sp>
        <p:nvSpPr>
          <p:cNvPr id="22" name="Shape 20"/>
          <p:cNvSpPr/>
          <p:nvPr/>
        </p:nvSpPr>
        <p:spPr>
          <a:xfrm>
            <a:off x="6208776" y="1975104"/>
            <a:ext cx="274320" cy="274320"/>
          </a:xfrm>
          <a:prstGeom prst="ellipse">
            <a:avLst/>
          </a:prstGeom>
          <a:solidFill>
            <a:srgbClr val="87D895"/>
          </a:solidFill>
          <a:ln/>
        </p:spPr>
      </p:sp>
      <p:sp>
        <p:nvSpPr>
          <p:cNvPr id="23" name="Text 21"/>
          <p:cNvSpPr txBox="1"/>
          <p:nvPr/>
        </p:nvSpPr>
        <p:spPr>
          <a:xfrm>
            <a:off x="6208776"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4" name="Text 22"/>
          <p:cNvSpPr txBox="1"/>
          <p:nvPr/>
        </p:nvSpPr>
        <p:spPr>
          <a:xfrm>
            <a:off x="6565392" y="195681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La estructura es opaca por diseño</a:t>
            </a:r>
            <a:endParaRPr lang="en-US" sz="1200" dirty="0"/>
          </a:p>
        </p:txBody>
      </p:sp>
      <p:sp>
        <p:nvSpPr>
          <p:cNvPr id="25" name="Text 23"/>
          <p:cNvSpPr txBox="1"/>
          <p:nvPr/>
        </p:nvSpPr>
        <p:spPr>
          <a:xfrm>
            <a:off x="6208776" y="232257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Tampoco es negativa: es un elemento de Riesgo que alimenta la clasificación del cliente y puede justificar no iniciar o terminar la relación</a:t>
            </a:r>
            <a:endParaRPr lang="en-US" sz="950" dirty="0"/>
          </a:p>
        </p:txBody>
      </p:sp>
      <p:sp>
        <p:nvSpPr>
          <p:cNvPr id="26" name="Text 24"/>
          <p:cNvSpPr txBox="1"/>
          <p:nvPr/>
        </p:nvSpPr>
        <p:spPr>
          <a:xfrm>
            <a:off x="6208776" y="293522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RCG 23 Ter fr. I y V</a:t>
            </a:r>
            <a:endParaRPr lang="en-US" sz="850" dirty="0"/>
          </a:p>
        </p:txBody>
      </p:sp>
      <p:sp>
        <p:nvSpPr>
          <p:cNvPr id="27" name="Shape 25"/>
          <p:cNvSpPr/>
          <p:nvPr/>
        </p:nvSpPr>
        <p:spPr>
          <a:xfrm>
            <a:off x="502920" y="4069080"/>
            <a:ext cx="8138160" cy="640080"/>
          </a:xfrm>
          <a:prstGeom prst="roundRect">
            <a:avLst>
              <a:gd name="adj" fmla="val 8571"/>
            </a:avLst>
          </a:prstGeom>
          <a:solidFill>
            <a:srgbClr val="87D895"/>
          </a:solidFill>
          <a:ln/>
        </p:spPr>
      </p:sp>
      <p:sp>
        <p:nvSpPr>
          <p:cNvPr id="28" name="Text 26"/>
          <p:cNvSpPr txBox="1"/>
          <p:nvPr/>
        </p:nvSpPr>
        <p:spPr>
          <a:xfrm>
            <a:off x="731520" y="408736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«Sin responsabilidad alguna» está en el texto. No es que pueda negarse: es que debe, y la Ley lo protege al hacerlo.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34</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34</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23 QUINQUIES 1</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Fideicomisos y estructuras: la cascada</a:t>
            </a:r>
            <a:endParaRPr lang="en-US" sz="2700" dirty="0"/>
          </a:p>
        </p:txBody>
      </p:sp>
      <p:sp>
        <p:nvSpPr>
          <p:cNvPr id="9" name="Shape 7"/>
          <p:cNvSpPr/>
          <p:nvPr/>
        </p:nvSpPr>
        <p:spPr>
          <a:xfrm>
            <a:off x="502920" y="178308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29384"/>
            <a:ext cx="274320" cy="274320"/>
          </a:xfrm>
          <a:prstGeom prst="ellipse">
            <a:avLst/>
          </a:prstGeom>
          <a:solidFill>
            <a:srgbClr val="87D895"/>
          </a:solidFill>
          <a:ln/>
        </p:spPr>
      </p:sp>
      <p:sp>
        <p:nvSpPr>
          <p:cNvPr id="11" name="Text 9"/>
          <p:cNvSpPr txBox="1"/>
          <p:nvPr/>
        </p:nvSpPr>
        <p:spPr>
          <a:xfrm>
            <a:off x="649224"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Quién puede serlo</a:t>
            </a:r>
            <a:endParaRPr lang="en-US" sz="1200" dirty="0"/>
          </a:p>
        </p:txBody>
      </p:sp>
      <p:sp>
        <p:nvSpPr>
          <p:cNvPr id="13" name="Text 11"/>
          <p:cNvSpPr txBox="1"/>
          <p:nvPr/>
        </p:nvSpPr>
        <p:spPr>
          <a:xfrm>
            <a:off x="649224"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Cualquier persona física que en última instancia ejerza el control efectivo: fiduciario, fideicomitente, fideicomisario, protectora, comité técnico u órgano equivalente</a:t>
            </a:r>
            <a:endParaRPr lang="en-US" sz="950" dirty="0"/>
          </a:p>
        </p:txBody>
      </p:sp>
      <p:sp>
        <p:nvSpPr>
          <p:cNvPr id="14" name="Shape 12"/>
          <p:cNvSpPr/>
          <p:nvPr/>
        </p:nvSpPr>
        <p:spPr>
          <a:xfrm>
            <a:off x="3282696" y="1783080"/>
            <a:ext cx="2578608"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3429000" y="1929384"/>
            <a:ext cx="274320" cy="274320"/>
          </a:xfrm>
          <a:prstGeom prst="ellipse">
            <a:avLst/>
          </a:prstGeom>
          <a:solidFill>
            <a:srgbClr val="87D895"/>
          </a:solidFill>
          <a:ln/>
        </p:spPr>
      </p:sp>
      <p:sp>
        <p:nvSpPr>
          <p:cNvPr id="16" name="Text 14"/>
          <p:cNvSpPr txBox="1"/>
          <p:nvPr/>
        </p:nvSpPr>
        <p:spPr>
          <a:xfrm>
            <a:off x="3429000"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3785616"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La cascada</a:t>
            </a:r>
            <a:endParaRPr lang="en-US" sz="1200" dirty="0"/>
          </a:p>
        </p:txBody>
      </p:sp>
      <p:sp>
        <p:nvSpPr>
          <p:cNvPr id="18" name="Text 16"/>
          <p:cNvSpPr txBox="1"/>
          <p:nvPr/>
        </p:nvSpPr>
        <p:spPr>
          <a:xfrm>
            <a:off x="3429000"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Si el fideicomitente o el fideicomisario es persona moral, hay que ascender en la cadena hasta la persona física</a:t>
            </a:r>
            <a:endParaRPr lang="en-US" sz="950" dirty="0"/>
          </a:p>
        </p:txBody>
      </p:sp>
      <p:sp>
        <p:nvSpPr>
          <p:cNvPr id="19" name="Shape 17"/>
          <p:cNvSpPr/>
          <p:nvPr/>
        </p:nvSpPr>
        <p:spPr>
          <a:xfrm>
            <a:off x="6062472" y="1783080"/>
            <a:ext cx="2578608"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208776" y="1929384"/>
            <a:ext cx="274320" cy="274320"/>
          </a:xfrm>
          <a:prstGeom prst="ellipse">
            <a:avLst/>
          </a:prstGeom>
          <a:solidFill>
            <a:srgbClr val="87D895"/>
          </a:solidFill>
          <a:ln/>
        </p:spPr>
      </p:sp>
      <p:sp>
        <p:nvSpPr>
          <p:cNvPr id="21" name="Text 19"/>
          <p:cNvSpPr txBox="1"/>
          <p:nvPr/>
        </p:nvSpPr>
        <p:spPr>
          <a:xfrm>
            <a:off x="6208776"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6565392"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El momento</a:t>
            </a:r>
            <a:endParaRPr lang="en-US" sz="1200" dirty="0"/>
          </a:p>
        </p:txBody>
      </p:sp>
      <p:sp>
        <p:nvSpPr>
          <p:cNvPr id="23" name="Text 21"/>
          <p:cNvSpPr txBox="1"/>
          <p:nvPr/>
        </p:nvSpPr>
        <p:spPr>
          <a:xfrm>
            <a:off x="6208776"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Previo al acto u operación o, a más tardar, al establecer la Relación de negocios. No después</a:t>
            </a:r>
            <a:endParaRPr lang="en-US" sz="950" dirty="0"/>
          </a:p>
        </p:txBody>
      </p:sp>
      <p:sp>
        <p:nvSpPr>
          <p:cNvPr id="24" name="Shape 22"/>
          <p:cNvSpPr/>
          <p:nvPr/>
        </p:nvSpPr>
        <p:spPr>
          <a:xfrm>
            <a:off x="502920" y="3977640"/>
            <a:ext cx="8138160" cy="640080"/>
          </a:xfrm>
          <a:prstGeom prst="roundRect">
            <a:avLst>
              <a:gd name="adj" fmla="val 8571"/>
            </a:avLst>
          </a:prstGeom>
          <a:solidFill>
            <a:srgbClr val="87D895"/>
          </a:solidFill>
          <a:ln/>
        </p:spPr>
      </p:sp>
      <p:sp>
        <p:nvSpPr>
          <p:cNvPr id="25" name="Text 23"/>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«Protectora» es la figura que casi nadie tiene en su formato. Revísenlo antes de marzo de 2027.</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35</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35</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LGTOC · SUPLETORIA DESDE EL 16 DE JULIO DE 2025</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Fideicomiso: dónde se lee el control</a:t>
            </a:r>
            <a:endParaRPr lang="en-US" sz="2700" dirty="0"/>
          </a:p>
        </p:txBody>
      </p:sp>
      <p:sp>
        <p:nvSpPr>
          <p:cNvPr id="9" name="Shape 7"/>
          <p:cNvSpPr/>
          <p:nvPr/>
        </p:nvSpPr>
        <p:spPr>
          <a:xfrm>
            <a:off x="502920" y="178308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29384"/>
            <a:ext cx="274320" cy="274320"/>
          </a:xfrm>
          <a:prstGeom prst="ellipse">
            <a:avLst/>
          </a:prstGeom>
          <a:solidFill>
            <a:srgbClr val="87D895"/>
          </a:solidFill>
          <a:ln/>
        </p:spPr>
      </p:sp>
      <p:sp>
        <p:nvSpPr>
          <p:cNvPr id="11" name="Text 9"/>
          <p:cNvSpPr txBox="1"/>
          <p:nvPr/>
        </p:nvSpPr>
        <p:spPr>
          <a:xfrm>
            <a:off x="649224"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Se reservó derechos</a:t>
            </a:r>
            <a:endParaRPr lang="en-US" sz="1200" dirty="0"/>
          </a:p>
        </p:txBody>
      </p:sp>
      <p:sp>
        <p:nvSpPr>
          <p:cNvPr id="13" name="Text 11"/>
          <p:cNvSpPr txBox="1"/>
          <p:nvPr/>
        </p:nvSpPr>
        <p:spPr>
          <a:xfrm>
            <a:off x="649224"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fideicomitente puede reservarse expresamente derechos y acciones sobre los bienes afectos. Está escrito en el acto constitutivo: se lee, no se pregunta</a:t>
            </a:r>
            <a:endParaRPr lang="en-US" sz="950" dirty="0"/>
          </a:p>
        </p:txBody>
      </p:sp>
      <p:sp>
        <p:nvSpPr>
          <p:cNvPr id="14" name="Text 12"/>
          <p:cNvSpPr txBox="1"/>
          <p:nvPr/>
        </p:nvSpPr>
        <p:spPr>
          <a:xfrm>
            <a:off x="649224" y="288950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LGTOC 386, segundo párrafo</a:t>
            </a:r>
            <a:endParaRPr lang="en-US" sz="850" dirty="0"/>
          </a:p>
        </p:txBody>
      </p:sp>
      <p:sp>
        <p:nvSpPr>
          <p:cNvPr id="15" name="Shape 13"/>
          <p:cNvSpPr/>
          <p:nvPr/>
        </p:nvSpPr>
        <p:spPr>
          <a:xfrm>
            <a:off x="3282696" y="1783080"/>
            <a:ext cx="2578608" cy="1335024"/>
          </a:xfrm>
          <a:prstGeom prst="roundRect">
            <a:avLst>
              <a:gd name="adj" fmla="val 4110"/>
            </a:avLst>
          </a:prstGeom>
          <a:solidFill>
            <a:srgbClr val="FFFFFF"/>
          </a:solidFill>
          <a:ln w="9525">
            <a:solidFill>
              <a:srgbClr val="DCE6DE"/>
            </a:solidFill>
            <a:prstDash val="solid"/>
          </a:ln>
        </p:spPr>
      </p:sp>
      <p:sp>
        <p:nvSpPr>
          <p:cNvPr id="16" name="Shape 14"/>
          <p:cNvSpPr/>
          <p:nvPr/>
        </p:nvSpPr>
        <p:spPr>
          <a:xfrm>
            <a:off x="3429000" y="1929384"/>
            <a:ext cx="274320" cy="274320"/>
          </a:xfrm>
          <a:prstGeom prst="ellipse">
            <a:avLst/>
          </a:prstGeom>
          <a:solidFill>
            <a:srgbClr val="87D895"/>
          </a:solidFill>
          <a:ln/>
        </p:spPr>
      </p:sp>
      <p:sp>
        <p:nvSpPr>
          <p:cNvPr id="17" name="Text 15"/>
          <p:cNvSpPr txBox="1"/>
          <p:nvPr/>
        </p:nvSpPr>
        <p:spPr>
          <a:xfrm>
            <a:off x="3429000"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8" name="Text 16"/>
          <p:cNvSpPr txBox="1"/>
          <p:nvPr/>
        </p:nvSpPr>
        <p:spPr>
          <a:xfrm>
            <a:off x="3785616"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Se reservó la revocación</a:t>
            </a:r>
            <a:endParaRPr lang="en-US" sz="1200" dirty="0"/>
          </a:p>
        </p:txBody>
      </p:sp>
      <p:sp>
        <p:nvSpPr>
          <p:cNvPr id="19" name="Text 17"/>
          <p:cNvSpPr txBox="1"/>
          <p:nvPr/>
        </p:nvSpPr>
        <p:spPr>
          <a:xfrm>
            <a:off x="3429000"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Sólo puede revocar quien se reservó ese derecho al constituir el fideicomiso. Quien puede extinguirlo, manda</a:t>
            </a:r>
            <a:endParaRPr lang="en-US" sz="950" dirty="0"/>
          </a:p>
        </p:txBody>
      </p:sp>
      <p:sp>
        <p:nvSpPr>
          <p:cNvPr id="20" name="Text 18"/>
          <p:cNvSpPr txBox="1"/>
          <p:nvPr/>
        </p:nvSpPr>
        <p:spPr>
          <a:xfrm>
            <a:off x="3429000" y="288950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LGTOC 392 fr. VI</a:t>
            </a:r>
            <a:endParaRPr lang="en-US" sz="850" dirty="0"/>
          </a:p>
        </p:txBody>
      </p:sp>
      <p:sp>
        <p:nvSpPr>
          <p:cNvPr id="21" name="Shape 19"/>
          <p:cNvSpPr/>
          <p:nvPr/>
        </p:nvSpPr>
        <p:spPr>
          <a:xfrm>
            <a:off x="6062472" y="1783080"/>
            <a:ext cx="2578608" cy="1335024"/>
          </a:xfrm>
          <a:prstGeom prst="roundRect">
            <a:avLst>
              <a:gd name="adj" fmla="val 4110"/>
            </a:avLst>
          </a:prstGeom>
          <a:solidFill>
            <a:srgbClr val="FFFFFF"/>
          </a:solidFill>
          <a:ln w="9525">
            <a:solidFill>
              <a:srgbClr val="DCE6DE"/>
            </a:solidFill>
            <a:prstDash val="solid"/>
          </a:ln>
        </p:spPr>
      </p:sp>
      <p:sp>
        <p:nvSpPr>
          <p:cNvPr id="22" name="Shape 20"/>
          <p:cNvSpPr/>
          <p:nvPr/>
        </p:nvSpPr>
        <p:spPr>
          <a:xfrm>
            <a:off x="6208776" y="1929384"/>
            <a:ext cx="274320" cy="274320"/>
          </a:xfrm>
          <a:prstGeom prst="ellipse">
            <a:avLst/>
          </a:prstGeom>
          <a:solidFill>
            <a:srgbClr val="87D895"/>
          </a:solidFill>
          <a:ln/>
        </p:spPr>
      </p:sp>
      <p:sp>
        <p:nvSpPr>
          <p:cNvPr id="23" name="Text 21"/>
          <p:cNvSpPr txBox="1"/>
          <p:nvPr/>
        </p:nvSpPr>
        <p:spPr>
          <a:xfrm>
            <a:off x="6208776" y="192938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4" name="Text 22"/>
          <p:cNvSpPr txBox="1"/>
          <p:nvPr/>
        </p:nvSpPr>
        <p:spPr>
          <a:xfrm>
            <a:off x="6565392" y="191109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No hay fideicomisario</a:t>
            </a:r>
            <a:endParaRPr lang="en-US" sz="1200" dirty="0"/>
          </a:p>
        </p:txBody>
      </p:sp>
      <p:sp>
        <p:nvSpPr>
          <p:cNvPr id="25" name="Text 23"/>
          <p:cNvSpPr txBox="1"/>
          <p:nvPr/>
        </p:nvSpPr>
        <p:spPr>
          <a:xfrm>
            <a:off x="6208776" y="227685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El fideicomiso es válido aunque se constituya sin señalarlo. La identificación no se detiene: el control se busca en las demás figuras</a:t>
            </a:r>
            <a:endParaRPr lang="en-US" sz="950" dirty="0"/>
          </a:p>
        </p:txBody>
      </p:sp>
      <p:sp>
        <p:nvSpPr>
          <p:cNvPr id="26" name="Text 24"/>
          <p:cNvSpPr txBox="1"/>
          <p:nvPr/>
        </p:nvSpPr>
        <p:spPr>
          <a:xfrm>
            <a:off x="6208776" y="288950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LGTOC 382, tercer párrafo</a:t>
            </a:r>
            <a:endParaRPr lang="en-US" sz="850" dirty="0"/>
          </a:p>
        </p:txBody>
      </p:sp>
      <p:sp>
        <p:nvSpPr>
          <p:cNvPr id="27" name="Shape 25"/>
          <p:cNvSpPr/>
          <p:nvPr/>
        </p:nvSpPr>
        <p:spPr>
          <a:xfrm>
            <a:off x="502920" y="4069080"/>
            <a:ext cx="8138160" cy="640080"/>
          </a:xfrm>
          <a:prstGeom prst="roundRect">
            <a:avLst>
              <a:gd name="adj" fmla="val 8571"/>
            </a:avLst>
          </a:prstGeom>
          <a:solidFill>
            <a:srgbClr val="87D895"/>
          </a:solidFill>
          <a:ln/>
        </p:spPr>
      </p:sp>
      <p:sp>
        <p:nvSpPr>
          <p:cNvPr id="28" name="Text 26"/>
          <p:cNvSpPr txBox="1"/>
          <p:nvPr/>
        </p:nvSpPr>
        <p:spPr>
          <a:xfrm>
            <a:off x="731520" y="408736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Los fideicomisos secretos están prohibidos desde 1932 (LGTOC 394 fr. I). Al cliente que se niega a decir quién interviene no le contestas con el Acuerdo: le contestas con la ley de la materia.</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36</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23 QUINQUIES 2 · SÓLO HAY DOS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Las dos excepciones, y hasta dónde llegan</a:t>
            </a:r>
            <a:endParaRPr lang="en-US" sz="27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2194560"/>
                <a:gridCol w="3291840"/>
                <a:gridCol w="2651760"/>
              </a:tblGrid>
              <a:tr h="0">
                <a:tc>
                  <a:txBody>
                    <a:bodyPr/>
                    <a:lstStyle/>
                    <a:p>
                      <a:pPr indent="0" marL="0">
                        <a:buNone/>
                      </a:pP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Qué dice la letra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Hasta dónde llega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Fr. I · Cliente que cotiza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Fideicomiso o persona moral que coticen en bolsa mexicana o en mercados del exterior reconocidos en la legislación mexicana, si dan su clave de pizarra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 la persona moral QUE COTIZA. No dice una palabra de filiales ni subsidiarias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Fr. II · Anexos 4 Bis, 6 Bis, 7-A y 7 Bis 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Derecho público · embajadas y organismos internacionales · el catálogo del sector financiero · once dependencias federales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El Anexo 7-A está titulado para el régimen simplificado del artículo 12 fr. V, que exige además bajo riesgo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Emisora que sólo cotiza deuda: entra por la letra, porque dice «que coticen» y no «que coticen acciones». Subsidiarias: no. Banco que no cotiza: por la fracción II, y documentando el bajo riesgo.</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37</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37</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RCG 12 fr. VII</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Qué datos, y el anexo que le toca</a:t>
            </a:r>
            <a:endParaRPr lang="en-US" sz="2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834640"/>
                <a:gridCol w="3657600"/>
                <a:gridCol w="1645920"/>
              </a:tblGrid>
              <a:tr h="0">
                <a:tc>
                  <a:txBody>
                    <a:bodyPr/>
                    <a:lstStyle/>
                    <a:p>
                      <a:pPr indent="0" marL="0">
                        <a:buNone/>
                      </a:pPr>
                      <a:r>
                        <a:rPr lang="en-US" sz="1000" b="1" dirty="0">
                          <a:solidFill>
                            <a:srgbClr val="1B1B1E"/>
                          </a:solidFill>
                          <a:latin typeface="Arial" pitchFamily="34" charset="0"/>
                          <a:ea typeface="Arial" pitchFamily="34" charset="-122"/>
                          <a:cs typeface="Arial" pitchFamily="34" charset="-120"/>
                        </a:rPr>
                        <a:t>Su cliente es</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Qué exige el anexo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000" b="1" dirty="0">
                          <a:solidFill>
                            <a:srgbClr val="1B1B1E"/>
                          </a:solidFill>
                          <a:latin typeface="Arial" pitchFamily="34" charset="0"/>
                          <a:ea typeface="Arial" pitchFamily="34" charset="-122"/>
                          <a:cs typeface="Arial" pitchFamily="34" charset="-120"/>
                        </a:rPr>
                        <a:t>Constancia declarativa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Persona física mexicana o residente</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Anexo 3 b) iv) · constancia firmada; identificar sólo si dice que sí</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SÍ se conserva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Persona física extranjera visitante</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Anexo 5 b) iv) · igual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SÍ se conserva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Persona moral mexicana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Anexo 4 b) v) · identificar, punto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NO. Desapareció</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Persona moral extranjera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Anexo 6 b) v) · identificar, punto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NO. Párrafo derogado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Embajada, consulado u organismo internacional</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Anexo 6 Bis b) v) · DEROGADO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No se recaba</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B1B1E"/>
                          </a:solidFill>
                          <a:latin typeface="Arial" pitchFamily="34" charset="0"/>
                          <a:ea typeface="Arial" pitchFamily="34" charset="-122"/>
                          <a:cs typeface="Arial" pitchFamily="34" charset="-120"/>
                        </a:rPr>
                        <a:t>Fideicomiso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Anexo 8 b) iv) · identificar al BC del fideicomiso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000" dirty="0">
                          <a:solidFill>
                            <a:srgbClr val="1B1B1E"/>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Cuatro datos, en todos los casos, en persona moral y fideicomiso: apellidos y nombre(s) · fecha de nacimiento · país de nacionalidad · CURP y RFC cuando cuente con ellas. El numeral ix dice «cuando cuente con ellas»: la ausencia se asienta, no impide.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B1E"/>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2E7D4F"/>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8C9A90"/>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64C27B"/>
                </a:solidFill>
                <a:latin typeface="Arial" pitchFamily="34" charset="0"/>
                <a:ea typeface="Arial" pitchFamily="34" charset="-122"/>
                <a:cs typeface="Arial" pitchFamily="34" charset="-120"/>
              </a:rPr>
              <a:t>38</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36</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64C27B"/>
                </a:solidFill>
                <a:latin typeface="Arial" pitchFamily="34" charset="0"/>
                <a:ea typeface="Arial" pitchFamily="34" charset="-122"/>
                <a:cs typeface="Arial" pitchFamily="34" charset="-120"/>
              </a:rPr>
              <a:t>TALLER · DOCE MINUTOS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Su estructura, su prelación</a:t>
            </a:r>
            <a:endParaRPr lang="en-US" sz="2700" dirty="0"/>
          </a:p>
        </p:txBody>
      </p:sp>
      <p:sp>
        <p:nvSpPr>
          <p:cNvPr id="9" name="Text 7"/>
          <p:cNvSpPr txBox="1"/>
          <p:nvPr/>
        </p:nvSpPr>
        <p:spPr>
          <a:xfrm>
            <a:off x="502920" y="1874520"/>
            <a:ext cx="8138160" cy="2011680"/>
          </a:xfrm>
          <a:prstGeom prst="rect">
            <a:avLst/>
          </a:prstGeom>
          <a:noFill/>
          <a:ln/>
        </p:spPr>
        <p:txBody>
          <a:bodyPr wrap="square" rtlCol="0" anchor="ctr"/>
          <a:lstStyle/>
          <a:p>
            <a:pPr marL="228600" indent="-228600">
              <a:lnSpc>
                <a:spcPts val="23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Saque la estructura societaria de dos niveles que le pedí en la sesión 3.</a:t>
            </a:r>
            <a:endParaRPr lang="en-US" sz="1500" dirty="0"/>
          </a:p>
          <a:p>
            <a:pPr marL="228600" indent="-228600">
              <a:lnSpc>
                <a:spcPts val="23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Llene la hoja «Cadena de control»: un renglón por entidad, hasta llegar a personas físicas.</a:t>
            </a:r>
            <a:endParaRPr lang="en-US" sz="1500" dirty="0"/>
          </a:p>
          <a:p>
            <a:pPr marL="228600" indent="-228600">
              <a:lnSpc>
                <a:spcPts val="23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Pase al «Checklist BC» y recorra los tres niveles EN ORDEN.</a:t>
            </a:r>
            <a:endParaRPr lang="en-US" sz="1500" dirty="0"/>
          </a:p>
          <a:p>
            <a:pPr marL="228600" indent="-228600">
              <a:lnSpc>
                <a:spcPts val="23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Escriba el procedimiento seguido. Sin eso, el nombre no acredita nada.</a:t>
            </a:r>
            <a:endParaRPr lang="en-US" sz="1500" dirty="0"/>
          </a:p>
        </p:txBody>
      </p:sp>
      <p:sp>
        <p:nvSpPr>
          <p:cNvPr id="10" name="Shape 8"/>
          <p:cNvSpPr/>
          <p:nvPr/>
        </p:nvSpPr>
        <p:spPr>
          <a:xfrm>
            <a:off x="502920" y="3931920"/>
            <a:ext cx="8138160" cy="603504"/>
          </a:xfrm>
          <a:prstGeom prst="roundRect">
            <a:avLst>
              <a:gd name="adj" fmla="val 9091"/>
            </a:avLst>
          </a:prstGeom>
          <a:solidFill>
            <a:srgbClr val="2E7D4F"/>
          </a:solidFill>
          <a:ln/>
        </p:spPr>
      </p:sp>
      <p:sp>
        <p:nvSpPr>
          <p:cNvPr id="11" name="Text 9"/>
          <p:cNvSpPr txBox="1"/>
          <p:nvPr/>
        </p:nvSpPr>
        <p:spPr>
          <a:xfrm>
            <a:off x="731520" y="3950208"/>
            <a:ext cx="7680960" cy="56692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En el chat: ¿en qué nivel de la prelación cerró su estructura?</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39</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39</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EFECTIVO · 108 a 117 min</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artículo que no pregunta si es sujeto obligado</a:t>
            </a:r>
            <a:endParaRPr lang="en-US" sz="2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536192"/>
          <a:ext cx="8138160" cy="914400"/>
        </p:xfrm>
        <a:graphic>
          <a:graphicData uri="http://schemas.openxmlformats.org/drawingml/2006/table">
            <a:tbl>
              <a:tblPr/>
              <a:tblGrid>
                <a:gridCol w="1280160"/>
                <a:gridCol w="4023360"/>
                <a:gridCol w="1371600"/>
                <a:gridCol w="1463040"/>
              </a:tblGrid>
              <a:tr h="0">
                <a:tc>
                  <a:txBody>
                    <a:bodyPr/>
                    <a:lstStyle/>
                    <a:p>
                      <a:pPr indent="0" marL="0">
                        <a:buNone/>
                      </a:pPr>
                      <a:r>
                        <a:rPr lang="en-US" sz="900" b="1" dirty="0">
                          <a:solidFill>
                            <a:srgbClr val="1B1B1E"/>
                          </a:solidFill>
                          <a:latin typeface="Arial" pitchFamily="34" charset="0"/>
                          <a:ea typeface="Arial" pitchFamily="34" charset="-122"/>
                          <a:cs typeface="Arial" pitchFamily="34" charset="-120"/>
                        </a:rPr>
                        <a:t>Fr. del artículo 32</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900" b="1" dirty="0">
                          <a:solidFill>
                            <a:srgbClr val="1B1B1E"/>
                          </a:solidFill>
                          <a:latin typeface="Arial" pitchFamily="34" charset="0"/>
                          <a:ea typeface="Arial" pitchFamily="34" charset="-122"/>
                          <a:cs typeface="Arial" pitchFamily="34" charset="-120"/>
                        </a:rPr>
                        <a:t>Operación</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900" b="1" dirty="0">
                          <a:solidFill>
                            <a:srgbClr val="1B1B1E"/>
                          </a:solidFill>
                          <a:latin typeface="Arial" pitchFamily="34" charset="0"/>
                          <a:ea typeface="Arial" pitchFamily="34" charset="-122"/>
                          <a:cs typeface="Arial" pitchFamily="34" charset="-120"/>
                        </a:rPr>
                        <a:t>UMA</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900" b="1" dirty="0">
                          <a:solidFill>
                            <a:srgbClr val="1B1B1E"/>
                          </a:solidFill>
                          <a:latin typeface="Arial" pitchFamily="34" charset="0"/>
                          <a:ea typeface="Arial" pitchFamily="34" charset="-122"/>
                          <a:cs typeface="Arial" pitchFamily="34" charset="-120"/>
                        </a:rPr>
                        <a:t>En pesos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I</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Constitución o transmisión de derechos reales sobre inmuebles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8,025</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$941,412.75</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II</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Vehículos aéreos, marítimos o terrestres, nuevos o usados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3,210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$376,565.10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III</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Relojes, joyería, metales y piedras preciosas, y obras de arte</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3,210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$376,565.10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IV</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Boletos de juegos con apuesta y pago de premios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3,210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$376,565.10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V</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Servicios de blindaje de vehículos o de inmuebles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3,210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$376,565.10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VI</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Títulos de partes sociales o acciones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3,210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$376,565.10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VII</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Uso o goce de los bienes de I, II y V, mensual</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3,210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$376,565.10</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E"/>
                          </a:solidFill>
                          <a:latin typeface="Arial" pitchFamily="34" charset="0"/>
                          <a:ea typeface="Arial" pitchFamily="34" charset="-122"/>
                          <a:cs typeface="Arial" pitchFamily="34" charset="-120"/>
                        </a:rPr>
                        <a:t>VIII</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Consignación de pago de cualquiera de las anteriores</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según la fracción</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900" dirty="0">
                          <a:solidFill>
                            <a:srgbClr val="1B1B1E"/>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bl>
          </a:graphicData>
        </a:graphic>
      </p:graphicFrame>
      <p:sp>
        <p:nvSpPr>
          <p:cNvPr id="10" name="Shape 7"/>
          <p:cNvSpPr/>
          <p:nvPr/>
        </p:nvSpPr>
        <p:spPr>
          <a:xfrm>
            <a:off x="502920" y="4160520"/>
            <a:ext cx="8138160" cy="640080"/>
          </a:xfrm>
          <a:prstGeom prst="roundRect">
            <a:avLst>
              <a:gd name="adj" fmla="val 8571"/>
            </a:avLst>
          </a:prstGeom>
          <a:solidFill>
            <a:srgbClr val="87D895"/>
          </a:solidFill>
          <a:ln/>
        </p:spPr>
      </p:sp>
      <p:sp>
        <p:nvSpPr>
          <p:cNvPr id="11" name="Text 8"/>
          <p:cNvSpPr txBox="1"/>
          <p:nvPr/>
        </p:nvSpPr>
        <p:spPr>
          <a:xfrm>
            <a:off x="731520" y="417880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Prohíbe pagar y también ACEPTAR el pago. Sanción del L 53 fr. VII con L 54 fr. III: 10,000 a 65,000 UMA, o del 10 al 100 % del valor del acto, la que resulte mayor.</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40</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40</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LAS TRES TRAMPAS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Por dónde se cae</a:t>
            </a:r>
            <a:endParaRPr lang="en-US" sz="2700" dirty="0"/>
          </a:p>
        </p:txBody>
      </p:sp>
      <p:sp>
        <p:nvSpPr>
          <p:cNvPr id="9" name="Shape 7"/>
          <p:cNvSpPr/>
          <p:nvPr/>
        </p:nvSpPr>
        <p:spPr>
          <a:xfrm>
            <a:off x="502920" y="1828800"/>
            <a:ext cx="2578608"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75104"/>
            <a:ext cx="274320" cy="274320"/>
          </a:xfrm>
          <a:prstGeom prst="ellipse">
            <a:avLst/>
          </a:prstGeom>
          <a:solidFill>
            <a:srgbClr val="87D895"/>
          </a:solidFill>
          <a:ln/>
        </p:spPr>
      </p:sp>
      <p:sp>
        <p:nvSpPr>
          <p:cNvPr id="11" name="Text 9"/>
          <p:cNvSpPr txBox="1"/>
          <p:nvPr/>
        </p:nvSpPr>
        <p:spPr>
          <a:xfrm>
            <a:off x="649224"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5681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«Lo partimos en pagos»</a:t>
            </a:r>
            <a:endParaRPr lang="en-US" sz="1200" dirty="0"/>
          </a:p>
        </p:txBody>
      </p:sp>
      <p:sp>
        <p:nvSpPr>
          <p:cNvPr id="13" name="Text 11"/>
          <p:cNvSpPr txBox="1"/>
          <p:nvPr/>
        </p:nvSpPr>
        <p:spPr>
          <a:xfrm>
            <a:off x="649224" y="232257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La prohibición aplica al acto individual, ya sea en una o en varias exhibiciones</a:t>
            </a:r>
            <a:endParaRPr lang="en-US" sz="950" dirty="0"/>
          </a:p>
        </p:txBody>
      </p:sp>
      <p:sp>
        <p:nvSpPr>
          <p:cNvPr id="14" name="Text 12"/>
          <p:cNvSpPr txBox="1"/>
          <p:nvPr/>
        </p:nvSpPr>
        <p:spPr>
          <a:xfrm>
            <a:off x="649224" y="293522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 42 fr. I</a:t>
            </a:r>
            <a:endParaRPr lang="en-US" sz="850" dirty="0"/>
          </a:p>
        </p:txBody>
      </p:sp>
      <p:sp>
        <p:nvSpPr>
          <p:cNvPr id="15" name="Shape 13"/>
          <p:cNvSpPr/>
          <p:nvPr/>
        </p:nvSpPr>
        <p:spPr>
          <a:xfrm>
            <a:off x="3282696" y="1828800"/>
            <a:ext cx="2578608" cy="1335024"/>
          </a:xfrm>
          <a:prstGeom prst="roundRect">
            <a:avLst>
              <a:gd name="adj" fmla="val 4110"/>
            </a:avLst>
          </a:prstGeom>
          <a:solidFill>
            <a:srgbClr val="FFFFFF"/>
          </a:solidFill>
          <a:ln w="9525">
            <a:solidFill>
              <a:srgbClr val="DCE6DE"/>
            </a:solidFill>
            <a:prstDash val="solid"/>
          </a:ln>
        </p:spPr>
      </p:sp>
      <p:sp>
        <p:nvSpPr>
          <p:cNvPr id="16" name="Shape 14"/>
          <p:cNvSpPr/>
          <p:nvPr/>
        </p:nvSpPr>
        <p:spPr>
          <a:xfrm>
            <a:off x="3429000" y="1975104"/>
            <a:ext cx="274320" cy="274320"/>
          </a:xfrm>
          <a:prstGeom prst="ellipse">
            <a:avLst/>
          </a:prstGeom>
          <a:solidFill>
            <a:srgbClr val="87D895"/>
          </a:solidFill>
          <a:ln/>
        </p:spPr>
      </p:sp>
      <p:sp>
        <p:nvSpPr>
          <p:cNvPr id="17" name="Text 15"/>
          <p:cNvSpPr txBox="1"/>
          <p:nvPr/>
        </p:nvSpPr>
        <p:spPr>
          <a:xfrm>
            <a:off x="3429000"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8" name="Text 16"/>
          <p:cNvSpPr txBox="1"/>
          <p:nvPr/>
        </p:nvSpPr>
        <p:spPr>
          <a:xfrm>
            <a:off x="3785616" y="195681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«Son tres contratos distintos»</a:t>
            </a:r>
            <a:endParaRPr lang="en-US" sz="1200" dirty="0"/>
          </a:p>
        </p:txBody>
      </p:sp>
      <p:sp>
        <p:nvSpPr>
          <p:cNvPr id="19" name="Text 17"/>
          <p:cNvSpPr txBox="1"/>
          <p:nvPr/>
        </p:nvSpPr>
        <p:spPr>
          <a:xfrm>
            <a:off x="3429000" y="232257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Aplica a un conjunto de actos cuando una sola persona aporta los recursos para pagarlos</a:t>
            </a:r>
            <a:endParaRPr lang="en-US" sz="950" dirty="0"/>
          </a:p>
        </p:txBody>
      </p:sp>
      <p:sp>
        <p:nvSpPr>
          <p:cNvPr id="20" name="Text 18"/>
          <p:cNvSpPr txBox="1"/>
          <p:nvPr/>
        </p:nvSpPr>
        <p:spPr>
          <a:xfrm>
            <a:off x="3429000" y="293522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 42 fr. II</a:t>
            </a:r>
            <a:endParaRPr lang="en-US" sz="850" dirty="0"/>
          </a:p>
        </p:txBody>
      </p:sp>
      <p:sp>
        <p:nvSpPr>
          <p:cNvPr id="21" name="Shape 19"/>
          <p:cNvSpPr/>
          <p:nvPr/>
        </p:nvSpPr>
        <p:spPr>
          <a:xfrm>
            <a:off x="6062472" y="1828800"/>
            <a:ext cx="2578608" cy="1335024"/>
          </a:xfrm>
          <a:prstGeom prst="roundRect">
            <a:avLst>
              <a:gd name="adj" fmla="val 4110"/>
            </a:avLst>
          </a:prstGeom>
          <a:solidFill>
            <a:srgbClr val="FFFFFF"/>
          </a:solidFill>
          <a:ln w="9525">
            <a:solidFill>
              <a:srgbClr val="DCE6DE"/>
            </a:solidFill>
            <a:prstDash val="solid"/>
          </a:ln>
        </p:spPr>
      </p:sp>
      <p:sp>
        <p:nvSpPr>
          <p:cNvPr id="22" name="Shape 20"/>
          <p:cNvSpPr/>
          <p:nvPr/>
        </p:nvSpPr>
        <p:spPr>
          <a:xfrm>
            <a:off x="6208776" y="1975104"/>
            <a:ext cx="274320" cy="274320"/>
          </a:xfrm>
          <a:prstGeom prst="ellipse">
            <a:avLst/>
          </a:prstGeom>
          <a:solidFill>
            <a:srgbClr val="87D895"/>
          </a:solidFill>
          <a:ln/>
        </p:spPr>
      </p:sp>
      <p:sp>
        <p:nvSpPr>
          <p:cNvPr id="23" name="Text 21"/>
          <p:cNvSpPr txBox="1"/>
          <p:nvPr/>
        </p:nvSpPr>
        <p:spPr>
          <a:xfrm>
            <a:off x="6208776"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4" name="Text 22"/>
          <p:cNvSpPr txBox="1"/>
          <p:nvPr/>
        </p:nvSpPr>
        <p:spPr>
          <a:xfrm>
            <a:off x="6565392" y="1956816"/>
            <a:ext cx="1920240"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«Me pagó en efectivo y le devolví por transferencia»</a:t>
            </a:r>
            <a:endParaRPr lang="en-US" sz="1200" dirty="0"/>
          </a:p>
        </p:txBody>
      </p:sp>
      <p:sp>
        <p:nvSpPr>
          <p:cNvPr id="25" name="Text 23"/>
          <p:cNvSpPr txBox="1"/>
          <p:nvPr/>
        </p:nvSpPr>
        <p:spPr>
          <a:xfrm>
            <a:off x="6208776" y="2322576"/>
            <a:ext cx="2286000"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La devolución va en la misma forma de pago y en la misma moneda</a:t>
            </a:r>
            <a:endParaRPr lang="en-US" sz="950" dirty="0"/>
          </a:p>
        </p:txBody>
      </p:sp>
      <p:sp>
        <p:nvSpPr>
          <p:cNvPr id="26" name="Text 24"/>
          <p:cNvSpPr txBox="1"/>
          <p:nvPr/>
        </p:nvSpPr>
        <p:spPr>
          <a:xfrm>
            <a:off x="6208776" y="2935224"/>
            <a:ext cx="2286000" cy="182880"/>
          </a:xfrm>
          <a:prstGeom prst="rect">
            <a:avLst/>
          </a:prstGeom>
          <a:noFill/>
          <a:ln/>
        </p:spPr>
        <p:txBody>
          <a:bodyPr wrap="square" lIns="0" tIns="0" rIns="0" bIns="0" rtlCol="0" anchor="ctr"/>
          <a:lstStyle/>
          <a:p>
            <a:pPr indent="0" marL="0">
              <a:buNone/>
            </a:pPr>
            <a:r>
              <a:rPr lang="en-US" sz="850" b="1" dirty="0">
                <a:solidFill>
                  <a:srgbClr val="2E7D4F"/>
                </a:solidFill>
                <a:latin typeface="Arial" pitchFamily="34" charset="0"/>
                <a:ea typeface="Arial" pitchFamily="34" charset="-122"/>
                <a:cs typeface="Arial" pitchFamily="34" charset="-120"/>
              </a:rPr>
              <a:t>R 43</a:t>
            </a:r>
            <a:endParaRPr lang="en-US" sz="850" dirty="0"/>
          </a:p>
        </p:txBody>
      </p:sp>
      <p:sp>
        <p:nvSpPr>
          <p:cNvPr id="27" name="Shape 25"/>
          <p:cNvSpPr/>
          <p:nvPr/>
        </p:nvSpPr>
        <p:spPr>
          <a:xfrm>
            <a:off x="502920" y="3977640"/>
            <a:ext cx="8138160" cy="640080"/>
          </a:xfrm>
          <a:prstGeom prst="roundRect">
            <a:avLst>
              <a:gd name="adj" fmla="val 8571"/>
            </a:avLst>
          </a:prstGeom>
          <a:solidFill>
            <a:srgbClr val="87D895"/>
          </a:solidFill>
          <a:ln/>
        </p:spPr>
      </p:sp>
      <p:sp>
        <p:nvSpPr>
          <p:cNvPr id="28" name="Text 26"/>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Fedatarios: en operaciones de 8,025 UMA o más hay que identificar monto, fecha, forma y moneda de pago. Abajo de eso, y si ya se pagó antes de la firma, basta la declaración bajo protesta. · L 33 y R 45</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41</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41</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R 6 · LAS TRES BASES</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El mismo acto se mide de tres maneras</a:t>
            </a:r>
            <a:endParaRPr lang="en-US" sz="27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3657600"/>
                <a:gridCol w="2743200"/>
                <a:gridCol w="1737360"/>
              </a:tblGrid>
              <a:tr h="0">
                <a:tc>
                  <a:txBody>
                    <a:bodyPr/>
                    <a:lstStyle/>
                    <a:p>
                      <a:pPr indent="0" marL="0">
                        <a:buNone/>
                      </a:pPr>
                      <a:r>
                        <a:rPr lang="en-US" sz="1150" b="1" dirty="0">
                          <a:solidFill>
                            <a:srgbClr val="1B1B1E"/>
                          </a:solidFill>
                          <a:latin typeface="Arial" pitchFamily="34" charset="0"/>
                          <a:ea typeface="Arial" pitchFamily="34" charset="-122"/>
                          <a:cs typeface="Arial" pitchFamily="34" charset="-120"/>
                        </a:rPr>
                        <a:t>Para qué</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50" b="1" dirty="0">
                          <a:solidFill>
                            <a:srgbClr val="1B1B1E"/>
                          </a:solidFill>
                          <a:latin typeface="Arial" pitchFamily="34" charset="0"/>
                          <a:ea typeface="Arial" pitchFamily="34" charset="-122"/>
                          <a:cs typeface="Arial" pitchFamily="34" charset="-120"/>
                        </a:rPr>
                        <a:t>¿Lleva contribuciones?</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c>
                  <a:txBody>
                    <a:bodyPr/>
                    <a:lstStyle/>
                    <a:p>
                      <a:pPr indent="0" marL="0">
                        <a:buNone/>
                      </a:pPr>
                      <a:r>
                        <a:rPr lang="en-US" sz="1150" b="1" dirty="0">
                          <a:solidFill>
                            <a:srgbClr val="1B1B1E"/>
                          </a:solidFill>
                          <a:latin typeface="Arial" pitchFamily="34" charset="0"/>
                          <a:ea typeface="Arial" pitchFamily="34" charset="-122"/>
                          <a:cs typeface="Arial" pitchFamily="34" charset="-120"/>
                        </a:rPr>
                        <a:t>Fundamento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64C27B"/>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Saber si IDENTIFICA o si AVISA (artículo 17)</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NO. Sin contribuciones ni accesorios</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 6, primer párrafo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LLENAR el Aviso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SÍ. Se reporta el total de los pagos recibidos, sin desglosar</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 6, primer párrafo, segunda parte</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EEF4EF"/>
                    </a:solidFill>
                  </a:tcPr>
                </a:tc>
              </a:tr>
              <a:tr h="0">
                <a:tc>
                  <a:txBody>
                    <a:bodyPr/>
                    <a:lstStyle/>
                    <a:p>
                      <a:pPr indent="0" marL="0">
                        <a:buNone/>
                      </a:pPr>
                      <a:r>
                        <a:rPr lang="en-US" sz="1150" dirty="0">
                          <a:solidFill>
                            <a:srgbClr val="1B1B1E"/>
                          </a:solidFill>
                          <a:latin typeface="Arial" pitchFamily="34" charset="0"/>
                          <a:ea typeface="Arial" pitchFamily="34" charset="-122"/>
                          <a:cs typeface="Arial" pitchFamily="34" charset="-120"/>
                        </a:rPr>
                        <a:t>Saber si está PROHIBIDO EL EFECTIVO (artículo 32)</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SÍ. Con contribuciones y accesorios</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c>
                  <a:txBody>
                    <a:bodyPr/>
                    <a:lstStyle/>
                    <a:p>
                      <a:pPr indent="0" marL="0">
                        <a:buNone/>
                      </a:pPr>
                      <a:r>
                        <a:rPr lang="en-US" sz="1150" dirty="0">
                          <a:solidFill>
                            <a:srgbClr val="1B1B1E"/>
                          </a:solidFill>
                          <a:latin typeface="Arial" pitchFamily="34" charset="0"/>
                          <a:ea typeface="Arial" pitchFamily="34" charset="-122"/>
                          <a:cs typeface="Arial" pitchFamily="34" charset="-120"/>
                        </a:rPr>
                        <a:t>R 6, tercer párrafo</a:t>
                      </a:r>
                      <a:endParaRPr lang="en-US" sz="1150" dirty="0">
                        <a:latin typeface="Arial" charset="0"/>
                        <a:ea typeface="Arial" charset="0"/>
                        <a:cs typeface="Arial" charset="0"/>
                      </a:endParaRPr>
                    </a:p>
                  </a:txBody>
                  <a:tcPr marL="63500" marR="63500" marT="63500" marB="63500" anchor="ctr">
                    <a:lnL w="6350" cap="flat" cmpd="sng" algn="ctr">
                      <a:solidFill>
                        <a:srgbClr val="D9E2DB"/>
                      </a:solidFill>
                      <a:prstDash val="solid"/>
                      <a:round/>
                      <a:headEnd type="none" w="med" len="med"/>
                      <a:tailEnd type="none" w="med" len="med"/>
                    </a:lnL>
                    <a:lnR w="6350" cap="flat" cmpd="sng" algn="ctr">
                      <a:solidFill>
                        <a:srgbClr val="D9E2DB"/>
                      </a:solidFill>
                      <a:prstDash val="solid"/>
                      <a:round/>
                      <a:headEnd type="none" w="med" len="med"/>
                      <a:tailEnd type="none" w="med" len="med"/>
                    </a:lnR>
                    <a:lnT w="6350" cap="flat" cmpd="sng" algn="ctr">
                      <a:solidFill>
                        <a:srgbClr val="D9E2DB"/>
                      </a:solidFill>
                      <a:prstDash val="solid"/>
                      <a:round/>
                      <a:headEnd type="none" w="med" len="med"/>
                      <a:tailEnd type="none" w="med" len="med"/>
                    </a:lnT>
                    <a:lnB w="6350" cap="flat" cmpd="sng" algn="ctr">
                      <a:solidFill>
                        <a:srgbClr val="D9E2DB"/>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3977640"/>
            <a:ext cx="8138160" cy="640080"/>
          </a:xfrm>
          <a:prstGeom prst="roundRect">
            <a:avLst>
              <a:gd name="adj" fmla="val 8571"/>
            </a:avLst>
          </a:prstGeom>
          <a:solidFill>
            <a:srgbClr val="87D895"/>
          </a:solidFill>
          <a:ln/>
        </p:spPr>
      </p:sp>
      <p:sp>
        <p:nvSpPr>
          <p:cNvPr id="11" name="Text 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Y para comercio exterior hay una cuarta: el valor en aduana de las mercancías. · R 6, segundo párrafo</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42</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42</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EL CASO QUE SE VAN A LLEVAR</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Un coche de $340,000 más IVA</a:t>
            </a:r>
            <a:endParaRPr lang="en-US" sz="2700" dirty="0"/>
          </a:p>
        </p:txBody>
      </p:sp>
      <p:sp>
        <p:nvSpPr>
          <p:cNvPr id="9" name="Shape 7"/>
          <p:cNvSpPr/>
          <p:nvPr/>
        </p:nvSpPr>
        <p:spPr>
          <a:xfrm>
            <a:off x="502920" y="1920240"/>
            <a:ext cx="3931920" cy="1463040"/>
          </a:xfrm>
          <a:prstGeom prst="roundRect">
            <a:avLst>
              <a:gd name="adj" fmla="val 5000"/>
            </a:avLst>
          </a:prstGeom>
          <a:solidFill>
            <a:srgbClr val="FFFFFF"/>
          </a:solidFill>
          <a:ln w="9525">
            <a:solidFill>
              <a:srgbClr val="DCE6DE"/>
            </a:solidFill>
            <a:prstDash val="solid"/>
          </a:ln>
        </p:spPr>
      </p:sp>
      <p:sp>
        <p:nvSpPr>
          <p:cNvPr id="10" name="Text 8"/>
          <p:cNvSpPr txBox="1"/>
          <p:nvPr/>
        </p:nvSpPr>
        <p:spPr>
          <a:xfrm>
            <a:off x="685800" y="2066544"/>
            <a:ext cx="3566160" cy="658368"/>
          </a:xfrm>
          <a:prstGeom prst="rect">
            <a:avLst/>
          </a:prstGeom>
          <a:noFill/>
          <a:ln/>
        </p:spPr>
        <p:txBody>
          <a:bodyPr wrap="square" lIns="0" tIns="0" rIns="0" bIns="0" rtlCol="0" anchor="ctr"/>
          <a:lstStyle/>
          <a:p>
            <a:pPr indent="0" marL="0">
              <a:buNone/>
            </a:pPr>
            <a:r>
              <a:rPr lang="en-US" sz="3000" b="1" dirty="0">
                <a:solidFill>
                  <a:srgbClr val="2E7D4F"/>
                </a:solidFill>
                <a:latin typeface="Arial" pitchFamily="34" charset="0"/>
                <a:ea typeface="Arial" pitchFamily="34" charset="-122"/>
                <a:cs typeface="Arial" pitchFamily="34" charset="-120"/>
              </a:rPr>
              <a:t>$340,000</a:t>
            </a:r>
            <a:endParaRPr lang="en-US" sz="3000" dirty="0"/>
          </a:p>
        </p:txBody>
      </p:sp>
      <p:sp>
        <p:nvSpPr>
          <p:cNvPr id="11" name="Text 9"/>
          <p:cNvSpPr txBox="1"/>
          <p:nvPr/>
        </p:nvSpPr>
        <p:spPr>
          <a:xfrm>
            <a:off x="685800" y="2761488"/>
            <a:ext cx="3566160" cy="512064"/>
          </a:xfrm>
          <a:prstGeom prst="rect">
            <a:avLst/>
          </a:prstGeom>
          <a:noFill/>
          <a:ln/>
        </p:spPr>
        <p:txBody>
          <a:bodyPr wrap="square" lIns="0" tIns="0" rIns="0" bIns="0" rtlCol="0" anchor="t"/>
          <a:lstStyle/>
          <a:p>
            <a:pPr indent="0" marL="0">
              <a:buNone/>
            </a:pPr>
            <a:r>
              <a:rPr lang="en-US" sz="1100" dirty="0">
                <a:solidFill>
                  <a:srgbClr val="4D4D4D"/>
                </a:solidFill>
                <a:latin typeface="Arial" pitchFamily="34" charset="0"/>
                <a:ea typeface="Arial" pitchFamily="34" charset="-122"/>
                <a:cs typeface="Arial" pitchFamily="34" charset="-120"/>
              </a:rPr>
              <a:t>BASE 1 · para identificar y avisar (sin IVA)</a:t>
            </a:r>
            <a:endParaRPr lang="en-US" sz="1100" dirty="0"/>
          </a:p>
          <a:p>
            <a:pPr indent="0" marL="0">
              <a:buNone/>
            </a:pPr>
            <a:r>
              <a:rPr lang="en-US" sz="1100" dirty="0">
                <a:solidFill>
                  <a:srgbClr val="4D4D4D"/>
                </a:solidFill>
                <a:latin typeface="Arial" pitchFamily="34" charset="0"/>
                <a:ea typeface="Arial" pitchFamily="34" charset="-122"/>
                <a:cs typeface="Arial" pitchFamily="34" charset="-120"/>
              </a:rPr>
              <a:t>Umbral de identificación de la fracción VIII: $376,565.10</a:t>
            </a:r>
            <a:endParaRPr lang="en-US" sz="1100" dirty="0"/>
          </a:p>
          <a:p>
            <a:pPr indent="0" marL="0">
              <a:buNone/>
            </a:pPr>
            <a:r>
              <a:rPr lang="en-US" sz="1100" dirty="0">
                <a:solidFill>
                  <a:srgbClr val="4D4D4D"/>
                </a:solidFill>
                <a:latin typeface="Arial" pitchFamily="34" charset="0"/>
                <a:ea typeface="Arial" pitchFamily="34" charset="-122"/>
                <a:cs typeface="Arial" pitchFamily="34" charset="-120"/>
              </a:rPr>
              <a:t>ESTÁ POR DEBAJO. No nace la obligación por esa vía</a:t>
            </a:r>
            <a:endParaRPr lang="en-US" sz="1100" dirty="0"/>
          </a:p>
        </p:txBody>
      </p:sp>
      <p:sp>
        <p:nvSpPr>
          <p:cNvPr id="12" name="Shape 10"/>
          <p:cNvSpPr/>
          <p:nvPr/>
        </p:nvSpPr>
        <p:spPr>
          <a:xfrm>
            <a:off x="4709160" y="1920240"/>
            <a:ext cx="3931920" cy="1463040"/>
          </a:xfrm>
          <a:prstGeom prst="roundRect">
            <a:avLst>
              <a:gd name="adj" fmla="val 5000"/>
            </a:avLst>
          </a:prstGeom>
          <a:solidFill>
            <a:srgbClr val="FFFFFF"/>
          </a:solidFill>
          <a:ln w="9525">
            <a:solidFill>
              <a:srgbClr val="DCE6DE"/>
            </a:solidFill>
            <a:prstDash val="solid"/>
          </a:ln>
        </p:spPr>
      </p:sp>
      <p:sp>
        <p:nvSpPr>
          <p:cNvPr id="13" name="Text 11"/>
          <p:cNvSpPr txBox="1"/>
          <p:nvPr/>
        </p:nvSpPr>
        <p:spPr>
          <a:xfrm>
            <a:off x="4892040" y="2066544"/>
            <a:ext cx="3566160" cy="658368"/>
          </a:xfrm>
          <a:prstGeom prst="rect">
            <a:avLst/>
          </a:prstGeom>
          <a:noFill/>
          <a:ln/>
        </p:spPr>
        <p:txBody>
          <a:bodyPr wrap="square" lIns="0" tIns="0" rIns="0" bIns="0" rtlCol="0" anchor="ctr"/>
          <a:lstStyle/>
          <a:p>
            <a:pPr indent="0" marL="0">
              <a:buNone/>
            </a:pPr>
            <a:r>
              <a:rPr lang="en-US" sz="3000" b="1" dirty="0">
                <a:solidFill>
                  <a:srgbClr val="B3261E"/>
                </a:solidFill>
                <a:latin typeface="Arial" pitchFamily="34" charset="0"/>
                <a:ea typeface="Arial" pitchFamily="34" charset="-122"/>
                <a:cs typeface="Arial" pitchFamily="34" charset="-120"/>
              </a:rPr>
              <a:t>$394,400</a:t>
            </a:r>
            <a:endParaRPr lang="en-US" sz="3000" dirty="0"/>
          </a:p>
        </p:txBody>
      </p:sp>
      <p:sp>
        <p:nvSpPr>
          <p:cNvPr id="14" name="Text 12"/>
          <p:cNvSpPr txBox="1"/>
          <p:nvPr/>
        </p:nvSpPr>
        <p:spPr>
          <a:xfrm>
            <a:off x="4892040" y="2761488"/>
            <a:ext cx="3566160" cy="512064"/>
          </a:xfrm>
          <a:prstGeom prst="rect">
            <a:avLst/>
          </a:prstGeom>
          <a:noFill/>
          <a:ln/>
        </p:spPr>
        <p:txBody>
          <a:bodyPr wrap="square" lIns="0" tIns="0" rIns="0" bIns="0" rtlCol="0" anchor="t"/>
          <a:lstStyle/>
          <a:p>
            <a:pPr indent="0" marL="0">
              <a:buNone/>
            </a:pPr>
            <a:r>
              <a:rPr lang="en-US" sz="1100" dirty="0">
                <a:solidFill>
                  <a:srgbClr val="4D4D4D"/>
                </a:solidFill>
                <a:latin typeface="Arial" pitchFamily="34" charset="0"/>
                <a:ea typeface="Arial" pitchFamily="34" charset="-122"/>
                <a:cs typeface="Arial" pitchFamily="34" charset="-120"/>
              </a:rPr>
              <a:t>BASE 3 · para el tope de efectivo (con IVA)</a:t>
            </a:r>
            <a:endParaRPr lang="en-US" sz="1100" dirty="0"/>
          </a:p>
          <a:p>
            <a:pPr indent="0" marL="0">
              <a:buNone/>
            </a:pPr>
            <a:r>
              <a:rPr lang="en-US" sz="1100" dirty="0">
                <a:solidFill>
                  <a:srgbClr val="4D4D4D"/>
                </a:solidFill>
                <a:latin typeface="Arial" pitchFamily="34" charset="0"/>
                <a:ea typeface="Arial" pitchFamily="34" charset="-122"/>
                <a:cs typeface="Arial" pitchFamily="34" charset="-120"/>
              </a:rPr>
              <a:t>Tope del artículo 32, fracción II: $376,565.10</a:t>
            </a:r>
            <a:endParaRPr lang="en-US" sz="1100" dirty="0"/>
          </a:p>
          <a:p>
            <a:pPr indent="0" marL="0">
              <a:buNone/>
            </a:pPr>
            <a:r>
              <a:rPr lang="en-US" sz="1100" dirty="0">
                <a:solidFill>
                  <a:srgbClr val="4D4D4D"/>
                </a:solidFill>
                <a:latin typeface="Arial" pitchFamily="34" charset="0"/>
                <a:ea typeface="Arial" pitchFamily="34" charset="-122"/>
                <a:cs typeface="Arial" pitchFamily="34" charset="-120"/>
              </a:rPr>
              <a:t>ESTÁ POR ENCIMA. Pagarlo en efectivo está prohibido</a:t>
            </a:r>
            <a:endParaRPr lang="en-US" sz="1100" dirty="0"/>
          </a:p>
        </p:txBody>
      </p:sp>
      <p:sp>
        <p:nvSpPr>
          <p:cNvPr id="15" name="Shape 13"/>
          <p:cNvSpPr/>
          <p:nvPr/>
        </p:nvSpPr>
        <p:spPr>
          <a:xfrm>
            <a:off x="502920" y="3703320"/>
            <a:ext cx="8138160" cy="640080"/>
          </a:xfrm>
          <a:prstGeom prst="roundRect">
            <a:avLst>
              <a:gd name="adj" fmla="val 8571"/>
            </a:avLst>
          </a:prstGeom>
          <a:solidFill>
            <a:srgbClr val="87D895"/>
          </a:solidFill>
          <a:ln/>
        </p:spPr>
      </p:sp>
      <p:sp>
        <p:nvSpPr>
          <p:cNvPr id="16" name="Text 14"/>
          <p:cNvSpPr txBox="1"/>
          <p:nvPr/>
        </p:nvSpPr>
        <p:spPr>
          <a:xfrm>
            <a:off x="731520" y="372160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El mismo coche, el mismo día, el mismo cliente. Y la diferencia entre las dos respuestas es un impuesto.</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8F6"/>
        </a:solidFill>
      </p:bgPr>
    </p:bg>
    <p:spTree>
      <p:nvGrpSpPr>
        <p:cNvPr id="1" name=""/>
        <p:cNvGrpSpPr/>
        <p:nvPr/>
      </p:nvGrpSpPr>
      <p:grpSpPr>
        <a:xfrm>
          <a:off x="0" y="0"/>
          <a:ext cx="0" cy="0"/>
          <a:chOff x="0" y="0"/>
          <a:chExt cx="0" cy="0"/>
        </a:xfrm>
      </p:grpSpPr>
      <p:sp>
        <p:nvSpPr>
          <p:cNvPr id="2" name="Shape 0"/>
          <p:cNvSpPr/>
          <p:nvPr/>
        </p:nvSpPr>
        <p:spPr>
          <a:xfrm>
            <a:off x="0" y="4846320"/>
            <a:ext cx="9144000" cy="18288"/>
          </a:xfrm>
          <a:prstGeom prst="rect">
            <a:avLst/>
          </a:prstGeom>
          <a:solidFill>
            <a:srgbClr val="DCE6DE"/>
          </a:solidFill>
          <a:ln/>
        </p:spPr>
      </p:sp>
      <p:sp>
        <p:nvSpPr>
          <p:cNvPr id="3" name="Text 1"/>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4D4D4D"/>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4" name="Text 2"/>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2E7D4F"/>
                </a:solidFill>
                <a:latin typeface="Arial" pitchFamily="34" charset="0"/>
                <a:ea typeface="Arial" pitchFamily="34" charset="-122"/>
                <a:cs typeface="Arial" pitchFamily="34" charset="-120"/>
              </a:rPr>
              <a:t>43</a:t>
            </a:r>
            <a:endParaRPr lang="en-US" sz="900" dirty="0"/>
          </a:p>
        </p:txBody>
      </p:sp>
      <p:sp>
        <p:nvSpPr>
          <p:cNvPr id="5" name="Shape 3"/>
          <p:cNvSpPr/>
          <p:nvPr/>
        </p:nvSpPr>
        <p:spPr>
          <a:xfrm>
            <a:off x="502920" y="384048"/>
            <a:ext cx="384048" cy="384048"/>
          </a:xfrm>
          <a:prstGeom prst="ellipse">
            <a:avLst/>
          </a:prstGeom>
          <a:solidFill>
            <a:srgbClr val="64C27B"/>
          </a:solidFill>
          <a:ln/>
        </p:spPr>
      </p:sp>
      <p:sp>
        <p:nvSpPr>
          <p:cNvPr id="6" name="Text 4"/>
          <p:cNvSpPr txBox="1"/>
          <p:nvPr/>
        </p:nvSpPr>
        <p:spPr>
          <a:xfrm>
            <a:off x="502920" y="384048"/>
            <a:ext cx="384048" cy="384048"/>
          </a:xfrm>
          <a:prstGeom prst="rect">
            <a:avLst/>
          </a:prstGeom>
          <a:noFill/>
          <a:ln/>
        </p:spPr>
        <p:txBody>
          <a:bodyPr wrap="square" lIns="0" tIns="0" rIns="0" bIns="0" rtlCol="0" anchor="ctr"/>
          <a:lstStyle/>
          <a:p>
            <a:pPr algn="ctr" indent="0" marL="0">
              <a:buNone/>
            </a:pPr>
            <a:r>
              <a:rPr lang="en-US" sz="1300" b="1" dirty="0">
                <a:solidFill>
                  <a:srgbClr val="1B1B1E"/>
                </a:solidFill>
                <a:latin typeface="Arial" pitchFamily="34" charset="0"/>
                <a:ea typeface="Arial" pitchFamily="34" charset="-122"/>
                <a:cs typeface="Arial" pitchFamily="34" charset="-120"/>
              </a:rPr>
              <a:t>43</a:t>
            </a:r>
            <a:endParaRPr lang="en-US" sz="1300" dirty="0"/>
          </a:p>
        </p:txBody>
      </p:sp>
      <p:sp>
        <p:nvSpPr>
          <p:cNvPr id="7" name="Text 5"/>
          <p:cNvSpPr txBox="1"/>
          <p:nvPr/>
        </p:nvSpPr>
        <p:spPr>
          <a:xfrm>
            <a:off x="1024128" y="420624"/>
            <a:ext cx="7589520" cy="292608"/>
          </a:xfrm>
          <a:prstGeom prst="rect">
            <a:avLst/>
          </a:prstGeom>
          <a:noFill/>
          <a:ln/>
        </p:spPr>
        <p:txBody>
          <a:bodyPr wrap="square" lIns="0" tIns="0" rIns="0" bIns="0" rtlCol="0" anchor="ctr"/>
          <a:lstStyle/>
          <a:p>
            <a:pPr indent="0" marL="0">
              <a:buNone/>
            </a:pPr>
            <a:r>
              <a:rPr lang="en-US" sz="1100" b="1" spc="120" kern="0" dirty="0">
                <a:solidFill>
                  <a:srgbClr val="2E7D4F"/>
                </a:solidFill>
                <a:latin typeface="Arial" pitchFamily="34" charset="0"/>
                <a:ea typeface="Arial" pitchFamily="34" charset="-122"/>
                <a:cs typeface="Arial" pitchFamily="34" charset="-120"/>
              </a:rPr>
              <a:t>CIERRE</a:t>
            </a:r>
            <a:endParaRPr lang="en-US" sz="1100" dirty="0"/>
          </a:p>
        </p:txBody>
      </p:sp>
      <p:sp>
        <p:nvSpPr>
          <p:cNvPr id="8" name="Text 6"/>
          <p:cNvSpPr txBox="1"/>
          <p:nvPr/>
        </p:nvSpPr>
        <p:spPr>
          <a:xfrm>
            <a:off x="502920" y="960120"/>
            <a:ext cx="8138160" cy="786384"/>
          </a:xfrm>
          <a:prstGeom prst="rect">
            <a:avLst/>
          </a:prstGeom>
          <a:noFill/>
          <a:ln/>
        </p:spPr>
        <p:txBody>
          <a:bodyPr wrap="square" lIns="0" tIns="0" rIns="0" bIns="0" rtlCol="0" anchor="t"/>
          <a:lstStyle/>
          <a:p>
            <a:pPr indent="0" marL="0">
              <a:buNone/>
            </a:pPr>
            <a:r>
              <a:rPr lang="en-US" sz="2700" b="1" dirty="0">
                <a:solidFill>
                  <a:srgbClr val="1B1B1E"/>
                </a:solidFill>
                <a:latin typeface="Arial" pitchFamily="34" charset="0"/>
                <a:ea typeface="Arial" pitchFamily="34" charset="-122"/>
                <a:cs typeface="Arial" pitchFamily="34" charset="-120"/>
              </a:rPr>
              <a:t>La tarea, cuatro cosas</a:t>
            </a:r>
            <a:endParaRPr lang="en-US" sz="2700" dirty="0"/>
          </a:p>
        </p:txBody>
      </p:sp>
      <p:sp>
        <p:nvSpPr>
          <p:cNvPr id="9" name="Shape 7"/>
          <p:cNvSpPr/>
          <p:nvPr/>
        </p:nvSpPr>
        <p:spPr>
          <a:xfrm>
            <a:off x="502920" y="1828800"/>
            <a:ext cx="3968496" cy="1335024"/>
          </a:xfrm>
          <a:prstGeom prst="roundRect">
            <a:avLst>
              <a:gd name="adj" fmla="val 4110"/>
            </a:avLst>
          </a:prstGeom>
          <a:solidFill>
            <a:srgbClr val="FFFFFF"/>
          </a:solidFill>
          <a:ln w="9525">
            <a:solidFill>
              <a:srgbClr val="DCE6DE"/>
            </a:solidFill>
            <a:prstDash val="solid"/>
          </a:ln>
        </p:spPr>
      </p:sp>
      <p:sp>
        <p:nvSpPr>
          <p:cNvPr id="10" name="Shape 8"/>
          <p:cNvSpPr/>
          <p:nvPr/>
        </p:nvSpPr>
        <p:spPr>
          <a:xfrm>
            <a:off x="649224" y="1975104"/>
            <a:ext cx="274320" cy="274320"/>
          </a:xfrm>
          <a:prstGeom prst="ellipse">
            <a:avLst/>
          </a:prstGeom>
          <a:solidFill>
            <a:srgbClr val="87D895"/>
          </a:solidFill>
          <a:ln/>
        </p:spPr>
      </p:sp>
      <p:sp>
        <p:nvSpPr>
          <p:cNvPr id="11" name="Text 9"/>
          <p:cNvSpPr txBox="1"/>
          <p:nvPr/>
        </p:nvSpPr>
        <p:spPr>
          <a:xfrm>
            <a:off x="649224"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1</a:t>
            </a:r>
            <a:endParaRPr lang="en-US" sz="1100" dirty="0"/>
          </a:p>
        </p:txBody>
      </p:sp>
      <p:sp>
        <p:nvSpPr>
          <p:cNvPr id="12" name="Text 10"/>
          <p:cNvSpPr txBox="1"/>
          <p:nvPr/>
        </p:nvSpPr>
        <p:spPr>
          <a:xfrm>
            <a:off x="1005840" y="1956816"/>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1 · El renglón del perfil</a:t>
            </a:r>
            <a:endParaRPr lang="en-US" sz="1200" dirty="0"/>
          </a:p>
        </p:txBody>
      </p:sp>
      <p:sp>
        <p:nvSpPr>
          <p:cNvPr id="13" name="Text 11"/>
          <p:cNvSpPr txBox="1"/>
          <p:nvPr/>
        </p:nvSpPr>
        <p:spPr>
          <a:xfrm>
            <a:off x="649224" y="2322576"/>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Meter el monto máximo mensual estimado al cuestionario de alta. Es de esta semana, no de 2027</a:t>
            </a:r>
            <a:endParaRPr lang="en-US" sz="950" dirty="0"/>
          </a:p>
        </p:txBody>
      </p:sp>
      <p:sp>
        <p:nvSpPr>
          <p:cNvPr id="14" name="Shape 12"/>
          <p:cNvSpPr/>
          <p:nvPr/>
        </p:nvSpPr>
        <p:spPr>
          <a:xfrm>
            <a:off x="4672584" y="1828800"/>
            <a:ext cx="3968496" cy="1335024"/>
          </a:xfrm>
          <a:prstGeom prst="roundRect">
            <a:avLst>
              <a:gd name="adj" fmla="val 4110"/>
            </a:avLst>
          </a:prstGeom>
          <a:solidFill>
            <a:srgbClr val="FFFFFF"/>
          </a:solidFill>
          <a:ln w="9525">
            <a:solidFill>
              <a:srgbClr val="DCE6DE"/>
            </a:solidFill>
            <a:prstDash val="solid"/>
          </a:ln>
        </p:spPr>
      </p:sp>
      <p:sp>
        <p:nvSpPr>
          <p:cNvPr id="15" name="Shape 13"/>
          <p:cNvSpPr/>
          <p:nvPr/>
        </p:nvSpPr>
        <p:spPr>
          <a:xfrm>
            <a:off x="4818888" y="1975104"/>
            <a:ext cx="274320" cy="274320"/>
          </a:xfrm>
          <a:prstGeom prst="ellipse">
            <a:avLst/>
          </a:prstGeom>
          <a:solidFill>
            <a:srgbClr val="87D895"/>
          </a:solidFill>
          <a:ln/>
        </p:spPr>
      </p:sp>
      <p:sp>
        <p:nvSpPr>
          <p:cNvPr id="16" name="Text 14"/>
          <p:cNvSpPr txBox="1"/>
          <p:nvPr/>
        </p:nvSpPr>
        <p:spPr>
          <a:xfrm>
            <a:off x="4818888" y="1975104"/>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2</a:t>
            </a:r>
            <a:endParaRPr lang="en-US" sz="1100" dirty="0"/>
          </a:p>
        </p:txBody>
      </p:sp>
      <p:sp>
        <p:nvSpPr>
          <p:cNvPr id="17" name="Text 15"/>
          <p:cNvSpPr txBox="1"/>
          <p:nvPr/>
        </p:nvSpPr>
        <p:spPr>
          <a:xfrm>
            <a:off x="5175504" y="1956816"/>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2 · Terminar el checklist</a:t>
            </a:r>
            <a:endParaRPr lang="en-US" sz="1200" dirty="0"/>
          </a:p>
        </p:txBody>
      </p:sp>
      <p:sp>
        <p:nvSpPr>
          <p:cNvPr id="18" name="Text 16"/>
          <p:cNvSpPr txBox="1"/>
          <p:nvPr/>
        </p:nvSpPr>
        <p:spPr>
          <a:xfrm>
            <a:off x="4818888" y="2322576"/>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De la estructura que trajo, documentando el nivel en que cerró</a:t>
            </a:r>
            <a:endParaRPr lang="en-US" sz="950" dirty="0"/>
          </a:p>
        </p:txBody>
      </p:sp>
      <p:sp>
        <p:nvSpPr>
          <p:cNvPr id="19" name="Shape 17"/>
          <p:cNvSpPr/>
          <p:nvPr/>
        </p:nvSpPr>
        <p:spPr>
          <a:xfrm>
            <a:off x="502920" y="3310128"/>
            <a:ext cx="3968496" cy="1335024"/>
          </a:xfrm>
          <a:prstGeom prst="roundRect">
            <a:avLst>
              <a:gd name="adj" fmla="val 4110"/>
            </a:avLst>
          </a:prstGeom>
          <a:solidFill>
            <a:srgbClr val="FFFFFF"/>
          </a:solidFill>
          <a:ln w="9525">
            <a:solidFill>
              <a:srgbClr val="DCE6DE"/>
            </a:solidFill>
            <a:prstDash val="solid"/>
          </a:ln>
        </p:spPr>
      </p:sp>
      <p:sp>
        <p:nvSpPr>
          <p:cNvPr id="20" name="Shape 18"/>
          <p:cNvSpPr/>
          <p:nvPr/>
        </p:nvSpPr>
        <p:spPr>
          <a:xfrm>
            <a:off x="649224" y="3456432"/>
            <a:ext cx="274320" cy="274320"/>
          </a:xfrm>
          <a:prstGeom prst="ellipse">
            <a:avLst/>
          </a:prstGeom>
          <a:solidFill>
            <a:srgbClr val="87D895"/>
          </a:solidFill>
          <a:ln/>
        </p:spPr>
      </p:sp>
      <p:sp>
        <p:nvSpPr>
          <p:cNvPr id="21" name="Text 19"/>
          <p:cNvSpPr txBox="1"/>
          <p:nvPr/>
        </p:nvSpPr>
        <p:spPr>
          <a:xfrm>
            <a:off x="649224" y="345643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3</a:t>
            </a:r>
            <a:endParaRPr lang="en-US" sz="1100" dirty="0"/>
          </a:p>
        </p:txBody>
      </p:sp>
      <p:sp>
        <p:nvSpPr>
          <p:cNvPr id="22" name="Text 20"/>
          <p:cNvSpPr txBox="1"/>
          <p:nvPr/>
        </p:nvSpPr>
        <p:spPr>
          <a:xfrm>
            <a:off x="1005840" y="3438144"/>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3 · La cuarta alerta</a:t>
            </a:r>
            <a:endParaRPr lang="en-US" sz="1200" dirty="0"/>
          </a:p>
        </p:txBody>
      </p:sp>
      <p:sp>
        <p:nvSpPr>
          <p:cNvPr id="23" name="Text 21"/>
          <p:cNvSpPr txBox="1"/>
          <p:nvPr/>
        </p:nvSpPr>
        <p:spPr>
          <a:xfrm>
            <a:off x="649224" y="3803904"/>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Configurar la de países y jurisdicciones, que es la que nadie tiene</a:t>
            </a:r>
            <a:endParaRPr lang="en-US" sz="950" dirty="0"/>
          </a:p>
        </p:txBody>
      </p:sp>
      <p:sp>
        <p:nvSpPr>
          <p:cNvPr id="24" name="Shape 22"/>
          <p:cNvSpPr/>
          <p:nvPr/>
        </p:nvSpPr>
        <p:spPr>
          <a:xfrm>
            <a:off x="4672584" y="3310128"/>
            <a:ext cx="3968496" cy="1335024"/>
          </a:xfrm>
          <a:prstGeom prst="roundRect">
            <a:avLst>
              <a:gd name="adj" fmla="val 4110"/>
            </a:avLst>
          </a:prstGeom>
          <a:solidFill>
            <a:srgbClr val="FFFFFF"/>
          </a:solidFill>
          <a:ln w="9525">
            <a:solidFill>
              <a:srgbClr val="DCE6DE"/>
            </a:solidFill>
            <a:prstDash val="solid"/>
          </a:ln>
        </p:spPr>
      </p:sp>
      <p:sp>
        <p:nvSpPr>
          <p:cNvPr id="25" name="Shape 23"/>
          <p:cNvSpPr/>
          <p:nvPr/>
        </p:nvSpPr>
        <p:spPr>
          <a:xfrm>
            <a:off x="4818888" y="3456432"/>
            <a:ext cx="274320" cy="274320"/>
          </a:xfrm>
          <a:prstGeom prst="ellipse">
            <a:avLst/>
          </a:prstGeom>
          <a:solidFill>
            <a:srgbClr val="87D895"/>
          </a:solidFill>
          <a:ln/>
        </p:spPr>
      </p:sp>
      <p:sp>
        <p:nvSpPr>
          <p:cNvPr id="26" name="Text 24"/>
          <p:cNvSpPr txBox="1"/>
          <p:nvPr/>
        </p:nvSpPr>
        <p:spPr>
          <a:xfrm>
            <a:off x="4818888" y="3456432"/>
            <a:ext cx="274320" cy="274320"/>
          </a:xfrm>
          <a:prstGeom prst="rect">
            <a:avLst/>
          </a:prstGeom>
          <a:noFill/>
          <a:ln/>
        </p:spPr>
        <p:txBody>
          <a:bodyPr wrap="square" lIns="0" tIns="0" rIns="0" bIns="0" rtlCol="0" anchor="ctr"/>
          <a:lstStyle/>
          <a:p>
            <a:pPr algn="ctr" indent="0" marL="0">
              <a:buNone/>
            </a:pPr>
            <a:r>
              <a:rPr lang="en-US" sz="1100" b="1" dirty="0">
                <a:solidFill>
                  <a:srgbClr val="1B1B1E"/>
                </a:solidFill>
                <a:latin typeface="Arial" pitchFamily="34" charset="0"/>
                <a:ea typeface="Arial" pitchFamily="34" charset="-122"/>
                <a:cs typeface="Arial" pitchFamily="34" charset="-120"/>
              </a:rPr>
              <a:t>4</a:t>
            </a:r>
            <a:endParaRPr lang="en-US" sz="1100" dirty="0"/>
          </a:p>
        </p:txBody>
      </p:sp>
      <p:sp>
        <p:nvSpPr>
          <p:cNvPr id="27" name="Text 25"/>
          <p:cNvSpPr txBox="1"/>
          <p:nvPr/>
        </p:nvSpPr>
        <p:spPr>
          <a:xfrm>
            <a:off x="5175504" y="3438144"/>
            <a:ext cx="3310128" cy="329184"/>
          </a:xfrm>
          <a:prstGeom prst="rect">
            <a:avLst/>
          </a:prstGeom>
          <a:noFill/>
          <a:ln/>
        </p:spPr>
        <p:txBody>
          <a:bodyPr wrap="square" lIns="0" tIns="0" rIns="0" bIns="0" rtlCol="0" anchor="t"/>
          <a:lstStyle/>
          <a:p>
            <a:pPr indent="0" marL="0">
              <a:buNone/>
            </a:pPr>
            <a:r>
              <a:rPr lang="en-US" sz="1200" b="1" dirty="0">
                <a:solidFill>
                  <a:srgbClr val="1B1B1E"/>
                </a:solidFill>
                <a:latin typeface="Arial" pitchFamily="34" charset="0"/>
                <a:ea typeface="Arial" pitchFamily="34" charset="-122"/>
                <a:cs typeface="Arial" pitchFamily="34" charset="-120"/>
              </a:rPr>
              <a:t>4 · La prueba del IVA</a:t>
            </a:r>
            <a:endParaRPr lang="en-US" sz="1200" dirty="0"/>
          </a:p>
        </p:txBody>
      </p:sp>
      <p:sp>
        <p:nvSpPr>
          <p:cNvPr id="28" name="Text 26"/>
          <p:cNvSpPr txBox="1"/>
          <p:nvPr/>
        </p:nvSpPr>
        <p:spPr>
          <a:xfrm>
            <a:off x="4818888" y="3803904"/>
            <a:ext cx="3675888" cy="603504"/>
          </a:xfrm>
          <a:prstGeom prst="rect">
            <a:avLst/>
          </a:prstGeom>
          <a:noFill/>
          <a:ln/>
        </p:spPr>
        <p:txBody>
          <a:bodyPr wrap="square" lIns="0" tIns="0" rIns="0" bIns="0" rtlCol="0" anchor="t"/>
          <a:lstStyle/>
          <a:p>
            <a:pPr indent="0" marL="0">
              <a:buNone/>
            </a:pPr>
            <a:r>
              <a:rPr lang="en-US" sz="950" dirty="0">
                <a:solidFill>
                  <a:srgbClr val="4D4D4D"/>
                </a:solidFill>
                <a:latin typeface="Arial" pitchFamily="34" charset="0"/>
                <a:ea typeface="Arial" pitchFamily="34" charset="-122"/>
                <a:cs typeface="Arial" pitchFamily="34" charset="-120"/>
              </a:rPr>
              <a:t>Sobre su última operación grande: ¿queda del mismo lado en las tres bases?</a:t>
            </a:r>
            <a:endParaRPr lang="en-US" sz="950" dirty="0"/>
          </a:p>
        </p:txBody>
      </p:sp>
      <p:sp>
        <p:nvSpPr>
          <p:cNvPr id="29" name="Shape 27"/>
          <p:cNvSpPr/>
          <p:nvPr/>
        </p:nvSpPr>
        <p:spPr>
          <a:xfrm>
            <a:off x="502920" y="3977640"/>
            <a:ext cx="8138160" cy="640080"/>
          </a:xfrm>
          <a:prstGeom prst="roundRect">
            <a:avLst>
              <a:gd name="adj" fmla="val 8571"/>
            </a:avLst>
          </a:prstGeom>
          <a:solidFill>
            <a:srgbClr val="87D895"/>
          </a:solidFill>
          <a:ln/>
        </p:spPr>
      </p:sp>
      <p:sp>
        <p:nvSpPr>
          <p:cNvPr id="30" name="Text 28"/>
          <p:cNvSpPr txBox="1"/>
          <p:nvPr/>
        </p:nvSpPr>
        <p:spPr>
          <a:xfrm>
            <a:off x="731520" y="3995928"/>
            <a:ext cx="7680960" cy="603504"/>
          </a:xfrm>
          <a:prstGeom prst="rect">
            <a:avLst/>
          </a:prstGeom>
          <a:noFill/>
          <a:ln/>
        </p:spPr>
        <p:txBody>
          <a:bodyPr wrap="square" lIns="0" tIns="0" rIns="0" bIns="0" rtlCol="0" anchor="ctr"/>
          <a:lstStyle/>
          <a:p>
            <a:pPr indent="0" marL="0">
              <a:buNone/>
            </a:pPr>
            <a:r>
              <a:rPr lang="en-US" sz="1200" b="1" dirty="0">
                <a:solidFill>
                  <a:srgbClr val="1B1B1E"/>
                </a:solidFill>
                <a:latin typeface="Arial" pitchFamily="34" charset="0"/>
                <a:ea typeface="Arial" pitchFamily="34" charset="-122"/>
                <a:cs typeface="Arial" pitchFamily="34" charset="-120"/>
              </a:rPr>
              <a:t>La próxima sesión es el LUNES 14 de septiembre. Vamos fracción por fracción: traigan la duda de su sector.</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1B1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4C27B"/>
          </a:solidFill>
          <a:ln/>
        </p:spPr>
      </p:sp>
      <p:sp>
        <p:nvSpPr>
          <p:cNvPr id="3" name="Shape 1"/>
          <p:cNvSpPr/>
          <p:nvPr/>
        </p:nvSpPr>
        <p:spPr>
          <a:xfrm>
            <a:off x="822960" y="1737360"/>
            <a:ext cx="54864" cy="1737360"/>
          </a:xfrm>
          <a:prstGeom prst="rect">
            <a:avLst/>
          </a:prstGeom>
          <a:solidFill>
            <a:srgbClr val="64C27B"/>
          </a:solidFill>
          <a:ln/>
        </p:spPr>
      </p:sp>
      <p:sp>
        <p:nvSpPr>
          <p:cNvPr id="4" name="Text 2"/>
          <p:cNvSpPr txBox="1"/>
          <p:nvPr/>
        </p:nvSpPr>
        <p:spPr>
          <a:xfrm>
            <a:off x="1188720" y="1737360"/>
            <a:ext cx="7406640" cy="1737360"/>
          </a:xfrm>
          <a:prstGeom prst="rect">
            <a:avLst/>
          </a:prstGeom>
          <a:noFill/>
          <a:ln/>
        </p:spPr>
        <p:txBody>
          <a:bodyPr wrap="square" lIns="0" tIns="0" rIns="0" bIns="0" rtlCol="0" anchor="ctr"/>
          <a:lstStyle/>
          <a:p>
            <a:pPr indent="0" marL="0">
              <a:lnSpc>
                <a:spcPts val="3800"/>
              </a:lnSpc>
              <a:buNone/>
            </a:pPr>
            <a:r>
              <a:rPr lang="en-US" sz="2600" i="1" dirty="0">
                <a:solidFill>
                  <a:srgbClr val="FFFFFF"/>
                </a:solidFill>
                <a:latin typeface="Arial" pitchFamily="34" charset="0"/>
                <a:ea typeface="Arial" pitchFamily="34" charset="-122"/>
                <a:cs typeface="Arial" pitchFamily="34" charset="-120"/>
              </a:rPr>
              <a:t>«Una alerta no es una confesión.</a:t>
            </a:r>
            <a:endParaRPr lang="en-US" sz="2600" dirty="0"/>
          </a:p>
          <a:p>
            <a:pPr indent="0" marL="0">
              <a:lnSpc>
                <a:spcPts val="3800"/>
              </a:lnSpc>
              <a:buNone/>
            </a:pPr>
            <a:r>
              <a:rPr lang="en-US" sz="2600" i="1" dirty="0">
                <a:solidFill>
                  <a:srgbClr val="FFFFFF"/>
                </a:solidFill>
                <a:latin typeface="Arial" pitchFamily="34" charset="0"/>
                <a:ea typeface="Arial" pitchFamily="34" charset="-122"/>
                <a:cs typeface="Arial" pitchFamily="34" charset="-120"/>
              </a:rPr>
              <a:t>Es la prueba de que el control existe.»</a:t>
            </a:r>
            <a:endParaRPr lang="en-US" sz="2600" dirty="0"/>
          </a:p>
        </p:txBody>
      </p:sp>
      <p:sp>
        <p:nvSpPr>
          <p:cNvPr id="5" name="Text 3"/>
          <p:cNvSpPr txBox="1"/>
          <p:nvPr/>
        </p:nvSpPr>
        <p:spPr>
          <a:xfrm>
            <a:off x="1188720" y="3703320"/>
            <a:ext cx="7406640" cy="292608"/>
          </a:xfrm>
          <a:prstGeom prst="rect">
            <a:avLst/>
          </a:prstGeom>
          <a:noFill/>
          <a:ln/>
        </p:spPr>
        <p:txBody>
          <a:bodyPr wrap="square" lIns="0" tIns="0" rIns="0" bIns="0" rtlCol="0" anchor="ctr"/>
          <a:lstStyle/>
          <a:p>
            <a:pPr indent="0" marL="0">
              <a:buNone/>
            </a:pPr>
            <a:r>
              <a:rPr lang="en-US" sz="1300" b="1" dirty="0">
                <a:solidFill>
                  <a:srgbClr val="87D895"/>
                </a:solidFill>
                <a:latin typeface="Arial" pitchFamily="34" charset="0"/>
                <a:ea typeface="Arial" pitchFamily="34" charset="-122"/>
                <a:cs typeface="Arial" pitchFamily="34" charset="-120"/>
              </a:rPr>
              <a:t>Sesión 5 · LUNES 14 de septiembre · Los sectores, uno por uno</a:t>
            </a:r>
            <a:endParaRPr lang="en-US" sz="1300" dirty="0"/>
          </a:p>
        </p:txBody>
      </p:sp>
      <p:sp>
        <p:nvSpPr>
          <p:cNvPr id="6" name="Text 4"/>
          <p:cNvSpPr txBox="1"/>
          <p:nvPr/>
        </p:nvSpPr>
        <p:spPr>
          <a:xfrm>
            <a:off x="1188720" y="4041648"/>
            <a:ext cx="7406640" cy="274320"/>
          </a:xfrm>
          <a:prstGeom prst="rect">
            <a:avLst/>
          </a:prstGeom>
          <a:noFill/>
          <a:ln/>
        </p:spPr>
        <p:txBody>
          <a:bodyPr wrap="square" lIns="0" tIns="0" rIns="0" bIns="0" rtlCol="0" anchor="ctr"/>
          <a:lstStyle/>
          <a:p>
            <a:pPr indent="0" marL="0">
              <a:buNone/>
            </a:pPr>
            <a:r>
              <a:rPr lang="en-US" sz="1100" dirty="0">
                <a:solidFill>
                  <a:srgbClr val="8C9A90"/>
                </a:solidFill>
                <a:latin typeface="Arial" pitchFamily="34" charset="0"/>
                <a:ea typeface="Arial" pitchFamily="34" charset="-122"/>
                <a:cs typeface="Arial" pitchFamily="34" charset="-120"/>
              </a:rPr>
              <a:t>Maribel Vázquez Menchaca · GMC360 · 360Educa · ASONOC · LEXQUO</a:t>
            </a:r>
            <a:endParaRPr lang="en-US" sz="1100" dirty="0"/>
          </a:p>
        </p:txBody>
      </p:sp>
      <p:sp>
        <p:nvSpPr>
          <p:cNvPr id="7" name="Shape 5"/>
          <p:cNvSpPr/>
          <p:nvPr/>
        </p:nvSpPr>
        <p:spPr>
          <a:xfrm>
            <a:off x="0" y="4846320"/>
            <a:ext cx="9144000" cy="18288"/>
          </a:xfrm>
          <a:prstGeom prst="rect">
            <a:avLst/>
          </a:prstGeom>
          <a:solidFill>
            <a:srgbClr val="2E7D4F"/>
          </a:solidFill>
          <a:ln/>
        </p:spPr>
      </p:sp>
      <p:sp>
        <p:nvSpPr>
          <p:cNvPr id="8" name="Text 6"/>
          <p:cNvSpPr txBox="1"/>
          <p:nvPr/>
        </p:nvSpPr>
        <p:spPr>
          <a:xfrm>
            <a:off x="502920" y="4882896"/>
            <a:ext cx="6949440" cy="219456"/>
          </a:xfrm>
          <a:prstGeom prst="rect">
            <a:avLst/>
          </a:prstGeom>
          <a:noFill/>
          <a:ln/>
        </p:spPr>
        <p:txBody>
          <a:bodyPr wrap="square" lIns="0" tIns="0" rIns="0" bIns="0" rtlCol="0" anchor="ctr"/>
          <a:lstStyle/>
          <a:p>
            <a:pPr indent="0" marL="0">
              <a:buNone/>
            </a:pPr>
            <a:r>
              <a:rPr lang="en-US" sz="800" dirty="0">
                <a:solidFill>
                  <a:srgbClr val="8C9A90"/>
                </a:solidFill>
                <a:latin typeface="Arial" pitchFamily="34" charset="0"/>
                <a:ea typeface="Arial" pitchFamily="34" charset="-122"/>
                <a:cs typeface="Arial" pitchFamily="34" charset="-120"/>
              </a:rPr>
              <a:t>Taller Antilavado 360 · Sesión 4 · 8 de septiembre de 2026 · GMC360 / 360Educa</a:t>
            </a:r>
            <a:endParaRPr lang="en-US" sz="800" dirty="0"/>
          </a:p>
        </p:txBody>
      </p:sp>
      <p:sp>
        <p:nvSpPr>
          <p:cNvPr id="9" name="Text 7"/>
          <p:cNvSpPr txBox="1"/>
          <p:nvPr/>
        </p:nvSpPr>
        <p:spPr>
          <a:xfrm>
            <a:off x="8138160" y="4864608"/>
            <a:ext cx="502920" cy="237744"/>
          </a:xfrm>
          <a:prstGeom prst="rect">
            <a:avLst/>
          </a:prstGeom>
          <a:noFill/>
          <a:ln/>
        </p:spPr>
        <p:txBody>
          <a:bodyPr wrap="square" lIns="0" tIns="0" rIns="0" bIns="0" rtlCol="0" anchor="ctr"/>
          <a:lstStyle/>
          <a:p>
            <a:pPr algn="r" indent="0" marL="0">
              <a:buNone/>
            </a:pPr>
            <a:r>
              <a:rPr lang="en-US" sz="900" b="1" dirty="0">
                <a:solidFill>
                  <a:srgbClr val="64C27B"/>
                </a:solidFill>
                <a:latin typeface="Arial" pitchFamily="34" charset="0"/>
                <a:ea typeface="Arial" pitchFamily="34" charset="-122"/>
                <a:cs typeface="Arial" pitchFamily="34" charset="-120"/>
              </a:rPr>
              <a:t>42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GMC360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4 · Monitoreo, aviso de 24 horas, Beneficiario Controlador y efectivo</dc:title>
  <dc:subject>PptxGenJS Presentation</dc:subject>
  <dc:creator>GMC360 / 360Educa</dc:creator>
  <cp:lastModifiedBy>GMC360 / 360Educa</cp:lastModifiedBy>
  <cp:revision>1</cp:revision>
  <dcterms:created xsi:type="dcterms:W3CDTF">2026-09-08T12:48:46Z</dcterms:created>
  <dcterms:modified xsi:type="dcterms:W3CDTF">2026-09-08T12:48:46Z</dcterms:modified>
</cp:coreProperties>
</file>