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24A"/>
        </a:solidFill>
      </p:bgPr>
    </p:bg>
    <p:spTree>
      <p:nvGrpSpPr>
        <p:cNvPr id="1" name=""/>
        <p:cNvGrpSpPr/>
        <p:nvPr/>
      </p:nvGrpSpPr>
      <p:grpSpPr>
        <a:xfrm>
          <a:off x="0" y="0"/>
          <a:ext cx="0" cy="0"/>
          <a:chOff x="0" y="0"/>
          <a:chExt cx="0" cy="0"/>
        </a:xfrm>
      </p:grpSpPr>
      <p:sp>
        <p:nvSpPr>
          <p:cNvPr id="2" name="Shape 0"/>
          <p:cNvSpPr/>
          <p:nvPr/>
        </p:nvSpPr>
        <p:spPr>
          <a:xfrm>
            <a:off x="0" y="1645920"/>
            <a:ext cx="822960" cy="45720"/>
          </a:xfrm>
          <a:prstGeom prst="rect">
            <a:avLst/>
          </a:prstGeom>
          <a:solidFill>
            <a:srgbClr val="F2A541"/>
          </a:solidFill>
          <a:ln w="12700">
            <a:solidFill>
              <a:srgbClr val="333333"/>
            </a:solidFill>
            <a:prstDash val="solid"/>
          </a:ln>
        </p:spPr>
      </p:sp>
      <p:sp>
        <p:nvSpPr>
          <p:cNvPr id="3" name="Text 1"/>
          <p:cNvSpPr txBox="1"/>
          <p:nvPr/>
        </p:nvSpPr>
        <p:spPr>
          <a:xfrm>
            <a:off x="685800" y="1298448"/>
            <a:ext cx="7772400" cy="274320"/>
          </a:xfrm>
          <a:prstGeom prst="rect">
            <a:avLst/>
          </a:prstGeom>
          <a:noFill/>
          <a:ln/>
        </p:spPr>
        <p:txBody>
          <a:bodyPr wrap="square" lIns="0" tIns="0" rIns="0" bIns="0" rtlCol="0" anchor="ctr"/>
          <a:lstStyle/>
          <a:p>
            <a:pPr indent="0" marL="0">
              <a:buNone/>
            </a:pPr>
            <a:r>
              <a:rPr lang="en-US" sz="1200" b="1" spc="160" kern="0" dirty="0">
                <a:solidFill>
                  <a:srgbClr val="F2A541"/>
                </a:solidFill>
                <a:latin typeface="Arial" pitchFamily="34" charset="0"/>
                <a:ea typeface="Arial" pitchFamily="34" charset="-122"/>
                <a:cs typeface="Arial" pitchFamily="34" charset="-120"/>
              </a:rPr>
              <a:t>SESIÓN 3 · MARTES 1 DE SEPTIEMBRE DE 2026</a:t>
            </a:r>
            <a:endParaRPr lang="en-US" sz="1200" dirty="0"/>
          </a:p>
        </p:txBody>
      </p:sp>
      <p:sp>
        <p:nvSpPr>
          <p:cNvPr id="4" name="Text 2"/>
          <p:cNvSpPr txBox="1"/>
          <p:nvPr/>
        </p:nvSpPr>
        <p:spPr>
          <a:xfrm>
            <a:off x="685800" y="1792224"/>
            <a:ext cx="7772400" cy="9144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El documento que sí se puede escribir hoy</a:t>
            </a:r>
            <a:endParaRPr lang="en-US" sz="3400" dirty="0"/>
          </a:p>
        </p:txBody>
      </p:sp>
      <p:sp>
        <p:nvSpPr>
          <p:cNvPr id="5" name="Text 3"/>
          <p:cNvSpPr txBox="1"/>
          <p:nvPr/>
        </p:nvSpPr>
        <p:spPr>
          <a:xfrm>
            <a:off x="685800" y="2779776"/>
            <a:ext cx="7498080" cy="548640"/>
          </a:xfrm>
          <a:prstGeom prst="rect">
            <a:avLst/>
          </a:prstGeom>
          <a:noFill/>
          <a:ln/>
        </p:spPr>
        <p:txBody>
          <a:bodyPr wrap="square" lIns="0" tIns="0" rIns="0" bIns="0" rtlCol="0" anchor="t"/>
          <a:lstStyle/>
          <a:p>
            <a:pPr indent="0" marL="0">
              <a:buNone/>
            </a:pPr>
            <a:r>
              <a:rPr lang="en-US" sz="1600" dirty="0">
                <a:solidFill>
                  <a:srgbClr val="C7CEDB"/>
                </a:solidFill>
                <a:latin typeface="Arial" pitchFamily="34" charset="0"/>
                <a:ea typeface="Arial" pitchFamily="34" charset="-122"/>
                <a:cs typeface="Arial" pitchFamily="34" charset="-120"/>
              </a:rPr>
              <a:t>Manual de Políticas Internas, Representante Encargada de Cumplimiento y capacitación</a:t>
            </a:r>
            <a:endParaRPr lang="en-US" sz="1600" dirty="0"/>
          </a:p>
        </p:txBody>
      </p:sp>
      <p:sp>
        <p:nvSpPr>
          <p:cNvPr id="6" name="Text 4"/>
          <p:cNvSpPr txBox="1"/>
          <p:nvPr/>
        </p:nvSpPr>
        <p:spPr>
          <a:xfrm>
            <a:off x="685800" y="3877056"/>
            <a:ext cx="7772400" cy="256032"/>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Taller Antilavado 360: de la Ley a la práctica</a:t>
            </a:r>
            <a:endParaRPr lang="en-US" sz="1300" dirty="0"/>
          </a:p>
        </p:txBody>
      </p:sp>
      <p:sp>
        <p:nvSpPr>
          <p:cNvPr id="7" name="Text 5"/>
          <p:cNvSpPr txBox="1"/>
          <p:nvPr/>
        </p:nvSpPr>
        <p:spPr>
          <a:xfrm>
            <a:off x="685800" y="4151376"/>
            <a:ext cx="7772400" cy="256032"/>
          </a:xfrm>
          <a:prstGeom prst="rect">
            <a:avLst/>
          </a:prstGeom>
          <a:noFill/>
          <a:ln/>
        </p:spPr>
        <p:txBody>
          <a:bodyPr wrap="square" lIns="0" tIns="0" rIns="0" bIns="0" rtlCol="0" anchor="ctr"/>
          <a:lstStyle/>
          <a:p>
            <a:pPr indent="0" marL="0">
              <a:buNone/>
            </a:pPr>
            <a:r>
              <a:rPr lang="en-US" sz="1100" dirty="0">
                <a:solidFill>
                  <a:srgbClr val="9AA5BC"/>
                </a:solidFill>
                <a:latin typeface="Arial" pitchFamily="34" charset="0"/>
                <a:ea typeface="Arial" pitchFamily="34" charset="-122"/>
                <a:cs typeface="Arial" pitchFamily="34" charset="-120"/>
              </a:rPr>
              <a:t>GMC360 · 360Educa · ASONOC · LEXQUO   ·   Imparte: Maribel Vázquez Menchaca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Ustedes ya calificaron su manual la semana pasada</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Sin saberlo. Diez minutos para verlo.</a:t>
            </a:r>
            <a:endParaRPr lang="en-US" sz="1300" dirty="0"/>
          </a:p>
        </p:txBody>
      </p:sp>
      <p:sp>
        <p:nvSpPr>
          <p:cNvPr id="4" name="Shape 2"/>
          <p:cNvSpPr/>
          <p:nvPr/>
        </p:nvSpPr>
        <p:spPr>
          <a:xfrm>
            <a:off x="566928" y="1389888"/>
            <a:ext cx="8010144" cy="1060704"/>
          </a:xfrm>
          <a:prstGeom prst="roundRect">
            <a:avLst>
              <a:gd name="adj" fmla="val 5172"/>
            </a:avLst>
          </a:prstGeom>
          <a:solidFill>
            <a:srgbClr val="FDF3E3"/>
          </a:solidFill>
          <a:ln w="12700">
            <a:solidFill>
              <a:srgbClr val="F2A541"/>
            </a:solidFill>
            <a:prstDash val="solid"/>
          </a:ln>
        </p:spPr>
      </p:sp>
      <p:sp>
        <p:nvSpPr>
          <p:cNvPr id="5" name="Text 3"/>
          <p:cNvSpPr txBox="1"/>
          <p:nvPr/>
        </p:nvSpPr>
        <p:spPr>
          <a:xfrm>
            <a:off x="786384" y="1389888"/>
            <a:ext cx="7571232" cy="1060704"/>
          </a:xfrm>
          <a:prstGeom prst="rect">
            <a:avLst/>
          </a:prstGeom>
          <a:noFill/>
          <a:ln/>
        </p:spPr>
        <p:txBody>
          <a:bodyPr wrap="square" lIns="0" tIns="0" rIns="0" bIns="0" rtlCol="0" anchor="ctr"/>
          <a:lstStyle/>
          <a:p>
            <a:pPr indent="0" marL="0">
              <a:lnSpc>
                <a:spcPts val="1900"/>
              </a:lnSpc>
              <a:buNone/>
            </a:pPr>
            <a:r>
              <a:rPr lang="en-US" sz="1350" dirty="0">
                <a:solidFill>
                  <a:srgbClr val="1F2937"/>
                </a:solidFill>
                <a:latin typeface="Arial" pitchFamily="34" charset="0"/>
                <a:ea typeface="Arial" pitchFamily="34" charset="-122"/>
                <a:cs typeface="Arial" pitchFamily="34" charset="-120"/>
              </a:rPr>
              <a:t>La hoja «Controles» de la matriz les hizo recorrer las catorce fracciones del RCG 37 Bis y, por cada una, escribir el numeral de su manual que la prevé, la evidencia de aplicación efectiva y dónde se resguarda.</a:t>
            </a:r>
            <a:endParaRPr lang="en-US" sz="1350" dirty="0"/>
          </a:p>
        </p:txBody>
      </p:sp>
      <p:sp>
        <p:nvSpPr>
          <p:cNvPr id="6" name="Shape 4"/>
          <p:cNvSpPr/>
          <p:nvPr/>
        </p:nvSpPr>
        <p:spPr>
          <a:xfrm>
            <a:off x="566928" y="2633472"/>
            <a:ext cx="2578608" cy="1792224"/>
          </a:xfrm>
          <a:prstGeom prst="roundRect">
            <a:avLst>
              <a:gd name="adj" fmla="val 3061"/>
            </a:avLst>
          </a:prstGeom>
          <a:solidFill>
            <a:srgbClr val="F5F6F9"/>
          </a:solidFill>
          <a:ln w="12700">
            <a:solidFill>
              <a:srgbClr val="E5E7EB"/>
            </a:solidFill>
            <a:prstDash val="solid"/>
          </a:ln>
        </p:spPr>
      </p:sp>
      <p:sp>
        <p:nvSpPr>
          <p:cNvPr id="7" name="Text 5"/>
          <p:cNvSpPr txBox="1"/>
          <p:nvPr/>
        </p:nvSpPr>
        <p:spPr>
          <a:xfrm>
            <a:off x="768096" y="2743200"/>
            <a:ext cx="2194560" cy="310896"/>
          </a:xfrm>
          <a:prstGeom prst="rect">
            <a:avLst/>
          </a:prstGeom>
          <a:noFill/>
          <a:ln/>
        </p:spPr>
        <p:txBody>
          <a:bodyPr wrap="square" lIns="0" tIns="0" rIns="0" bIns="0" rtlCol="0" anchor="ctr"/>
          <a:lstStyle/>
          <a:p>
            <a:pPr indent="0" marL="0">
              <a:buNone/>
            </a:pPr>
            <a:r>
              <a:rPr lang="en-US" sz="1100" b="1" dirty="0">
                <a:solidFill>
                  <a:srgbClr val="6B7280"/>
                </a:solidFill>
                <a:latin typeface="Arial" pitchFamily="34" charset="0"/>
                <a:ea typeface="Arial" pitchFamily="34" charset="-122"/>
                <a:cs typeface="Arial" pitchFamily="34" charset="-120"/>
              </a:rPr>
              <a:t>SI QUEDÓ EN CERO</a:t>
            </a:r>
            <a:endParaRPr lang="en-US" sz="1100" dirty="0"/>
          </a:p>
        </p:txBody>
      </p:sp>
      <p:sp>
        <p:nvSpPr>
          <p:cNvPr id="8" name="Text 6"/>
          <p:cNvSpPr txBox="1"/>
          <p:nvPr/>
        </p:nvSpPr>
        <p:spPr>
          <a:xfrm>
            <a:off x="768096" y="3054096"/>
            <a:ext cx="2194560" cy="475488"/>
          </a:xfrm>
          <a:prstGeom prst="rect">
            <a:avLst/>
          </a:prstGeom>
          <a:noFill/>
          <a:ln/>
        </p:spPr>
        <p:txBody>
          <a:bodyPr wrap="square" lIns="0" tIns="0" rIns="0" bIns="0" rtlCol="0" anchor="t"/>
          <a:lstStyle/>
          <a:p>
            <a:pPr indent="0" marL="0">
              <a:lnSpc>
                <a:spcPts val="1700"/>
              </a:lnSpc>
              <a:buNone/>
            </a:pPr>
            <a:r>
              <a:rPr lang="en-US" sz="1350" b="1" dirty="0">
                <a:solidFill>
                  <a:srgbClr val="12224A"/>
                </a:solidFill>
                <a:latin typeface="Arial" pitchFamily="34" charset="0"/>
                <a:ea typeface="Arial" pitchFamily="34" charset="-122"/>
                <a:cs typeface="Arial" pitchFamily="34" charset="-120"/>
              </a:rPr>
              <a:t>La obligación no computa</a:t>
            </a:r>
            <a:endParaRPr lang="en-US" sz="1350" dirty="0"/>
          </a:p>
        </p:txBody>
      </p:sp>
      <p:sp>
        <p:nvSpPr>
          <p:cNvPr id="9" name="Text 7"/>
          <p:cNvSpPr txBox="1"/>
          <p:nvPr/>
        </p:nvSpPr>
        <p:spPr>
          <a:xfrm>
            <a:off x="768096" y="3547872"/>
            <a:ext cx="2194560" cy="804672"/>
          </a:xfrm>
          <a:prstGeom prst="rect">
            <a:avLst/>
          </a:prstGeom>
          <a:noFill/>
          <a:ln/>
        </p:spPr>
        <p:txBody>
          <a:bodyPr wrap="square" lIns="0" tIns="0" rIns="0" bIns="0" rtlCol="0" anchor="t"/>
          <a:lstStyle/>
          <a:p>
            <a:pPr indent="0" marL="0">
              <a:lnSpc>
                <a:spcPts val="1500"/>
              </a:lnSpc>
              <a:buNone/>
            </a:pPr>
            <a:r>
              <a:rPr lang="en-US" sz="1150" dirty="0">
                <a:solidFill>
                  <a:srgbClr val="1F2937"/>
                </a:solidFill>
                <a:latin typeface="Arial" pitchFamily="34" charset="0"/>
                <a:ea typeface="Arial" pitchFamily="34" charset="-122"/>
                <a:cs typeface="Arial" pitchFamily="34" charset="-120"/>
              </a:rPr>
              <a:t>Un numeral bien redactado sin evidencia de aplicación no suma nada. Ésa es la lista de hoy.</a:t>
            </a:r>
            <a:endParaRPr lang="en-US" sz="1150" dirty="0"/>
          </a:p>
        </p:txBody>
      </p:sp>
      <p:sp>
        <p:nvSpPr>
          <p:cNvPr id="10" name="Shape 8"/>
          <p:cNvSpPr/>
          <p:nvPr/>
        </p:nvSpPr>
        <p:spPr>
          <a:xfrm>
            <a:off x="3282696" y="2633472"/>
            <a:ext cx="2578608" cy="1792224"/>
          </a:xfrm>
          <a:prstGeom prst="roundRect">
            <a:avLst>
              <a:gd name="adj" fmla="val 3061"/>
            </a:avLst>
          </a:prstGeom>
          <a:solidFill>
            <a:srgbClr val="FDF3E3"/>
          </a:solidFill>
          <a:ln w="12700">
            <a:solidFill>
              <a:srgbClr val="F2A541"/>
            </a:solidFill>
            <a:prstDash val="solid"/>
          </a:ln>
        </p:spPr>
      </p:sp>
      <p:sp>
        <p:nvSpPr>
          <p:cNvPr id="11" name="Text 9"/>
          <p:cNvSpPr txBox="1"/>
          <p:nvPr/>
        </p:nvSpPr>
        <p:spPr>
          <a:xfrm>
            <a:off x="3483864" y="2743200"/>
            <a:ext cx="2194560" cy="310896"/>
          </a:xfrm>
          <a:prstGeom prst="rect">
            <a:avLst/>
          </a:prstGeom>
          <a:noFill/>
          <a:ln/>
        </p:spPr>
        <p:txBody>
          <a:bodyPr wrap="square" lIns="0" tIns="0" rIns="0" bIns="0" rtlCol="0" anchor="ctr"/>
          <a:lstStyle/>
          <a:p>
            <a:pPr indent="0" marL="0">
              <a:buNone/>
            </a:pPr>
            <a:r>
              <a:rPr lang="en-US" sz="1100" b="1" dirty="0">
                <a:solidFill>
                  <a:srgbClr val="92400E"/>
                </a:solidFill>
                <a:latin typeface="Arial" pitchFamily="34" charset="0"/>
                <a:ea typeface="Arial" pitchFamily="34" charset="-122"/>
                <a:cs typeface="Arial" pitchFamily="34" charset="-120"/>
              </a:rPr>
              <a:t>SI PUSIERON «NO APLICA»</a:t>
            </a:r>
            <a:endParaRPr lang="en-US" sz="1100" dirty="0"/>
          </a:p>
        </p:txBody>
      </p:sp>
      <p:sp>
        <p:nvSpPr>
          <p:cNvPr id="12" name="Text 10"/>
          <p:cNvSpPr txBox="1"/>
          <p:nvPr/>
        </p:nvSpPr>
        <p:spPr>
          <a:xfrm>
            <a:off x="3483864" y="3054096"/>
            <a:ext cx="2194560" cy="475488"/>
          </a:xfrm>
          <a:prstGeom prst="rect">
            <a:avLst/>
          </a:prstGeom>
          <a:noFill/>
          <a:ln/>
        </p:spPr>
        <p:txBody>
          <a:bodyPr wrap="square" lIns="0" tIns="0" rIns="0" bIns="0" rtlCol="0" anchor="t"/>
          <a:lstStyle/>
          <a:p>
            <a:pPr indent="0" marL="0">
              <a:lnSpc>
                <a:spcPts val="1700"/>
              </a:lnSpc>
              <a:buNone/>
            </a:pPr>
            <a:r>
              <a:rPr lang="en-US" sz="1350" b="1" dirty="0">
                <a:solidFill>
                  <a:srgbClr val="12224A"/>
                </a:solidFill>
                <a:latin typeface="Arial" pitchFamily="34" charset="0"/>
                <a:ea typeface="Arial" pitchFamily="34" charset="-122"/>
                <a:cs typeface="Arial" pitchFamily="34" charset="-120"/>
              </a:rPr>
              <a:t>Hay que justificarlo</a:t>
            </a:r>
            <a:endParaRPr lang="en-US" sz="1350" dirty="0"/>
          </a:p>
        </p:txBody>
      </p:sp>
      <p:sp>
        <p:nvSpPr>
          <p:cNvPr id="13" name="Text 11"/>
          <p:cNvSpPr txBox="1"/>
          <p:nvPr/>
        </p:nvSpPr>
        <p:spPr>
          <a:xfrm>
            <a:off x="3483864" y="3547872"/>
            <a:ext cx="2194560" cy="804672"/>
          </a:xfrm>
          <a:prstGeom prst="rect">
            <a:avLst/>
          </a:prstGeom>
          <a:noFill/>
          <a:ln/>
        </p:spPr>
        <p:txBody>
          <a:bodyPr wrap="square" lIns="0" tIns="0" rIns="0" bIns="0" rtlCol="0" anchor="t"/>
          <a:lstStyle/>
          <a:p>
            <a:pPr indent="0" marL="0">
              <a:lnSpc>
                <a:spcPts val="1500"/>
              </a:lnSpc>
              <a:buNone/>
            </a:pPr>
            <a:r>
              <a:rPr lang="en-US" sz="1150" dirty="0">
                <a:solidFill>
                  <a:srgbClr val="1F2937"/>
                </a:solidFill>
                <a:latin typeface="Arial" pitchFamily="34" charset="0"/>
                <a:ea typeface="Arial" pitchFamily="34" charset="-122"/>
                <a:cs typeface="Arial" pitchFamily="34" charset="-120"/>
              </a:rPr>
              <a:t>Se los prometí la semana pasada y hoy lo cumplimos: va dentro del manual, con el motivo escrito.</a:t>
            </a:r>
            <a:endParaRPr lang="en-US" sz="1150" dirty="0"/>
          </a:p>
        </p:txBody>
      </p:sp>
      <p:sp>
        <p:nvSpPr>
          <p:cNvPr id="14" name="Shape 12"/>
          <p:cNvSpPr/>
          <p:nvPr/>
        </p:nvSpPr>
        <p:spPr>
          <a:xfrm>
            <a:off x="5998464" y="2633472"/>
            <a:ext cx="2578608" cy="1792224"/>
          </a:xfrm>
          <a:prstGeom prst="roundRect">
            <a:avLst>
              <a:gd name="adj" fmla="val 3061"/>
            </a:avLst>
          </a:prstGeom>
          <a:solidFill>
            <a:srgbClr val="F5F6F9"/>
          </a:solidFill>
          <a:ln w="12700">
            <a:solidFill>
              <a:srgbClr val="E5E7EB"/>
            </a:solidFill>
            <a:prstDash val="solid"/>
          </a:ln>
        </p:spPr>
      </p:sp>
      <p:sp>
        <p:nvSpPr>
          <p:cNvPr id="15" name="Text 13"/>
          <p:cNvSpPr txBox="1"/>
          <p:nvPr/>
        </p:nvSpPr>
        <p:spPr>
          <a:xfrm>
            <a:off x="6199632" y="2743200"/>
            <a:ext cx="2194560" cy="310896"/>
          </a:xfrm>
          <a:prstGeom prst="rect">
            <a:avLst/>
          </a:prstGeom>
          <a:noFill/>
          <a:ln/>
        </p:spPr>
        <p:txBody>
          <a:bodyPr wrap="square" lIns="0" tIns="0" rIns="0" bIns="0" rtlCol="0" anchor="ctr"/>
          <a:lstStyle/>
          <a:p>
            <a:pPr indent="0" marL="0">
              <a:buNone/>
            </a:pPr>
            <a:r>
              <a:rPr lang="en-US" sz="1100" b="1" dirty="0">
                <a:solidFill>
                  <a:srgbClr val="6B7280"/>
                </a:solidFill>
                <a:latin typeface="Arial" pitchFamily="34" charset="0"/>
                <a:ea typeface="Arial" pitchFamily="34" charset="-122"/>
                <a:cs typeface="Arial" pitchFamily="34" charset="-120"/>
              </a:rPr>
              <a:t>SI NO TENÍAN NUMERAL</a:t>
            </a:r>
            <a:endParaRPr lang="en-US" sz="1100" dirty="0"/>
          </a:p>
        </p:txBody>
      </p:sp>
      <p:sp>
        <p:nvSpPr>
          <p:cNvPr id="16" name="Text 14"/>
          <p:cNvSpPr txBox="1"/>
          <p:nvPr/>
        </p:nvSpPr>
        <p:spPr>
          <a:xfrm>
            <a:off x="6199632" y="3054096"/>
            <a:ext cx="2194560" cy="475488"/>
          </a:xfrm>
          <a:prstGeom prst="rect">
            <a:avLst/>
          </a:prstGeom>
          <a:noFill/>
          <a:ln/>
        </p:spPr>
        <p:txBody>
          <a:bodyPr wrap="square" lIns="0" tIns="0" rIns="0" bIns="0" rtlCol="0" anchor="t"/>
          <a:lstStyle/>
          <a:p>
            <a:pPr indent="0" marL="0">
              <a:lnSpc>
                <a:spcPts val="1700"/>
              </a:lnSpc>
              <a:buNone/>
            </a:pPr>
            <a:r>
              <a:rPr lang="en-US" sz="1350" b="1" dirty="0">
                <a:solidFill>
                  <a:srgbClr val="12224A"/>
                </a:solidFill>
                <a:latin typeface="Arial" pitchFamily="34" charset="0"/>
                <a:ea typeface="Arial" pitchFamily="34" charset="-122"/>
                <a:cs typeface="Arial" pitchFamily="34" charset="-120"/>
              </a:rPr>
              <a:t>Ése es el apartado que falta</a:t>
            </a:r>
            <a:endParaRPr lang="en-US" sz="1350" dirty="0"/>
          </a:p>
        </p:txBody>
      </p:sp>
      <p:sp>
        <p:nvSpPr>
          <p:cNvPr id="17" name="Text 15"/>
          <p:cNvSpPr txBox="1"/>
          <p:nvPr/>
        </p:nvSpPr>
        <p:spPr>
          <a:xfrm>
            <a:off x="6199632" y="3547872"/>
            <a:ext cx="2194560" cy="804672"/>
          </a:xfrm>
          <a:prstGeom prst="rect">
            <a:avLst/>
          </a:prstGeom>
          <a:noFill/>
          <a:ln/>
        </p:spPr>
        <p:txBody>
          <a:bodyPr wrap="square" lIns="0" tIns="0" rIns="0" bIns="0" rtlCol="0" anchor="t"/>
          <a:lstStyle/>
          <a:p>
            <a:pPr indent="0" marL="0">
              <a:lnSpc>
                <a:spcPts val="1500"/>
              </a:lnSpc>
              <a:buNone/>
            </a:pPr>
            <a:r>
              <a:rPr lang="en-US" sz="1150" dirty="0">
                <a:solidFill>
                  <a:srgbClr val="1F2937"/>
                </a:solidFill>
                <a:latin typeface="Arial" pitchFamily="34" charset="0"/>
                <a:ea typeface="Arial" pitchFamily="34" charset="-122"/>
                <a:cs typeface="Arial" pitchFamily="34" charset="-120"/>
              </a:rPr>
              <a:t>Hoy sale con su fundamento, su cláusula modelo y su evidencia.</a:t>
            </a:r>
            <a:endParaRPr lang="en-US" sz="1150" dirty="0"/>
          </a:p>
        </p:txBody>
      </p:sp>
      <p:sp>
        <p:nvSpPr>
          <p:cNvPr id="18" name="Text 16"/>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9" name="Text 17"/>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Por qué el manual viene después</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El orden no es de temario. Es de norma.</a:t>
            </a:r>
            <a:endParaRPr lang="en-US" sz="1300" dirty="0"/>
          </a:p>
        </p:txBody>
      </p:sp>
      <p:sp>
        <p:nvSpPr>
          <p:cNvPr id="4" name="Shape 2"/>
          <p:cNvSpPr/>
          <p:nvPr/>
        </p:nvSpPr>
        <p:spPr>
          <a:xfrm>
            <a:off x="566928" y="1481328"/>
            <a:ext cx="914400" cy="566928"/>
          </a:xfrm>
          <a:prstGeom prst="roundRect">
            <a:avLst>
              <a:gd name="adj" fmla="val 9677"/>
            </a:avLst>
          </a:prstGeom>
          <a:solidFill>
            <a:srgbClr val="F5F6F9"/>
          </a:solidFill>
          <a:ln w="12700">
            <a:solidFill>
              <a:srgbClr val="E5E7EB"/>
            </a:solidFill>
            <a:prstDash val="solid"/>
          </a:ln>
        </p:spPr>
      </p:sp>
      <p:sp>
        <p:nvSpPr>
          <p:cNvPr id="5" name="Text 3"/>
          <p:cNvSpPr txBox="1"/>
          <p:nvPr/>
        </p:nvSpPr>
        <p:spPr>
          <a:xfrm>
            <a:off x="566928" y="1481328"/>
            <a:ext cx="914400" cy="566928"/>
          </a:xfrm>
          <a:prstGeom prst="rect">
            <a:avLst/>
          </a:prstGeom>
          <a:noFill/>
          <a:ln/>
        </p:spPr>
        <p:txBody>
          <a:bodyPr wrap="square" lIns="0" tIns="0" rIns="0" bIns="0" rtlCol="0" anchor="ctr"/>
          <a:lstStyle/>
          <a:p>
            <a:pPr algn="ctr" indent="0" marL="0">
              <a:buNone/>
            </a:pPr>
            <a:r>
              <a:rPr lang="en-US" sz="1300" b="1" dirty="0">
                <a:solidFill>
                  <a:srgbClr val="6B7280"/>
                </a:solidFill>
                <a:latin typeface="Arial" pitchFamily="34" charset="0"/>
                <a:ea typeface="Arial" pitchFamily="34" charset="-122"/>
                <a:cs typeface="Arial" pitchFamily="34" charset="-120"/>
              </a:rPr>
              <a:t>S02</a:t>
            </a:r>
            <a:endParaRPr lang="en-US" sz="1300" dirty="0"/>
          </a:p>
        </p:txBody>
      </p:sp>
      <p:sp>
        <p:nvSpPr>
          <p:cNvPr id="6" name="Text 4"/>
          <p:cNvSpPr txBox="1"/>
          <p:nvPr/>
        </p:nvSpPr>
        <p:spPr>
          <a:xfrm>
            <a:off x="1664208" y="1517904"/>
            <a:ext cx="2103120" cy="256032"/>
          </a:xfrm>
          <a:prstGeom prst="rect">
            <a:avLst/>
          </a:prstGeom>
          <a:noFill/>
          <a:ln/>
        </p:spPr>
        <p:txBody>
          <a:bodyPr wrap="square" lIns="0" tIns="0" rIns="0" bIns="0" rtlCol="0" anchor="ctr"/>
          <a:lstStyle/>
          <a:p>
            <a:pPr indent="0" marL="0">
              <a:buNone/>
            </a:pPr>
            <a:r>
              <a:rPr lang="en-US" sz="1500" b="1" dirty="0">
                <a:solidFill>
                  <a:srgbClr val="12224A"/>
                </a:solidFill>
                <a:latin typeface="Arial" pitchFamily="34" charset="0"/>
                <a:ea typeface="Arial" pitchFamily="34" charset="-122"/>
                <a:cs typeface="Arial" pitchFamily="34" charset="-120"/>
              </a:rPr>
              <a:t>La metodología</a:t>
            </a:r>
            <a:endParaRPr lang="en-US" sz="1500" dirty="0"/>
          </a:p>
        </p:txBody>
      </p:sp>
      <p:sp>
        <p:nvSpPr>
          <p:cNvPr id="7" name="Text 5"/>
          <p:cNvSpPr txBox="1"/>
          <p:nvPr/>
        </p:nvSpPr>
        <p:spPr>
          <a:xfrm>
            <a:off x="3822192" y="1499616"/>
            <a:ext cx="4754880" cy="512064"/>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Identifica, mide y mitiga el Riesgo. Es el insumo.</a:t>
            </a:r>
            <a:endParaRPr lang="en-US" sz="1250" dirty="0"/>
          </a:p>
        </p:txBody>
      </p:sp>
      <p:sp>
        <p:nvSpPr>
          <p:cNvPr id="8" name="Shape 6"/>
          <p:cNvSpPr/>
          <p:nvPr/>
        </p:nvSpPr>
        <p:spPr>
          <a:xfrm>
            <a:off x="566928" y="2249424"/>
            <a:ext cx="914400" cy="566928"/>
          </a:xfrm>
          <a:prstGeom prst="roundRect">
            <a:avLst>
              <a:gd name="adj" fmla="val 9677"/>
            </a:avLst>
          </a:prstGeom>
          <a:solidFill>
            <a:srgbClr val="12224A"/>
          </a:solidFill>
          <a:ln w="12700">
            <a:solidFill>
              <a:srgbClr val="12224A"/>
            </a:solidFill>
            <a:prstDash val="solid"/>
          </a:ln>
        </p:spPr>
      </p:sp>
      <p:sp>
        <p:nvSpPr>
          <p:cNvPr id="9" name="Text 7"/>
          <p:cNvSpPr txBox="1"/>
          <p:nvPr/>
        </p:nvSpPr>
        <p:spPr>
          <a:xfrm>
            <a:off x="566928" y="2249424"/>
            <a:ext cx="914400" cy="566928"/>
          </a:xfrm>
          <a:prstGeom prst="rect">
            <a:avLst/>
          </a:prstGeom>
          <a:noFill/>
          <a:ln/>
        </p:spPr>
        <p:txBody>
          <a:bodyPr wrap="square" lIns="0" tIns="0" rIns="0" bIns="0" rtlCol="0" anchor="ctr"/>
          <a:lstStyle/>
          <a:p>
            <a:pPr algn="ctr" indent="0" marL="0">
              <a:buNone/>
            </a:pPr>
            <a:r>
              <a:rPr lang="en-US" sz="1300" b="1" dirty="0">
                <a:solidFill>
                  <a:srgbClr val="F2A541"/>
                </a:solidFill>
                <a:latin typeface="Arial" pitchFamily="34" charset="0"/>
                <a:ea typeface="Arial" pitchFamily="34" charset="-122"/>
                <a:cs typeface="Arial" pitchFamily="34" charset="-120"/>
              </a:rPr>
              <a:t>S03</a:t>
            </a:r>
            <a:endParaRPr lang="en-US" sz="1300" dirty="0"/>
          </a:p>
        </p:txBody>
      </p:sp>
      <p:sp>
        <p:nvSpPr>
          <p:cNvPr id="10" name="Text 8"/>
          <p:cNvSpPr txBox="1"/>
          <p:nvPr/>
        </p:nvSpPr>
        <p:spPr>
          <a:xfrm>
            <a:off x="1664208" y="2286000"/>
            <a:ext cx="2103120" cy="256032"/>
          </a:xfrm>
          <a:prstGeom prst="rect">
            <a:avLst/>
          </a:prstGeom>
          <a:noFill/>
          <a:ln/>
        </p:spPr>
        <p:txBody>
          <a:bodyPr wrap="square" lIns="0" tIns="0" rIns="0" bIns="0" rtlCol="0" anchor="ctr"/>
          <a:lstStyle/>
          <a:p>
            <a:pPr indent="0" marL="0">
              <a:buNone/>
            </a:pPr>
            <a:r>
              <a:rPr lang="en-US" sz="1500" b="1" dirty="0">
                <a:solidFill>
                  <a:srgbClr val="12224A"/>
                </a:solidFill>
                <a:latin typeface="Arial" pitchFamily="34" charset="0"/>
                <a:ea typeface="Arial" pitchFamily="34" charset="-122"/>
                <a:cs typeface="Arial" pitchFamily="34" charset="-120"/>
              </a:rPr>
              <a:t>El Manual</a:t>
            </a:r>
            <a:endParaRPr lang="en-US" sz="1500" dirty="0"/>
          </a:p>
        </p:txBody>
      </p:sp>
      <p:sp>
        <p:nvSpPr>
          <p:cNvPr id="11" name="Text 9"/>
          <p:cNvSpPr txBox="1"/>
          <p:nvPr/>
        </p:nvSpPr>
        <p:spPr>
          <a:xfrm>
            <a:off x="3822192" y="2267712"/>
            <a:ext cx="4754880" cy="512064"/>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Escribe la política que gestiona ESE riesgo, no uno genérico.</a:t>
            </a:r>
            <a:endParaRPr lang="en-US" sz="1250" dirty="0"/>
          </a:p>
        </p:txBody>
      </p:sp>
      <p:sp>
        <p:nvSpPr>
          <p:cNvPr id="12" name="Shape 10"/>
          <p:cNvSpPr/>
          <p:nvPr/>
        </p:nvSpPr>
        <p:spPr>
          <a:xfrm>
            <a:off x="566928" y="3017520"/>
            <a:ext cx="914400" cy="566928"/>
          </a:xfrm>
          <a:prstGeom prst="roundRect">
            <a:avLst>
              <a:gd name="adj" fmla="val 9677"/>
            </a:avLst>
          </a:prstGeom>
          <a:solidFill>
            <a:srgbClr val="F5F6F9"/>
          </a:solidFill>
          <a:ln w="12700">
            <a:solidFill>
              <a:srgbClr val="E5E7EB"/>
            </a:solidFill>
            <a:prstDash val="solid"/>
          </a:ln>
        </p:spPr>
      </p:sp>
      <p:sp>
        <p:nvSpPr>
          <p:cNvPr id="13" name="Text 11"/>
          <p:cNvSpPr txBox="1"/>
          <p:nvPr/>
        </p:nvSpPr>
        <p:spPr>
          <a:xfrm>
            <a:off x="566928" y="3017520"/>
            <a:ext cx="914400" cy="566928"/>
          </a:xfrm>
          <a:prstGeom prst="rect">
            <a:avLst/>
          </a:prstGeom>
          <a:noFill/>
          <a:ln/>
        </p:spPr>
        <p:txBody>
          <a:bodyPr wrap="square" lIns="0" tIns="0" rIns="0" bIns="0" rtlCol="0" anchor="ctr"/>
          <a:lstStyle/>
          <a:p>
            <a:pPr algn="ctr" indent="0" marL="0">
              <a:buNone/>
            </a:pPr>
            <a:r>
              <a:rPr lang="en-US" sz="1300" b="1" dirty="0">
                <a:solidFill>
                  <a:srgbClr val="6B7280"/>
                </a:solidFill>
                <a:latin typeface="Arial" pitchFamily="34" charset="0"/>
                <a:ea typeface="Arial" pitchFamily="34" charset="-122"/>
                <a:cs typeface="Arial" pitchFamily="34" charset="-120"/>
              </a:rPr>
              <a:t>S03</a:t>
            </a:r>
            <a:endParaRPr lang="en-US" sz="1300" dirty="0"/>
          </a:p>
        </p:txBody>
      </p:sp>
      <p:sp>
        <p:nvSpPr>
          <p:cNvPr id="14" name="Text 12"/>
          <p:cNvSpPr txBox="1"/>
          <p:nvPr/>
        </p:nvSpPr>
        <p:spPr>
          <a:xfrm>
            <a:off x="1664208" y="3054096"/>
            <a:ext cx="2103120" cy="256032"/>
          </a:xfrm>
          <a:prstGeom prst="rect">
            <a:avLst/>
          </a:prstGeom>
          <a:noFill/>
          <a:ln/>
        </p:spPr>
        <p:txBody>
          <a:bodyPr wrap="square" lIns="0" tIns="0" rIns="0" bIns="0" rtlCol="0" anchor="ctr"/>
          <a:lstStyle/>
          <a:p>
            <a:pPr indent="0" marL="0">
              <a:buNone/>
            </a:pPr>
            <a:r>
              <a:rPr lang="en-US" sz="1500" b="1" dirty="0">
                <a:solidFill>
                  <a:srgbClr val="12224A"/>
                </a:solidFill>
                <a:latin typeface="Arial" pitchFamily="34" charset="0"/>
                <a:ea typeface="Arial" pitchFamily="34" charset="-122"/>
                <a:cs typeface="Arial" pitchFamily="34" charset="-120"/>
              </a:rPr>
              <a:t>La capacitación</a:t>
            </a:r>
            <a:endParaRPr lang="en-US" sz="1500" dirty="0"/>
          </a:p>
        </p:txBody>
      </p:sp>
      <p:sp>
        <p:nvSpPr>
          <p:cNvPr id="15" name="Text 13"/>
          <p:cNvSpPr txBox="1"/>
          <p:nvPr/>
        </p:nvSpPr>
        <p:spPr>
          <a:xfrm>
            <a:off x="3822192" y="3035808"/>
            <a:ext cx="4754880" cy="512064"/>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Enseña ESE manual y ESOS riesgos. Coherente con los dos anteriores.</a:t>
            </a:r>
            <a:endParaRPr lang="en-US" sz="1250" dirty="0"/>
          </a:p>
        </p:txBody>
      </p:sp>
      <p:sp>
        <p:nvSpPr>
          <p:cNvPr id="16" name="Shape 14"/>
          <p:cNvSpPr/>
          <p:nvPr/>
        </p:nvSpPr>
        <p:spPr>
          <a:xfrm>
            <a:off x="566928" y="3913632"/>
            <a:ext cx="8010144" cy="658368"/>
          </a:xfrm>
          <a:prstGeom prst="roundRect">
            <a:avLst>
              <a:gd name="adj" fmla="val 8333"/>
            </a:avLst>
          </a:prstGeom>
          <a:solidFill>
            <a:srgbClr val="FDF3E3"/>
          </a:solidFill>
          <a:ln w="12700">
            <a:solidFill>
              <a:srgbClr val="F2A541"/>
            </a:solidFill>
            <a:prstDash val="solid"/>
          </a:ln>
        </p:spPr>
      </p:sp>
      <p:sp>
        <p:nvSpPr>
          <p:cNvPr id="17" name="Text 15"/>
          <p:cNvSpPr txBox="1"/>
          <p:nvPr/>
        </p:nvSpPr>
        <p:spPr>
          <a:xfrm>
            <a:off x="786384" y="3986784"/>
            <a:ext cx="7571232" cy="512064"/>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La misma palabra aparece tres veces en las Reglas: </a:t>
            </a:r>
            <a:pPr indent="0" marL="0">
              <a:lnSpc>
                <a:spcPts val="1600"/>
              </a:lnSpc>
              <a:buNone/>
            </a:pPr>
            <a:r>
              <a:rPr lang="en-US" sz="1250" b="1" dirty="0">
                <a:solidFill>
                  <a:srgbClr val="12224A"/>
                </a:solidFill>
                <a:latin typeface="Arial" pitchFamily="34" charset="0"/>
                <a:ea typeface="Arial" pitchFamily="34" charset="-122"/>
                <a:cs typeface="Arial" pitchFamily="34" charset="-120"/>
              </a:rPr>
              <a:t>coherente</a:t>
            </a:r>
            <a:pPr indent="0" marL="0">
              <a:lnSpc>
                <a:spcPts val="1600"/>
              </a:lnSpc>
              <a:buNone/>
            </a:pPr>
            <a:r>
              <a:rPr lang="en-US" sz="1250" dirty="0">
                <a:solidFill>
                  <a:srgbClr val="1F2937"/>
                </a:solidFill>
                <a:latin typeface="Arial" pitchFamily="34" charset="0"/>
                <a:ea typeface="Arial" pitchFamily="34" charset="-122"/>
                <a:cs typeface="Arial" pitchFamily="34" charset="-120"/>
              </a:rPr>
              <a:t>. El modelo de cliente coherente con la metodología (RCG 23 Bis). El manual conforme a los resultados de la metodología (RCG 37). Y los temas de capacitación coherentes con la metodología (RCG 39 Bis).</a:t>
            </a:r>
            <a:endParaRPr lang="en-US" sz="1250" dirty="0"/>
          </a:p>
        </p:txBody>
      </p:sp>
      <p:sp>
        <p:nvSpPr>
          <p:cNvPr id="18" name="Text 16"/>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9" name="Text 17"/>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Lo que se les viene encima, en orden</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Y dónde cae lo de hoy.</a:t>
            </a:r>
            <a:endParaRPr lang="en-US" sz="1300" dirty="0"/>
          </a:p>
        </p:txBody>
      </p:sp>
      <p:sp>
        <p:nvSpPr>
          <p:cNvPr id="4" name="Text 2"/>
          <p:cNvSpPr txBox="1"/>
          <p:nvPr/>
        </p:nvSpPr>
        <p:spPr>
          <a:xfrm>
            <a:off x="713232" y="1408176"/>
            <a:ext cx="1371600" cy="45720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30 nov 2026</a:t>
            </a:r>
            <a:endParaRPr lang="en-US" sz="1400" dirty="0"/>
          </a:p>
        </p:txBody>
      </p:sp>
      <p:sp>
        <p:nvSpPr>
          <p:cNvPr id="5" name="Text 3"/>
          <p:cNvSpPr txBox="1"/>
          <p:nvPr/>
        </p:nvSpPr>
        <p:spPr>
          <a:xfrm>
            <a:off x="2157984" y="1408176"/>
            <a:ext cx="5029200" cy="457200"/>
          </a:xfrm>
          <a:prstGeom prst="rect">
            <a:avLst/>
          </a:prstGeom>
          <a:noFill/>
          <a:ln/>
        </p:spPr>
        <p:txBody>
          <a:bodyPr wrap="square" lIns="0" tIns="0" rIns="0" bIns="0" rtlCol="0" anchor="ctr"/>
          <a:lstStyle/>
          <a:p>
            <a:pPr indent="0" marL="0">
              <a:lnSpc>
                <a:spcPts val="1500"/>
              </a:lnSpc>
              <a:buNone/>
            </a:pPr>
            <a:r>
              <a:rPr lang="en-US" sz="1250" dirty="0">
                <a:solidFill>
                  <a:srgbClr val="1F2937"/>
                </a:solidFill>
                <a:latin typeface="Arial" pitchFamily="34" charset="0"/>
                <a:ea typeface="Arial" pitchFamily="34" charset="-122"/>
                <a:cs typeface="Arial" pitchFamily="34" charset="-120"/>
              </a:rPr>
              <a:t>Entra en vigor el ACUERDO 115/2026</a:t>
            </a:r>
            <a:endParaRPr lang="en-US" sz="1250" dirty="0"/>
          </a:p>
        </p:txBody>
      </p:sp>
      <p:sp>
        <p:nvSpPr>
          <p:cNvPr id="6" name="Text 4"/>
          <p:cNvSpPr txBox="1"/>
          <p:nvPr/>
        </p:nvSpPr>
        <p:spPr>
          <a:xfrm>
            <a:off x="7260336" y="1408176"/>
            <a:ext cx="1188720" cy="457200"/>
          </a:xfrm>
          <a:prstGeom prst="rect">
            <a:avLst/>
          </a:prstGeom>
          <a:noFill/>
          <a:ln/>
        </p:spPr>
        <p:txBody>
          <a:bodyPr wrap="square" lIns="0" tIns="0" rIns="0" bIns="0" rtlCol="0" anchor="ctr"/>
          <a:lstStyle/>
          <a:p>
            <a:pPr algn="r" indent="0" marL="0">
              <a:buNone/>
            </a:pPr>
            <a:r>
              <a:rPr lang="en-US" sz="950" b="1" dirty="0">
                <a:solidFill>
                  <a:srgbClr val="B45309"/>
                </a:solidFill>
                <a:latin typeface="Arial" pitchFamily="34" charset="0"/>
                <a:ea typeface="Arial" pitchFamily="34" charset="-122"/>
                <a:cs typeface="Arial" pitchFamily="34" charset="-120"/>
              </a:rPr>
              <a:t>RCG Trans. Primero</a:t>
            </a:r>
            <a:endParaRPr lang="en-US" sz="950" dirty="0"/>
          </a:p>
        </p:txBody>
      </p:sp>
      <p:sp>
        <p:nvSpPr>
          <p:cNvPr id="7" name="Shape 5"/>
          <p:cNvSpPr/>
          <p:nvPr/>
        </p:nvSpPr>
        <p:spPr>
          <a:xfrm>
            <a:off x="566928" y="1947672"/>
            <a:ext cx="8010144" cy="512064"/>
          </a:xfrm>
          <a:prstGeom prst="roundRect">
            <a:avLst>
              <a:gd name="adj" fmla="val 8929"/>
            </a:avLst>
          </a:prstGeom>
          <a:solidFill>
            <a:srgbClr val="FDF3E3"/>
          </a:solidFill>
          <a:ln w="12700">
            <a:solidFill>
              <a:srgbClr val="F2A541"/>
            </a:solidFill>
            <a:prstDash val="solid"/>
          </a:ln>
        </p:spPr>
      </p:sp>
      <p:sp>
        <p:nvSpPr>
          <p:cNvPr id="8" name="Text 6"/>
          <p:cNvSpPr txBox="1"/>
          <p:nvPr/>
        </p:nvSpPr>
        <p:spPr>
          <a:xfrm>
            <a:off x="713232" y="1975104"/>
            <a:ext cx="1371600" cy="457200"/>
          </a:xfrm>
          <a:prstGeom prst="rect">
            <a:avLst/>
          </a:prstGeom>
          <a:noFill/>
          <a:ln/>
        </p:spPr>
        <p:txBody>
          <a:bodyPr wrap="square" lIns="0" tIns="0" rIns="0" bIns="0" rtlCol="0" anchor="ctr"/>
          <a:lstStyle/>
          <a:p>
            <a:pPr indent="0" marL="0">
              <a:buNone/>
            </a:pPr>
            <a:r>
              <a:rPr lang="en-US" sz="1400" b="1" dirty="0">
                <a:solidFill>
                  <a:srgbClr val="92400E"/>
                </a:solidFill>
                <a:latin typeface="Arial" pitchFamily="34" charset="0"/>
                <a:ea typeface="Arial" pitchFamily="34" charset="-122"/>
                <a:cs typeface="Arial" pitchFamily="34" charset="-120"/>
              </a:rPr>
              <a:t>1 mar 2027</a:t>
            </a:r>
            <a:endParaRPr lang="en-US" sz="1400" dirty="0"/>
          </a:p>
        </p:txBody>
      </p:sp>
      <p:sp>
        <p:nvSpPr>
          <p:cNvPr id="9" name="Text 7"/>
          <p:cNvSpPr txBox="1"/>
          <p:nvPr/>
        </p:nvSpPr>
        <p:spPr>
          <a:xfrm>
            <a:off x="2157984" y="1975104"/>
            <a:ext cx="5029200" cy="457200"/>
          </a:xfrm>
          <a:prstGeom prst="rect">
            <a:avLst/>
          </a:prstGeom>
          <a:noFill/>
          <a:ln/>
        </p:spPr>
        <p:txBody>
          <a:bodyPr wrap="square" lIns="0" tIns="0" rIns="0" bIns="0" rtlCol="0" anchor="ctr"/>
          <a:lstStyle/>
          <a:p>
            <a:pPr indent="0" marL="0">
              <a:lnSpc>
                <a:spcPts val="1500"/>
              </a:lnSpc>
              <a:buNone/>
            </a:pPr>
            <a:r>
              <a:rPr lang="en-US" sz="1250" dirty="0">
                <a:solidFill>
                  <a:srgbClr val="1F2937"/>
                </a:solidFill>
                <a:latin typeface="Arial" pitchFamily="34" charset="0"/>
                <a:ea typeface="Arial" pitchFamily="34" charset="-122"/>
                <a:cs typeface="Arial" pitchFamily="34" charset="-120"/>
              </a:rPr>
              <a:t>El Manual, CON la metodología incluida, a disposición previo requerimiento</a:t>
            </a:r>
            <a:endParaRPr lang="en-US" sz="1250" dirty="0"/>
          </a:p>
        </p:txBody>
      </p:sp>
      <p:sp>
        <p:nvSpPr>
          <p:cNvPr id="10" name="Text 8"/>
          <p:cNvSpPr txBox="1"/>
          <p:nvPr/>
        </p:nvSpPr>
        <p:spPr>
          <a:xfrm>
            <a:off x="7260336" y="1975104"/>
            <a:ext cx="1188720" cy="457200"/>
          </a:xfrm>
          <a:prstGeom prst="rect">
            <a:avLst/>
          </a:prstGeom>
          <a:noFill/>
          <a:ln/>
        </p:spPr>
        <p:txBody>
          <a:bodyPr wrap="square" lIns="0" tIns="0" rIns="0" bIns="0" rtlCol="0" anchor="ctr"/>
          <a:lstStyle/>
          <a:p>
            <a:pPr algn="r" indent="0" marL="0">
              <a:buNone/>
            </a:pPr>
            <a:r>
              <a:rPr lang="en-US" sz="950" b="1" dirty="0">
                <a:solidFill>
                  <a:srgbClr val="B45309"/>
                </a:solidFill>
                <a:latin typeface="Arial" pitchFamily="34" charset="0"/>
                <a:ea typeface="Arial" pitchFamily="34" charset="-122"/>
                <a:cs typeface="Arial" pitchFamily="34" charset="-120"/>
              </a:rPr>
              <a:t>RCG Trans. Tercero</a:t>
            </a:r>
            <a:endParaRPr lang="en-US" sz="950" dirty="0"/>
          </a:p>
        </p:txBody>
      </p:sp>
      <p:sp>
        <p:nvSpPr>
          <p:cNvPr id="11" name="Text 9"/>
          <p:cNvSpPr txBox="1"/>
          <p:nvPr/>
        </p:nvSpPr>
        <p:spPr>
          <a:xfrm>
            <a:off x="713232" y="2542032"/>
            <a:ext cx="1371600" cy="45720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1 mar 2027</a:t>
            </a:r>
            <a:endParaRPr lang="en-US" sz="1400" dirty="0"/>
          </a:p>
        </p:txBody>
      </p:sp>
      <p:sp>
        <p:nvSpPr>
          <p:cNvPr id="12" name="Text 10"/>
          <p:cNvSpPr txBox="1"/>
          <p:nvPr/>
        </p:nvSpPr>
        <p:spPr>
          <a:xfrm>
            <a:off x="2157984" y="2542032"/>
            <a:ext cx="5029200" cy="457200"/>
          </a:xfrm>
          <a:prstGeom prst="rect">
            <a:avLst/>
          </a:prstGeom>
          <a:noFill/>
          <a:ln/>
        </p:spPr>
        <p:txBody>
          <a:bodyPr wrap="square" lIns="0" tIns="0" rIns="0" bIns="0" rtlCol="0" anchor="ctr"/>
          <a:lstStyle/>
          <a:p>
            <a:pPr indent="0" marL="0">
              <a:lnSpc>
                <a:spcPts val="1500"/>
              </a:lnSpc>
              <a:buNone/>
            </a:pPr>
            <a:r>
              <a:rPr lang="en-US" sz="1250" dirty="0">
                <a:solidFill>
                  <a:srgbClr val="1F2937"/>
                </a:solidFill>
                <a:latin typeface="Arial" pitchFamily="34" charset="0"/>
                <a:ea typeface="Arial" pitchFamily="34" charset="-122"/>
                <a:cs typeface="Arial" pitchFamily="34" charset="-120"/>
              </a:rPr>
              <a:t>Selección de personal, para nuevas contrataciones</a:t>
            </a:r>
            <a:endParaRPr lang="en-US" sz="1250" dirty="0"/>
          </a:p>
        </p:txBody>
      </p:sp>
      <p:sp>
        <p:nvSpPr>
          <p:cNvPr id="13" name="Text 11"/>
          <p:cNvSpPr txBox="1"/>
          <p:nvPr/>
        </p:nvSpPr>
        <p:spPr>
          <a:xfrm>
            <a:off x="7260336" y="2542032"/>
            <a:ext cx="1188720" cy="457200"/>
          </a:xfrm>
          <a:prstGeom prst="rect">
            <a:avLst/>
          </a:prstGeom>
          <a:noFill/>
          <a:ln/>
        </p:spPr>
        <p:txBody>
          <a:bodyPr wrap="square" lIns="0" tIns="0" rIns="0" bIns="0" rtlCol="0" anchor="ctr"/>
          <a:lstStyle/>
          <a:p>
            <a:pPr algn="r" indent="0" marL="0">
              <a:buNone/>
            </a:pPr>
            <a:r>
              <a:rPr lang="en-US" sz="950" b="1" dirty="0">
                <a:solidFill>
                  <a:srgbClr val="B45309"/>
                </a:solidFill>
                <a:latin typeface="Arial" pitchFamily="34" charset="0"/>
                <a:ea typeface="Arial" pitchFamily="34" charset="-122"/>
                <a:cs typeface="Arial" pitchFamily="34" charset="-120"/>
              </a:rPr>
              <a:t>RCG Trans. Sexto</a:t>
            </a:r>
            <a:endParaRPr lang="en-US" sz="950" dirty="0"/>
          </a:p>
        </p:txBody>
      </p:sp>
      <p:sp>
        <p:nvSpPr>
          <p:cNvPr id="14" name="Text 12"/>
          <p:cNvSpPr txBox="1"/>
          <p:nvPr/>
        </p:nvSpPr>
        <p:spPr>
          <a:xfrm>
            <a:off x="713232" y="3108960"/>
            <a:ext cx="1371600" cy="45720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1 jun 2027</a:t>
            </a:r>
            <a:endParaRPr lang="en-US" sz="1400" dirty="0"/>
          </a:p>
        </p:txBody>
      </p:sp>
      <p:sp>
        <p:nvSpPr>
          <p:cNvPr id="15" name="Text 13"/>
          <p:cNvSpPr txBox="1"/>
          <p:nvPr/>
        </p:nvSpPr>
        <p:spPr>
          <a:xfrm>
            <a:off x="2157984" y="3108960"/>
            <a:ext cx="5029200" cy="457200"/>
          </a:xfrm>
          <a:prstGeom prst="rect">
            <a:avLst/>
          </a:prstGeom>
          <a:noFill/>
          <a:ln/>
        </p:spPr>
        <p:txBody>
          <a:bodyPr wrap="square" lIns="0" tIns="0" rIns="0" bIns="0" rtlCol="0" anchor="ctr"/>
          <a:lstStyle/>
          <a:p>
            <a:pPr indent="0" marL="0">
              <a:lnSpc>
                <a:spcPts val="1500"/>
              </a:lnSpc>
              <a:buNone/>
            </a:pPr>
            <a:r>
              <a:rPr lang="en-US" sz="1250" dirty="0">
                <a:solidFill>
                  <a:srgbClr val="1F2937"/>
                </a:solidFill>
                <a:latin typeface="Arial" pitchFamily="34" charset="0"/>
                <a:ea typeface="Arial" pitchFamily="34" charset="-122"/>
                <a:cs typeface="Arial" pitchFamily="34" charset="-120"/>
              </a:rPr>
              <a:t>Mecanismos automatizados</a:t>
            </a:r>
            <a:endParaRPr lang="en-US" sz="1250" dirty="0"/>
          </a:p>
        </p:txBody>
      </p:sp>
      <p:sp>
        <p:nvSpPr>
          <p:cNvPr id="16" name="Text 14"/>
          <p:cNvSpPr txBox="1"/>
          <p:nvPr/>
        </p:nvSpPr>
        <p:spPr>
          <a:xfrm>
            <a:off x="7260336" y="3108960"/>
            <a:ext cx="1188720" cy="457200"/>
          </a:xfrm>
          <a:prstGeom prst="rect">
            <a:avLst/>
          </a:prstGeom>
          <a:noFill/>
          <a:ln/>
        </p:spPr>
        <p:txBody>
          <a:bodyPr wrap="square" lIns="0" tIns="0" rIns="0" bIns="0" rtlCol="0" anchor="ctr"/>
          <a:lstStyle/>
          <a:p>
            <a:pPr algn="r" indent="0" marL="0">
              <a:buNone/>
            </a:pPr>
            <a:r>
              <a:rPr lang="en-US" sz="950" b="1" dirty="0">
                <a:solidFill>
                  <a:srgbClr val="B45309"/>
                </a:solidFill>
                <a:latin typeface="Arial" pitchFamily="34" charset="0"/>
                <a:ea typeface="Arial" pitchFamily="34" charset="-122"/>
                <a:cs typeface="Arial" pitchFamily="34" charset="-120"/>
              </a:rPr>
              <a:t>RCG Trans. Noveno</a:t>
            </a:r>
            <a:endParaRPr lang="en-US" sz="950" dirty="0"/>
          </a:p>
        </p:txBody>
      </p:sp>
      <p:sp>
        <p:nvSpPr>
          <p:cNvPr id="17" name="Shape 15"/>
          <p:cNvSpPr/>
          <p:nvPr/>
        </p:nvSpPr>
        <p:spPr>
          <a:xfrm>
            <a:off x="566928" y="3648456"/>
            <a:ext cx="8010144" cy="512064"/>
          </a:xfrm>
          <a:prstGeom prst="roundRect">
            <a:avLst>
              <a:gd name="adj" fmla="val 8929"/>
            </a:avLst>
          </a:prstGeom>
          <a:solidFill>
            <a:srgbClr val="FDF3E3"/>
          </a:solidFill>
          <a:ln w="12700">
            <a:solidFill>
              <a:srgbClr val="F2A541"/>
            </a:solidFill>
            <a:prstDash val="solid"/>
          </a:ln>
        </p:spPr>
      </p:sp>
      <p:sp>
        <p:nvSpPr>
          <p:cNvPr id="18" name="Text 16"/>
          <p:cNvSpPr txBox="1"/>
          <p:nvPr/>
        </p:nvSpPr>
        <p:spPr>
          <a:xfrm>
            <a:off x="713232" y="3675888"/>
            <a:ext cx="1371600" cy="457200"/>
          </a:xfrm>
          <a:prstGeom prst="rect">
            <a:avLst/>
          </a:prstGeom>
          <a:noFill/>
          <a:ln/>
        </p:spPr>
        <p:txBody>
          <a:bodyPr wrap="square" lIns="0" tIns="0" rIns="0" bIns="0" rtlCol="0" anchor="ctr"/>
          <a:lstStyle/>
          <a:p>
            <a:pPr indent="0" marL="0">
              <a:buNone/>
            </a:pPr>
            <a:r>
              <a:rPr lang="en-US" sz="1400" b="1" dirty="0">
                <a:solidFill>
                  <a:srgbClr val="92400E"/>
                </a:solidFill>
                <a:latin typeface="Arial" pitchFamily="34" charset="0"/>
                <a:ea typeface="Arial" pitchFamily="34" charset="-122"/>
                <a:cs typeface="Arial" pitchFamily="34" charset="-120"/>
              </a:rPr>
              <a:t>31 dic 2027</a:t>
            </a:r>
            <a:endParaRPr lang="en-US" sz="1400" dirty="0"/>
          </a:p>
        </p:txBody>
      </p:sp>
      <p:sp>
        <p:nvSpPr>
          <p:cNvPr id="19" name="Text 17"/>
          <p:cNvSpPr txBox="1"/>
          <p:nvPr/>
        </p:nvSpPr>
        <p:spPr>
          <a:xfrm>
            <a:off x="2157984" y="3675888"/>
            <a:ext cx="5029200" cy="457200"/>
          </a:xfrm>
          <a:prstGeom prst="rect">
            <a:avLst/>
          </a:prstGeom>
          <a:noFill/>
          <a:ln/>
        </p:spPr>
        <p:txBody>
          <a:bodyPr wrap="square" lIns="0" tIns="0" rIns="0" bIns="0" rtlCol="0" anchor="ctr"/>
          <a:lstStyle/>
          <a:p>
            <a:pPr indent="0" marL="0">
              <a:lnSpc>
                <a:spcPts val="1500"/>
              </a:lnSpc>
              <a:buNone/>
            </a:pPr>
            <a:r>
              <a:rPr lang="en-US" sz="1250" dirty="0">
                <a:solidFill>
                  <a:srgbClr val="1F2937"/>
                </a:solidFill>
                <a:latin typeface="Arial" pitchFamily="34" charset="0"/>
                <a:ea typeface="Arial" pitchFamily="34" charset="-122"/>
                <a:cs typeface="Arial" pitchFamily="34" charset="-120"/>
              </a:rPr>
              <a:t>Cierra el PRIMER periodo anual de capacitación (arranca el 1 de enero)</a:t>
            </a:r>
            <a:endParaRPr lang="en-US" sz="1250" dirty="0"/>
          </a:p>
        </p:txBody>
      </p:sp>
      <p:sp>
        <p:nvSpPr>
          <p:cNvPr id="20" name="Text 18"/>
          <p:cNvSpPr txBox="1"/>
          <p:nvPr/>
        </p:nvSpPr>
        <p:spPr>
          <a:xfrm>
            <a:off x="7260336" y="3675888"/>
            <a:ext cx="1188720" cy="457200"/>
          </a:xfrm>
          <a:prstGeom prst="rect">
            <a:avLst/>
          </a:prstGeom>
          <a:noFill/>
          <a:ln/>
        </p:spPr>
        <p:txBody>
          <a:bodyPr wrap="square" lIns="0" tIns="0" rIns="0" bIns="0" rtlCol="0" anchor="ctr"/>
          <a:lstStyle/>
          <a:p>
            <a:pPr algn="r" indent="0" marL="0">
              <a:buNone/>
            </a:pPr>
            <a:r>
              <a:rPr lang="en-US" sz="950" b="1" dirty="0">
                <a:solidFill>
                  <a:srgbClr val="B45309"/>
                </a:solidFill>
                <a:latin typeface="Arial" pitchFamily="34" charset="0"/>
                <a:ea typeface="Arial" pitchFamily="34" charset="-122"/>
                <a:cs typeface="Arial" pitchFamily="34" charset="-120"/>
              </a:rPr>
              <a:t>RCG Trans. Séptimo</a:t>
            </a:r>
            <a:endParaRPr lang="en-US" sz="950" dirty="0"/>
          </a:p>
        </p:txBody>
      </p:sp>
      <p:sp>
        <p:nvSpPr>
          <p:cNvPr id="21" name="Text 19"/>
          <p:cNvSpPr txBox="1"/>
          <p:nvPr/>
        </p:nvSpPr>
        <p:spPr>
          <a:xfrm>
            <a:off x="713232" y="4242816"/>
            <a:ext cx="1371600" cy="45720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31 dic 2028</a:t>
            </a:r>
            <a:endParaRPr lang="en-US" sz="1400" dirty="0"/>
          </a:p>
        </p:txBody>
      </p:sp>
      <p:sp>
        <p:nvSpPr>
          <p:cNvPr id="22" name="Text 20"/>
          <p:cNvSpPr txBox="1"/>
          <p:nvPr/>
        </p:nvSpPr>
        <p:spPr>
          <a:xfrm>
            <a:off x="2157984" y="4242816"/>
            <a:ext cx="5029200" cy="457200"/>
          </a:xfrm>
          <a:prstGeom prst="rect">
            <a:avLst/>
          </a:prstGeom>
          <a:noFill/>
          <a:ln/>
        </p:spPr>
        <p:txBody>
          <a:bodyPr wrap="square" lIns="0" tIns="0" rIns="0" bIns="0" rtlCol="0" anchor="ctr"/>
          <a:lstStyle/>
          <a:p>
            <a:pPr indent="0" marL="0">
              <a:lnSpc>
                <a:spcPts val="1500"/>
              </a:lnSpc>
              <a:buNone/>
            </a:pPr>
            <a:r>
              <a:rPr lang="en-US" sz="1250" dirty="0">
                <a:solidFill>
                  <a:srgbClr val="1F2937"/>
                </a:solidFill>
                <a:latin typeface="Arial" pitchFamily="34" charset="0"/>
                <a:ea typeface="Arial" pitchFamily="34" charset="-122"/>
                <a:cs typeface="Arial" pitchFamily="34" charset="-120"/>
              </a:rPr>
              <a:t>Cierra el primer periodo de revisión de auditoría</a:t>
            </a:r>
            <a:endParaRPr lang="en-US" sz="1250" dirty="0"/>
          </a:p>
        </p:txBody>
      </p:sp>
      <p:sp>
        <p:nvSpPr>
          <p:cNvPr id="23" name="Text 21"/>
          <p:cNvSpPr txBox="1"/>
          <p:nvPr/>
        </p:nvSpPr>
        <p:spPr>
          <a:xfrm>
            <a:off x="7260336" y="4242816"/>
            <a:ext cx="1188720" cy="457200"/>
          </a:xfrm>
          <a:prstGeom prst="rect">
            <a:avLst/>
          </a:prstGeom>
          <a:noFill/>
          <a:ln/>
        </p:spPr>
        <p:txBody>
          <a:bodyPr wrap="square" lIns="0" tIns="0" rIns="0" bIns="0" rtlCol="0" anchor="ctr"/>
          <a:lstStyle/>
          <a:p>
            <a:pPr algn="r" indent="0" marL="0">
              <a:buNone/>
            </a:pPr>
            <a:r>
              <a:rPr lang="en-US" sz="950" b="1" dirty="0">
                <a:solidFill>
                  <a:srgbClr val="B45309"/>
                </a:solidFill>
                <a:latin typeface="Arial" pitchFamily="34" charset="0"/>
                <a:ea typeface="Arial" pitchFamily="34" charset="-122"/>
                <a:cs typeface="Arial" pitchFamily="34" charset="-120"/>
              </a:rPr>
              <a:t>RCG Trans. Octavo</a:t>
            </a:r>
            <a:endParaRPr lang="en-US" sz="950" dirty="0"/>
          </a:p>
        </p:txBody>
      </p:sp>
      <p:sp>
        <p:nvSpPr>
          <p:cNvPr id="24" name="Text 22"/>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25" name="Text 23"/>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Dos obligaciones en una sola fracción</a:t>
            </a:r>
            <a:endParaRPr lang="en-US" sz="2800" dirty="0"/>
          </a:p>
        </p:txBody>
      </p:sp>
      <p:sp>
        <p:nvSpPr>
          <p:cNvPr id="3" name="Text 1"/>
          <p:cNvSpPr txBox="1"/>
          <p:nvPr/>
        </p:nvSpPr>
        <p:spPr>
          <a:xfrm>
            <a:off x="566928" y="1170432"/>
            <a:ext cx="1020470"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18 fr. VIII</a:t>
            </a:r>
            <a:endParaRPr lang="en-US" sz="1000" dirty="0"/>
          </a:p>
        </p:txBody>
      </p:sp>
      <p:sp>
        <p:nvSpPr>
          <p:cNvPr id="4" name="Text 2"/>
          <p:cNvSpPr txBox="1"/>
          <p:nvPr/>
        </p:nvSpPr>
        <p:spPr>
          <a:xfrm>
            <a:off x="566928" y="1554480"/>
            <a:ext cx="8010144" cy="1316736"/>
          </a:xfrm>
          <a:prstGeom prst="rect">
            <a:avLst/>
          </a:prstGeom>
          <a:noFill/>
          <a:ln/>
        </p:spPr>
        <p:txBody>
          <a:bodyPr wrap="square" lIns="0" tIns="0" rIns="0" bIns="0" rtlCol="0" anchor="t"/>
          <a:lstStyle/>
          <a:p>
            <a:pPr indent="0" marL="0">
              <a:lnSpc>
                <a:spcPts val="1900"/>
              </a:lnSpc>
              <a:buNone/>
            </a:pPr>
            <a:r>
              <a:rPr lang="en-US" sz="1350" i="1" dirty="0">
                <a:solidFill>
                  <a:srgbClr val="1F2937"/>
                </a:solidFill>
                <a:latin typeface="Arial" pitchFamily="34" charset="0"/>
                <a:ea typeface="Arial" pitchFamily="34" charset="-122"/>
                <a:cs typeface="Arial" pitchFamily="34" charset="-120"/>
              </a:rPr>
              <a:t>«Elaborar </a:t>
            </a:r>
            <a:pPr indent="0" marL="0">
              <a:lnSpc>
                <a:spcPts val="1900"/>
              </a:lnSpc>
              <a:buNone/>
            </a:pPr>
            <a:r>
              <a:rPr lang="en-US" sz="1350" b="1" i="1" dirty="0">
                <a:solidFill>
                  <a:srgbClr val="92400E"/>
                </a:solidFill>
                <a:latin typeface="Arial" pitchFamily="34" charset="0"/>
                <a:ea typeface="Arial" pitchFamily="34" charset="-122"/>
                <a:cs typeface="Arial" pitchFamily="34" charset="-120"/>
              </a:rPr>
              <a:t>y observar</a:t>
            </a:r>
            <a:pPr indent="0" marL="0">
              <a:lnSpc>
                <a:spcPts val="1900"/>
              </a:lnSpc>
              <a:buNone/>
            </a:pPr>
            <a:r>
              <a:rPr lang="en-US" sz="1350" i="1" dirty="0">
                <a:solidFill>
                  <a:srgbClr val="1F2937"/>
                </a:solidFill>
                <a:latin typeface="Arial" pitchFamily="34" charset="0"/>
                <a:ea typeface="Arial" pitchFamily="34" charset="-122"/>
                <a:cs typeface="Arial" pitchFamily="34" charset="-120"/>
              </a:rPr>
              <a:t> un Manual de Políticas Internas que contenga los criterios, medidas y procedimientos necesarios para cumplir con las obligaciones previstas en la presente Ley, incluyendo las que les permitan identificar y dar seguimiento a los actos u operaciones que lleven a cabo con Personas Políticamente Expuestas…»</a:t>
            </a:r>
            <a:endParaRPr lang="en-US" sz="1350" dirty="0"/>
          </a:p>
        </p:txBody>
      </p:sp>
      <p:sp>
        <p:nvSpPr>
          <p:cNvPr id="5" name="Shape 3"/>
          <p:cNvSpPr/>
          <p:nvPr/>
        </p:nvSpPr>
        <p:spPr>
          <a:xfrm>
            <a:off x="566928" y="2944368"/>
            <a:ext cx="3931920" cy="1316736"/>
          </a:xfrm>
          <a:prstGeom prst="roundRect">
            <a:avLst>
              <a:gd name="adj" fmla="val 4167"/>
            </a:avLst>
          </a:prstGeom>
          <a:solidFill>
            <a:srgbClr val="F5F6F9"/>
          </a:solidFill>
          <a:ln w="12700">
            <a:solidFill>
              <a:srgbClr val="E5E7EB"/>
            </a:solidFill>
            <a:prstDash val="solid"/>
          </a:ln>
        </p:spPr>
      </p:sp>
      <p:sp>
        <p:nvSpPr>
          <p:cNvPr id="6" name="Shape 4"/>
          <p:cNvSpPr/>
          <p:nvPr/>
        </p:nvSpPr>
        <p:spPr>
          <a:xfrm>
            <a:off x="4645152" y="2944368"/>
            <a:ext cx="3931920" cy="1316736"/>
          </a:xfrm>
          <a:prstGeom prst="roundRect">
            <a:avLst>
              <a:gd name="adj" fmla="val 4167"/>
            </a:avLst>
          </a:prstGeom>
          <a:solidFill>
            <a:srgbClr val="FDF3E3"/>
          </a:solidFill>
          <a:ln w="12700">
            <a:solidFill>
              <a:srgbClr val="F2A541"/>
            </a:solidFill>
            <a:prstDash val="solid"/>
          </a:ln>
        </p:spPr>
      </p:sp>
      <p:sp>
        <p:nvSpPr>
          <p:cNvPr id="7" name="Text 5"/>
          <p:cNvSpPr txBox="1"/>
          <p:nvPr/>
        </p:nvSpPr>
        <p:spPr>
          <a:xfrm>
            <a:off x="786384" y="3072384"/>
            <a:ext cx="3474720" cy="256032"/>
          </a:xfrm>
          <a:prstGeom prst="rect">
            <a:avLst/>
          </a:prstGeom>
          <a:noFill/>
          <a:ln/>
        </p:spPr>
        <p:txBody>
          <a:bodyPr wrap="square" lIns="0" tIns="0" rIns="0" bIns="0" rtlCol="0" anchor="ctr"/>
          <a:lstStyle/>
          <a:p>
            <a:pPr indent="0" marL="0">
              <a:buNone/>
            </a:pPr>
            <a:r>
              <a:rPr lang="en-US" sz="1200" b="1" spc="140" kern="0" dirty="0">
                <a:solidFill>
                  <a:srgbClr val="6B7280"/>
                </a:solidFill>
                <a:latin typeface="Arial" pitchFamily="34" charset="0"/>
                <a:ea typeface="Arial" pitchFamily="34" charset="-122"/>
                <a:cs typeface="Arial" pitchFamily="34" charset="-120"/>
              </a:rPr>
              <a:t>ELABORAR</a:t>
            </a:r>
            <a:endParaRPr lang="en-US" sz="1200" dirty="0"/>
          </a:p>
        </p:txBody>
      </p:sp>
      <p:sp>
        <p:nvSpPr>
          <p:cNvPr id="8" name="Text 6"/>
          <p:cNvSpPr txBox="1"/>
          <p:nvPr/>
        </p:nvSpPr>
        <p:spPr>
          <a:xfrm>
            <a:off x="786384" y="3364992"/>
            <a:ext cx="3474720" cy="804672"/>
          </a:xfrm>
          <a:prstGeom prst="rect">
            <a:avLst/>
          </a:prstGeom>
          <a:noFill/>
          <a:ln/>
        </p:spPr>
        <p:txBody>
          <a:bodyPr wrap="square" lIns="0" tIns="0" rIns="0" bIns="0" rtlCol="0" anchor="t"/>
          <a:lstStyle/>
          <a:p>
            <a:pPr indent="0" marL="0">
              <a:lnSpc>
                <a:spcPts val="1800"/>
              </a:lnSpc>
              <a:buNone/>
            </a:pPr>
            <a:r>
              <a:rPr lang="en-US" sz="1300" dirty="0">
                <a:solidFill>
                  <a:srgbClr val="1F2937"/>
                </a:solidFill>
                <a:latin typeface="Arial" pitchFamily="34" charset="0"/>
                <a:ea typeface="Arial" pitchFamily="34" charset="-122"/>
                <a:cs typeface="Arial" pitchFamily="34" charset="-120"/>
              </a:rPr>
              <a:t>Se acredita con el documento. Es lo que casi todo el mercado tiene.</a:t>
            </a:r>
            <a:endParaRPr lang="en-US" sz="1300" dirty="0"/>
          </a:p>
        </p:txBody>
      </p:sp>
      <p:sp>
        <p:nvSpPr>
          <p:cNvPr id="9" name="Text 7"/>
          <p:cNvSpPr txBox="1"/>
          <p:nvPr/>
        </p:nvSpPr>
        <p:spPr>
          <a:xfrm>
            <a:off x="4864608" y="3072384"/>
            <a:ext cx="3474720" cy="256032"/>
          </a:xfrm>
          <a:prstGeom prst="rect">
            <a:avLst/>
          </a:prstGeom>
          <a:noFill/>
          <a:ln/>
        </p:spPr>
        <p:txBody>
          <a:bodyPr wrap="square" lIns="0" tIns="0" rIns="0" bIns="0" rtlCol="0" anchor="ctr"/>
          <a:lstStyle/>
          <a:p>
            <a:pPr indent="0" marL="0">
              <a:buNone/>
            </a:pPr>
            <a:r>
              <a:rPr lang="en-US" sz="1200" b="1" spc="140" kern="0" dirty="0">
                <a:solidFill>
                  <a:srgbClr val="92400E"/>
                </a:solidFill>
                <a:latin typeface="Arial" pitchFamily="34" charset="0"/>
                <a:ea typeface="Arial" pitchFamily="34" charset="-122"/>
                <a:cs typeface="Arial" pitchFamily="34" charset="-120"/>
              </a:rPr>
              <a:t>OBSERVAR</a:t>
            </a:r>
            <a:endParaRPr lang="en-US" sz="1200" dirty="0"/>
          </a:p>
        </p:txBody>
      </p:sp>
      <p:sp>
        <p:nvSpPr>
          <p:cNvPr id="10" name="Text 8"/>
          <p:cNvSpPr txBox="1"/>
          <p:nvPr/>
        </p:nvSpPr>
        <p:spPr>
          <a:xfrm>
            <a:off x="4864608" y="3364992"/>
            <a:ext cx="3474720" cy="804672"/>
          </a:xfrm>
          <a:prstGeom prst="rect">
            <a:avLst/>
          </a:prstGeom>
          <a:noFill/>
          <a:ln/>
        </p:spPr>
        <p:txBody>
          <a:bodyPr wrap="square" lIns="0" tIns="0" rIns="0" bIns="0" rtlCol="0" anchor="t"/>
          <a:lstStyle/>
          <a:p>
            <a:pPr indent="0" marL="0">
              <a:lnSpc>
                <a:spcPts val="1800"/>
              </a:lnSpc>
              <a:buNone/>
            </a:pPr>
            <a:r>
              <a:rPr lang="en-US" sz="1300" dirty="0">
                <a:solidFill>
                  <a:srgbClr val="1F2937"/>
                </a:solidFill>
                <a:latin typeface="Arial" pitchFamily="34" charset="0"/>
                <a:ea typeface="Arial" pitchFamily="34" charset="-122"/>
                <a:cs typeface="Arial" pitchFamily="34" charset="-120"/>
              </a:rPr>
              <a:t>Se acredita con la evidencia de que se aplicó. Es lo que casi nadie tiene, y el SAT puede pedir las dos.</a:t>
            </a:r>
            <a:endParaRPr lang="en-US" sz="1300" dirty="0"/>
          </a:p>
        </p:txBody>
      </p:sp>
      <p:sp>
        <p:nvSpPr>
          <p:cNvPr id="11" name="Text 9"/>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2" name="Text 10"/>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El plazo no es un año. Son noventa días naturales.</a:t>
            </a:r>
            <a:endParaRPr lang="en-US" sz="2800" dirty="0"/>
          </a:p>
        </p:txBody>
      </p:sp>
      <p:sp>
        <p:nvSpPr>
          <p:cNvPr id="3" name="Text 1"/>
          <p:cNvSpPr txBox="1"/>
          <p:nvPr/>
        </p:nvSpPr>
        <p:spPr>
          <a:xfrm>
            <a:off x="566928" y="1170432"/>
            <a:ext cx="68580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a:t>
            </a:r>
            <a:endParaRPr lang="en-US" sz="1000" dirty="0"/>
          </a:p>
        </p:txBody>
      </p:sp>
      <p:sp>
        <p:nvSpPr>
          <p:cNvPr id="4" name="Text 2"/>
          <p:cNvSpPr txBox="1"/>
          <p:nvPr/>
        </p:nvSpPr>
        <p:spPr>
          <a:xfrm>
            <a:off x="1362456" y="1170432"/>
            <a:ext cx="134965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Trans. Tercero</a:t>
            </a:r>
            <a:endParaRPr lang="en-US" sz="1000" dirty="0"/>
          </a:p>
        </p:txBody>
      </p:sp>
      <p:sp>
        <p:nvSpPr>
          <p:cNvPr id="5" name="Text 3"/>
          <p:cNvSpPr txBox="1"/>
          <p:nvPr/>
        </p:nvSpPr>
        <p:spPr>
          <a:xfrm>
            <a:off x="566928" y="1572768"/>
            <a:ext cx="1737360" cy="1005840"/>
          </a:xfrm>
          <a:prstGeom prst="rect">
            <a:avLst/>
          </a:prstGeom>
          <a:noFill/>
          <a:ln/>
        </p:spPr>
        <p:txBody>
          <a:bodyPr wrap="square" lIns="0" tIns="0" rIns="0" bIns="0" rtlCol="0" anchor="ctr"/>
          <a:lstStyle/>
          <a:p>
            <a:pPr algn="ctr" indent="0" marL="0">
              <a:buNone/>
            </a:pPr>
            <a:r>
              <a:rPr lang="en-US" sz="6600" b="1" dirty="0">
                <a:solidFill>
                  <a:srgbClr val="F2A541"/>
                </a:solidFill>
                <a:latin typeface="Cambria" pitchFamily="34" charset="0"/>
                <a:ea typeface="Cambria" pitchFamily="34" charset="-122"/>
                <a:cs typeface="Cambria" pitchFamily="34" charset="-120"/>
              </a:rPr>
              <a:t>90</a:t>
            </a:r>
            <a:endParaRPr lang="en-US" sz="6600" dirty="0"/>
          </a:p>
        </p:txBody>
      </p:sp>
      <p:sp>
        <p:nvSpPr>
          <p:cNvPr id="6" name="Text 4"/>
          <p:cNvSpPr txBox="1"/>
          <p:nvPr/>
        </p:nvSpPr>
        <p:spPr>
          <a:xfrm>
            <a:off x="566928" y="2578608"/>
            <a:ext cx="1737360" cy="548640"/>
          </a:xfrm>
          <a:prstGeom prst="rect">
            <a:avLst/>
          </a:prstGeom>
          <a:noFill/>
          <a:ln/>
        </p:spPr>
        <p:txBody>
          <a:bodyPr wrap="square" lIns="0" tIns="0" rIns="0" bIns="0" rtlCol="0" anchor="t"/>
          <a:lstStyle/>
          <a:p>
            <a:pPr algn="ctr" indent="0" marL="0">
              <a:lnSpc>
                <a:spcPts val="1500"/>
              </a:lnSpc>
              <a:buNone/>
            </a:pPr>
            <a:r>
              <a:rPr lang="en-US" sz="1150" dirty="0">
                <a:solidFill>
                  <a:srgbClr val="6B7280"/>
                </a:solidFill>
                <a:latin typeface="Arial" pitchFamily="34" charset="0"/>
                <a:ea typeface="Arial" pitchFamily="34" charset="-122"/>
                <a:cs typeface="Arial" pitchFamily="34" charset="-120"/>
              </a:rPr>
              <a:t>días naturales contados del alta y registro</a:t>
            </a:r>
            <a:endParaRPr lang="en-US" sz="1150" dirty="0"/>
          </a:p>
        </p:txBody>
      </p:sp>
      <p:sp>
        <p:nvSpPr>
          <p:cNvPr id="7" name="Text 5"/>
          <p:cNvSpPr txBox="1"/>
          <p:nvPr/>
        </p:nvSpPr>
        <p:spPr>
          <a:xfrm>
            <a:off x="2615184" y="1591056"/>
            <a:ext cx="5961888" cy="3003804"/>
          </a:xfrm>
          <a:prstGeom prst="rect">
            <a:avLst/>
          </a:prstGeom>
          <a:noFill/>
          <a:ln/>
        </p:spPr>
        <p:txBody>
          <a:bodyPr wrap="square" lIns="0" tIns="0" rIns="0" bIns="0" rtlCol="0" anchor="t"/>
          <a:lstStyle/>
          <a:p>
            <a:pPr marL="342900" indent="-342900">
              <a:lnSpc>
                <a:spcPts val="1988"/>
              </a:lnSpc>
              <a:spcAft>
                <a:spcPts val="800"/>
              </a:spcAft>
              <a:buSzPct val="100000"/>
              <a:buChar char="•"/>
            </a:pPr>
            <a:r>
              <a:rPr lang="en-US" sz="1400" dirty="0">
                <a:solidFill>
                  <a:srgbClr val="1F2937"/>
                </a:solidFill>
                <a:latin typeface="Arial" pitchFamily="34" charset="0"/>
                <a:ea typeface="Arial" pitchFamily="34" charset="-122"/>
                <a:cs typeface="Arial" pitchFamily="34" charset="-120"/>
              </a:rPr>
              <a:t>El plazo del RCG 37 corre desde el alta y registro del RCG 4, no desde la entrada en vigor de las Reglas.</a:t>
            </a:r>
            <a:endParaRPr lang="en-US" sz="1400" dirty="0"/>
          </a:p>
          <a:p>
            <a:pPr marL="342900" indent="-342900">
              <a:lnSpc>
                <a:spcPts val="1988"/>
              </a:lnSpc>
              <a:spcAft>
                <a:spcPts val="800"/>
              </a:spcAft>
              <a:buSzPct val="100000"/>
              <a:buChar char="•"/>
            </a:pPr>
            <a:r>
              <a:rPr lang="en-US" sz="1400" dirty="0">
                <a:solidFill>
                  <a:srgbClr val="1F2937"/>
                </a:solidFill>
                <a:latin typeface="Arial" pitchFamily="34" charset="0"/>
                <a:ea typeface="Arial" pitchFamily="34" charset="-122"/>
                <a:cs typeface="Arial" pitchFamily="34" charset="-120"/>
              </a:rPr>
              <a:t>Casi todos los de esta sala ya están de alta desde hace años. Para ustedes ese plazo ya venció: no tienen noventa días por delante, tienen una fecha.</a:t>
            </a:r>
            <a:endParaRPr lang="en-US" sz="1400" dirty="0"/>
          </a:p>
          <a:p>
            <a:pPr marL="342900" indent="-342900">
              <a:lnSpc>
                <a:spcPts val="1988"/>
              </a:lnSpc>
              <a:spcAft>
                <a:spcPts val="800"/>
              </a:spcAft>
              <a:buSzPct val="100000"/>
              <a:buChar char="•"/>
            </a:pPr>
            <a:r>
              <a:rPr lang="en-US" sz="1400" dirty="0">
                <a:solidFill>
                  <a:srgbClr val="1F2937"/>
                </a:solidFill>
                <a:latin typeface="Arial" pitchFamily="34" charset="0"/>
                <a:ea typeface="Arial" pitchFamily="34" charset="-122"/>
                <a:cs typeface="Arial" pitchFamily="34" charset="-120"/>
              </a:rPr>
              <a:t>Esa fecha es el 1 de marzo de 2027: el Manual completo, CON la metodología incorporada, y a disposición de la autoridad previo requerimiento.</a:t>
            </a:r>
            <a:endParaRPr lang="en-US" sz="1400" dirty="0"/>
          </a:p>
          <a:p>
            <a:pPr marL="342900" indent="-342900">
              <a:lnSpc>
                <a:spcPts val="1988"/>
              </a:lnSpc>
              <a:spcAft>
                <a:spcPts val="800"/>
              </a:spcAft>
              <a:buSzPct val="100000"/>
              <a:buChar char="•"/>
            </a:pPr>
            <a:r>
              <a:rPr lang="en-US" sz="1400" dirty="0">
                <a:solidFill>
                  <a:srgbClr val="1F2937"/>
                </a:solidFill>
                <a:latin typeface="Arial" pitchFamily="34" charset="0"/>
                <a:ea typeface="Arial" pitchFamily="34" charset="-122"/>
                <a:cs typeface="Arial" pitchFamily="34" charset="-120"/>
              </a:rPr>
              <a:t>Quien se dé de alta a partir de ahora sí cuenta noventa días desde su acuse.</a:t>
            </a:r>
            <a:endParaRPr lang="en-US" sz="1400" dirty="0"/>
          </a:p>
        </p:txBody>
      </p:sp>
      <p:sp>
        <p:nvSpPr>
          <p:cNvPr id="8" name="Text 6"/>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9" name="Text 7"/>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El contenido mínimo: catorce fracciones</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Lámina de foto. No la voy a leer.</a:t>
            </a:r>
            <a:endParaRPr lang="en-US" sz="1300" dirty="0"/>
          </a:p>
        </p:txBody>
      </p:sp>
      <p:sp>
        <p:nvSpPr>
          <p:cNvPr id="4" name="Text 2"/>
          <p:cNvSpPr txBox="1"/>
          <p:nvPr/>
        </p:nvSpPr>
        <p:spPr>
          <a:xfrm>
            <a:off x="566928" y="1133856"/>
            <a:ext cx="82296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 Bis</a:t>
            </a:r>
            <a:endParaRPr lang="en-US" sz="1000" dirty="0"/>
          </a:p>
        </p:txBody>
      </p:sp>
      <p:sp>
        <p:nvSpPr>
          <p:cNvPr id="5" name="Shape 3"/>
          <p:cNvSpPr/>
          <p:nvPr/>
        </p:nvSpPr>
        <p:spPr>
          <a:xfrm>
            <a:off x="566928" y="1463040"/>
            <a:ext cx="2578608" cy="512064"/>
          </a:xfrm>
          <a:prstGeom prst="roundRect">
            <a:avLst>
              <a:gd name="adj" fmla="val 8929"/>
            </a:avLst>
          </a:prstGeom>
          <a:solidFill>
            <a:srgbClr val="F5F6F9"/>
          </a:solidFill>
          <a:ln w="12700">
            <a:solidFill>
              <a:srgbClr val="E5E7EB"/>
            </a:solidFill>
            <a:prstDash val="solid"/>
          </a:ln>
        </p:spPr>
      </p:sp>
      <p:sp>
        <p:nvSpPr>
          <p:cNvPr id="6" name="Text 4"/>
          <p:cNvSpPr txBox="1"/>
          <p:nvPr/>
        </p:nvSpPr>
        <p:spPr>
          <a:xfrm>
            <a:off x="676656" y="1463040"/>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I</a:t>
            </a:r>
            <a:endParaRPr lang="en-US" sz="1400" dirty="0"/>
          </a:p>
        </p:txBody>
      </p:sp>
      <p:sp>
        <p:nvSpPr>
          <p:cNvPr id="7" name="Text 5"/>
          <p:cNvSpPr txBox="1"/>
          <p:nvPr/>
        </p:nvSpPr>
        <p:spPr>
          <a:xfrm>
            <a:off x="1170432" y="1463040"/>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Identificación y conocimiento</a:t>
            </a:r>
            <a:endParaRPr lang="en-US" sz="1100" dirty="0"/>
          </a:p>
        </p:txBody>
      </p:sp>
      <p:sp>
        <p:nvSpPr>
          <p:cNvPr id="8" name="Shape 6"/>
          <p:cNvSpPr/>
          <p:nvPr/>
        </p:nvSpPr>
        <p:spPr>
          <a:xfrm>
            <a:off x="3291840" y="1463040"/>
            <a:ext cx="2578608" cy="512064"/>
          </a:xfrm>
          <a:prstGeom prst="roundRect">
            <a:avLst>
              <a:gd name="adj" fmla="val 8929"/>
            </a:avLst>
          </a:prstGeom>
          <a:solidFill>
            <a:srgbClr val="FDF3E3"/>
          </a:solidFill>
          <a:ln w="12700">
            <a:solidFill>
              <a:srgbClr val="F2A541"/>
            </a:solidFill>
            <a:prstDash val="solid"/>
          </a:ln>
        </p:spPr>
      </p:sp>
      <p:sp>
        <p:nvSpPr>
          <p:cNvPr id="9" name="Text 7"/>
          <p:cNvSpPr txBox="1"/>
          <p:nvPr/>
        </p:nvSpPr>
        <p:spPr>
          <a:xfrm>
            <a:off x="3401568" y="1463040"/>
            <a:ext cx="475488" cy="512064"/>
          </a:xfrm>
          <a:prstGeom prst="rect">
            <a:avLst/>
          </a:prstGeom>
          <a:noFill/>
          <a:ln/>
        </p:spPr>
        <p:txBody>
          <a:bodyPr wrap="square" lIns="0" tIns="0" rIns="0" bIns="0" rtlCol="0" anchor="ctr"/>
          <a:lstStyle/>
          <a:p>
            <a:pPr algn="ctr" indent="0" marL="0">
              <a:buNone/>
            </a:pPr>
            <a:r>
              <a:rPr lang="en-US" sz="1400" b="1" dirty="0">
                <a:solidFill>
                  <a:srgbClr val="92400E"/>
                </a:solidFill>
                <a:latin typeface="Cambria" pitchFamily="34" charset="0"/>
                <a:ea typeface="Cambria" pitchFamily="34" charset="-122"/>
                <a:cs typeface="Cambria" pitchFamily="34" charset="-120"/>
              </a:rPr>
              <a:t>II</a:t>
            </a:r>
            <a:endParaRPr lang="en-US" sz="1400" dirty="0"/>
          </a:p>
        </p:txBody>
      </p:sp>
      <p:sp>
        <p:nvSpPr>
          <p:cNvPr id="10" name="Text 8"/>
          <p:cNvSpPr txBox="1"/>
          <p:nvPr/>
        </p:nvSpPr>
        <p:spPr>
          <a:xfrm>
            <a:off x="3895344" y="1463040"/>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Clasificación de Riesgo</a:t>
            </a:r>
            <a:endParaRPr lang="en-US" sz="1100" dirty="0"/>
          </a:p>
        </p:txBody>
      </p:sp>
      <p:sp>
        <p:nvSpPr>
          <p:cNvPr id="11" name="Shape 9"/>
          <p:cNvSpPr/>
          <p:nvPr/>
        </p:nvSpPr>
        <p:spPr>
          <a:xfrm>
            <a:off x="6016752" y="1463040"/>
            <a:ext cx="2578608" cy="512064"/>
          </a:xfrm>
          <a:prstGeom prst="roundRect">
            <a:avLst>
              <a:gd name="adj" fmla="val 8929"/>
            </a:avLst>
          </a:prstGeom>
          <a:solidFill>
            <a:srgbClr val="FDF3E3"/>
          </a:solidFill>
          <a:ln w="12700">
            <a:solidFill>
              <a:srgbClr val="F2A541"/>
            </a:solidFill>
            <a:prstDash val="solid"/>
          </a:ln>
        </p:spPr>
      </p:sp>
      <p:sp>
        <p:nvSpPr>
          <p:cNvPr id="12" name="Text 10"/>
          <p:cNvSpPr txBox="1"/>
          <p:nvPr/>
        </p:nvSpPr>
        <p:spPr>
          <a:xfrm>
            <a:off x="6126480" y="1463040"/>
            <a:ext cx="475488" cy="512064"/>
          </a:xfrm>
          <a:prstGeom prst="rect">
            <a:avLst/>
          </a:prstGeom>
          <a:noFill/>
          <a:ln/>
        </p:spPr>
        <p:txBody>
          <a:bodyPr wrap="square" lIns="0" tIns="0" rIns="0" bIns="0" rtlCol="0" anchor="ctr"/>
          <a:lstStyle/>
          <a:p>
            <a:pPr algn="ctr" indent="0" marL="0">
              <a:buNone/>
            </a:pPr>
            <a:r>
              <a:rPr lang="en-US" sz="1400" b="1" dirty="0">
                <a:solidFill>
                  <a:srgbClr val="92400E"/>
                </a:solidFill>
                <a:latin typeface="Cambria" pitchFamily="34" charset="0"/>
                <a:ea typeface="Cambria" pitchFamily="34" charset="-122"/>
                <a:cs typeface="Cambria" pitchFamily="34" charset="-120"/>
              </a:rPr>
              <a:t>III</a:t>
            </a:r>
            <a:endParaRPr lang="en-US" sz="1400" dirty="0"/>
          </a:p>
        </p:txBody>
      </p:sp>
      <p:sp>
        <p:nvSpPr>
          <p:cNvPr id="13" name="Text 11"/>
          <p:cNvSpPr txBox="1"/>
          <p:nvPr/>
        </p:nvSpPr>
        <p:spPr>
          <a:xfrm>
            <a:off x="6620256" y="1463040"/>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Debida diligencia por grado</a:t>
            </a:r>
            <a:endParaRPr lang="en-US" sz="1100" dirty="0"/>
          </a:p>
        </p:txBody>
      </p:sp>
      <p:sp>
        <p:nvSpPr>
          <p:cNvPr id="14" name="Shape 12"/>
          <p:cNvSpPr/>
          <p:nvPr/>
        </p:nvSpPr>
        <p:spPr>
          <a:xfrm>
            <a:off x="566928" y="2048256"/>
            <a:ext cx="2578608" cy="512064"/>
          </a:xfrm>
          <a:prstGeom prst="roundRect">
            <a:avLst>
              <a:gd name="adj" fmla="val 8929"/>
            </a:avLst>
          </a:prstGeom>
          <a:solidFill>
            <a:srgbClr val="FDF3E3"/>
          </a:solidFill>
          <a:ln w="12700">
            <a:solidFill>
              <a:srgbClr val="F2A541"/>
            </a:solidFill>
            <a:prstDash val="solid"/>
          </a:ln>
        </p:spPr>
      </p:sp>
      <p:sp>
        <p:nvSpPr>
          <p:cNvPr id="15" name="Text 13"/>
          <p:cNvSpPr txBox="1"/>
          <p:nvPr/>
        </p:nvSpPr>
        <p:spPr>
          <a:xfrm>
            <a:off x="676656" y="2048256"/>
            <a:ext cx="475488" cy="512064"/>
          </a:xfrm>
          <a:prstGeom prst="rect">
            <a:avLst/>
          </a:prstGeom>
          <a:noFill/>
          <a:ln/>
        </p:spPr>
        <p:txBody>
          <a:bodyPr wrap="square" lIns="0" tIns="0" rIns="0" bIns="0" rtlCol="0" anchor="ctr"/>
          <a:lstStyle/>
          <a:p>
            <a:pPr algn="ctr" indent="0" marL="0">
              <a:buNone/>
            </a:pPr>
            <a:r>
              <a:rPr lang="en-US" sz="1400" b="1" dirty="0">
                <a:solidFill>
                  <a:srgbClr val="92400E"/>
                </a:solidFill>
                <a:latin typeface="Cambria" pitchFamily="34" charset="0"/>
                <a:ea typeface="Cambria" pitchFamily="34" charset="-122"/>
                <a:cs typeface="Cambria" pitchFamily="34" charset="-120"/>
              </a:rPr>
              <a:t>IV</a:t>
            </a:r>
            <a:endParaRPr lang="en-US" sz="1400" dirty="0"/>
          </a:p>
        </p:txBody>
      </p:sp>
      <p:sp>
        <p:nvSpPr>
          <p:cNvPr id="16" name="Text 14"/>
          <p:cNvSpPr txBox="1"/>
          <p:nvPr/>
        </p:nvSpPr>
        <p:spPr>
          <a:xfrm>
            <a:off x="1170432" y="2048256"/>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PEP: identificación y seguimiento</a:t>
            </a:r>
            <a:endParaRPr lang="en-US" sz="1100" dirty="0"/>
          </a:p>
        </p:txBody>
      </p:sp>
      <p:sp>
        <p:nvSpPr>
          <p:cNvPr id="17" name="Shape 15"/>
          <p:cNvSpPr/>
          <p:nvPr/>
        </p:nvSpPr>
        <p:spPr>
          <a:xfrm>
            <a:off x="3291840" y="2048256"/>
            <a:ext cx="2578608" cy="512064"/>
          </a:xfrm>
          <a:prstGeom prst="roundRect">
            <a:avLst>
              <a:gd name="adj" fmla="val 8929"/>
            </a:avLst>
          </a:prstGeom>
          <a:solidFill>
            <a:srgbClr val="FDF3E3"/>
          </a:solidFill>
          <a:ln w="12700">
            <a:solidFill>
              <a:srgbClr val="F2A541"/>
            </a:solidFill>
            <a:prstDash val="solid"/>
          </a:ln>
        </p:spPr>
      </p:sp>
      <p:sp>
        <p:nvSpPr>
          <p:cNvPr id="18" name="Text 16"/>
          <p:cNvSpPr txBox="1"/>
          <p:nvPr/>
        </p:nvSpPr>
        <p:spPr>
          <a:xfrm>
            <a:off x="3401568" y="2048256"/>
            <a:ext cx="475488" cy="512064"/>
          </a:xfrm>
          <a:prstGeom prst="rect">
            <a:avLst/>
          </a:prstGeom>
          <a:noFill/>
          <a:ln/>
        </p:spPr>
        <p:txBody>
          <a:bodyPr wrap="square" lIns="0" tIns="0" rIns="0" bIns="0" rtlCol="0" anchor="ctr"/>
          <a:lstStyle/>
          <a:p>
            <a:pPr algn="ctr" indent="0" marL="0">
              <a:buNone/>
            </a:pPr>
            <a:r>
              <a:rPr lang="en-US" sz="1400" b="1" dirty="0">
                <a:solidFill>
                  <a:srgbClr val="92400E"/>
                </a:solidFill>
                <a:latin typeface="Cambria" pitchFamily="34" charset="0"/>
                <a:ea typeface="Cambria" pitchFamily="34" charset="-122"/>
                <a:cs typeface="Cambria" pitchFamily="34" charset="-120"/>
              </a:rPr>
              <a:t>V</a:t>
            </a:r>
            <a:endParaRPr lang="en-US" sz="1400" dirty="0"/>
          </a:p>
        </p:txBody>
      </p:sp>
      <p:sp>
        <p:nvSpPr>
          <p:cNvPr id="19" name="Text 17"/>
          <p:cNvSpPr txBox="1"/>
          <p:nvPr/>
        </p:nvSpPr>
        <p:spPr>
          <a:xfrm>
            <a:off x="3895344" y="2048256"/>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Fuera del perfil transaccional</a:t>
            </a:r>
            <a:endParaRPr lang="en-US" sz="1100" dirty="0"/>
          </a:p>
        </p:txBody>
      </p:sp>
      <p:sp>
        <p:nvSpPr>
          <p:cNvPr id="20" name="Shape 18"/>
          <p:cNvSpPr/>
          <p:nvPr/>
        </p:nvSpPr>
        <p:spPr>
          <a:xfrm>
            <a:off x="6016752" y="2048256"/>
            <a:ext cx="2578608" cy="512064"/>
          </a:xfrm>
          <a:prstGeom prst="roundRect">
            <a:avLst>
              <a:gd name="adj" fmla="val 8929"/>
            </a:avLst>
          </a:prstGeom>
          <a:solidFill>
            <a:srgbClr val="F5F6F9"/>
          </a:solidFill>
          <a:ln w="12700">
            <a:solidFill>
              <a:srgbClr val="E5E7EB"/>
            </a:solidFill>
            <a:prstDash val="solid"/>
          </a:ln>
        </p:spPr>
      </p:sp>
      <p:sp>
        <p:nvSpPr>
          <p:cNvPr id="21" name="Text 19"/>
          <p:cNvSpPr txBox="1"/>
          <p:nvPr/>
        </p:nvSpPr>
        <p:spPr>
          <a:xfrm>
            <a:off x="6126480" y="2048256"/>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VI</a:t>
            </a:r>
            <a:endParaRPr lang="en-US" sz="1400" dirty="0"/>
          </a:p>
        </p:txBody>
      </p:sp>
      <p:sp>
        <p:nvSpPr>
          <p:cNvPr id="22" name="Text 20"/>
          <p:cNvSpPr txBox="1"/>
          <p:nvPr/>
        </p:nvSpPr>
        <p:spPr>
          <a:xfrm>
            <a:off x="6620256" y="2048256"/>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Avisos e Informes</a:t>
            </a:r>
            <a:endParaRPr lang="en-US" sz="1100" dirty="0"/>
          </a:p>
        </p:txBody>
      </p:sp>
      <p:sp>
        <p:nvSpPr>
          <p:cNvPr id="23" name="Shape 21"/>
          <p:cNvSpPr/>
          <p:nvPr/>
        </p:nvSpPr>
        <p:spPr>
          <a:xfrm>
            <a:off x="566928" y="2633472"/>
            <a:ext cx="2578608" cy="512064"/>
          </a:xfrm>
          <a:prstGeom prst="roundRect">
            <a:avLst>
              <a:gd name="adj" fmla="val 8929"/>
            </a:avLst>
          </a:prstGeom>
          <a:solidFill>
            <a:srgbClr val="F5F6F9"/>
          </a:solidFill>
          <a:ln w="12700">
            <a:solidFill>
              <a:srgbClr val="E5E7EB"/>
            </a:solidFill>
            <a:prstDash val="solid"/>
          </a:ln>
        </p:spPr>
      </p:sp>
      <p:sp>
        <p:nvSpPr>
          <p:cNvPr id="24" name="Text 22"/>
          <p:cNvSpPr txBox="1"/>
          <p:nvPr/>
        </p:nvSpPr>
        <p:spPr>
          <a:xfrm>
            <a:off x="676656" y="2633472"/>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VII</a:t>
            </a:r>
            <a:endParaRPr lang="en-US" sz="1400" dirty="0"/>
          </a:p>
        </p:txBody>
      </p:sp>
      <p:sp>
        <p:nvSpPr>
          <p:cNvPr id="25" name="Text 23"/>
          <p:cNvSpPr txBox="1"/>
          <p:nvPr/>
        </p:nvSpPr>
        <p:spPr>
          <a:xfrm>
            <a:off x="1170432" y="2633472"/>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Conservación</a:t>
            </a:r>
            <a:endParaRPr lang="en-US" sz="1100" dirty="0"/>
          </a:p>
        </p:txBody>
      </p:sp>
      <p:sp>
        <p:nvSpPr>
          <p:cNvPr id="26" name="Shape 24"/>
          <p:cNvSpPr/>
          <p:nvPr/>
        </p:nvSpPr>
        <p:spPr>
          <a:xfrm>
            <a:off x="3291840" y="2633472"/>
            <a:ext cx="2578608" cy="512064"/>
          </a:xfrm>
          <a:prstGeom prst="roundRect">
            <a:avLst>
              <a:gd name="adj" fmla="val 8929"/>
            </a:avLst>
          </a:prstGeom>
          <a:solidFill>
            <a:srgbClr val="F5F6F9"/>
          </a:solidFill>
          <a:ln w="12700">
            <a:solidFill>
              <a:srgbClr val="E5E7EB"/>
            </a:solidFill>
            <a:prstDash val="solid"/>
          </a:ln>
        </p:spPr>
      </p:sp>
      <p:sp>
        <p:nvSpPr>
          <p:cNvPr id="27" name="Text 25"/>
          <p:cNvSpPr txBox="1"/>
          <p:nvPr/>
        </p:nvSpPr>
        <p:spPr>
          <a:xfrm>
            <a:off x="3401568" y="2633472"/>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VIII</a:t>
            </a:r>
            <a:endParaRPr lang="en-US" sz="1400" dirty="0"/>
          </a:p>
        </p:txBody>
      </p:sp>
      <p:sp>
        <p:nvSpPr>
          <p:cNvPr id="28" name="Text 26"/>
          <p:cNvSpPr txBox="1"/>
          <p:nvPr/>
        </p:nvSpPr>
        <p:spPr>
          <a:xfrm>
            <a:off x="3895344" y="2633472"/>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Acumulación para umbrales</a:t>
            </a:r>
            <a:endParaRPr lang="en-US" sz="1100" dirty="0"/>
          </a:p>
        </p:txBody>
      </p:sp>
      <p:sp>
        <p:nvSpPr>
          <p:cNvPr id="29" name="Shape 27"/>
          <p:cNvSpPr/>
          <p:nvPr/>
        </p:nvSpPr>
        <p:spPr>
          <a:xfrm>
            <a:off x="6016752" y="2633472"/>
            <a:ext cx="2578608" cy="512064"/>
          </a:xfrm>
          <a:prstGeom prst="roundRect">
            <a:avLst>
              <a:gd name="adj" fmla="val 8929"/>
            </a:avLst>
          </a:prstGeom>
          <a:solidFill>
            <a:srgbClr val="F5F6F9"/>
          </a:solidFill>
          <a:ln w="12700">
            <a:solidFill>
              <a:srgbClr val="E5E7EB"/>
            </a:solidFill>
            <a:prstDash val="solid"/>
          </a:ln>
        </p:spPr>
      </p:sp>
      <p:sp>
        <p:nvSpPr>
          <p:cNvPr id="30" name="Text 28"/>
          <p:cNvSpPr txBox="1"/>
          <p:nvPr/>
        </p:nvSpPr>
        <p:spPr>
          <a:xfrm>
            <a:off x="6126480" y="2633472"/>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IX</a:t>
            </a:r>
            <a:endParaRPr lang="en-US" sz="1400" dirty="0"/>
          </a:p>
        </p:txBody>
      </p:sp>
      <p:sp>
        <p:nvSpPr>
          <p:cNvPr id="31" name="Text 29"/>
          <p:cNvSpPr txBox="1"/>
          <p:nvPr/>
        </p:nvSpPr>
        <p:spPr>
          <a:xfrm>
            <a:off x="6620256" y="2633472"/>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Listas</a:t>
            </a:r>
            <a:endParaRPr lang="en-US" sz="1100" dirty="0"/>
          </a:p>
        </p:txBody>
      </p:sp>
      <p:sp>
        <p:nvSpPr>
          <p:cNvPr id="32" name="Shape 30"/>
          <p:cNvSpPr/>
          <p:nvPr/>
        </p:nvSpPr>
        <p:spPr>
          <a:xfrm>
            <a:off x="566928" y="3218688"/>
            <a:ext cx="2578608" cy="512064"/>
          </a:xfrm>
          <a:prstGeom prst="roundRect">
            <a:avLst>
              <a:gd name="adj" fmla="val 8929"/>
            </a:avLst>
          </a:prstGeom>
          <a:solidFill>
            <a:srgbClr val="F5F6F9"/>
          </a:solidFill>
          <a:ln w="12700">
            <a:solidFill>
              <a:srgbClr val="E5E7EB"/>
            </a:solidFill>
            <a:prstDash val="solid"/>
          </a:ln>
        </p:spPr>
      </p:sp>
      <p:sp>
        <p:nvSpPr>
          <p:cNvPr id="33" name="Text 31"/>
          <p:cNvSpPr txBox="1"/>
          <p:nvPr/>
        </p:nvSpPr>
        <p:spPr>
          <a:xfrm>
            <a:off x="676656" y="3218688"/>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X</a:t>
            </a:r>
            <a:endParaRPr lang="en-US" sz="1400" dirty="0"/>
          </a:p>
        </p:txBody>
      </p:sp>
      <p:sp>
        <p:nvSpPr>
          <p:cNvPr id="34" name="Text 32"/>
          <p:cNvSpPr txBox="1"/>
          <p:nvPr/>
        </p:nvSpPr>
        <p:spPr>
          <a:xfrm>
            <a:off x="1170432" y="3218688"/>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Funciones de la RECC</a:t>
            </a:r>
            <a:endParaRPr lang="en-US" sz="1100" dirty="0"/>
          </a:p>
        </p:txBody>
      </p:sp>
      <p:sp>
        <p:nvSpPr>
          <p:cNvPr id="35" name="Shape 33"/>
          <p:cNvSpPr/>
          <p:nvPr/>
        </p:nvSpPr>
        <p:spPr>
          <a:xfrm>
            <a:off x="3291840" y="3218688"/>
            <a:ext cx="2578608" cy="512064"/>
          </a:xfrm>
          <a:prstGeom prst="roundRect">
            <a:avLst>
              <a:gd name="adj" fmla="val 8929"/>
            </a:avLst>
          </a:prstGeom>
          <a:solidFill>
            <a:srgbClr val="F5F6F9"/>
          </a:solidFill>
          <a:ln w="12700">
            <a:solidFill>
              <a:srgbClr val="E5E7EB"/>
            </a:solidFill>
            <a:prstDash val="solid"/>
          </a:ln>
        </p:spPr>
      </p:sp>
      <p:sp>
        <p:nvSpPr>
          <p:cNvPr id="36" name="Text 34"/>
          <p:cNvSpPr txBox="1"/>
          <p:nvPr/>
        </p:nvSpPr>
        <p:spPr>
          <a:xfrm>
            <a:off x="3401568" y="3218688"/>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XI</a:t>
            </a:r>
            <a:endParaRPr lang="en-US" sz="1400" dirty="0"/>
          </a:p>
        </p:txBody>
      </p:sp>
      <p:sp>
        <p:nvSpPr>
          <p:cNvPr id="37" name="Text 35"/>
          <p:cNvSpPr txBox="1"/>
          <p:nvPr/>
        </p:nvSpPr>
        <p:spPr>
          <a:xfrm>
            <a:off x="3895344" y="3218688"/>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Programas de capacitación</a:t>
            </a:r>
            <a:endParaRPr lang="en-US" sz="1100" dirty="0"/>
          </a:p>
        </p:txBody>
      </p:sp>
      <p:sp>
        <p:nvSpPr>
          <p:cNvPr id="38" name="Shape 36"/>
          <p:cNvSpPr/>
          <p:nvPr/>
        </p:nvSpPr>
        <p:spPr>
          <a:xfrm>
            <a:off x="6016752" y="3218688"/>
            <a:ext cx="2578608" cy="512064"/>
          </a:xfrm>
          <a:prstGeom prst="roundRect">
            <a:avLst>
              <a:gd name="adj" fmla="val 8929"/>
            </a:avLst>
          </a:prstGeom>
          <a:solidFill>
            <a:srgbClr val="F5F6F9"/>
          </a:solidFill>
          <a:ln w="12700">
            <a:solidFill>
              <a:srgbClr val="E5E7EB"/>
            </a:solidFill>
            <a:prstDash val="solid"/>
          </a:ln>
        </p:spPr>
      </p:sp>
      <p:sp>
        <p:nvSpPr>
          <p:cNvPr id="39" name="Text 37"/>
          <p:cNvSpPr txBox="1"/>
          <p:nvPr/>
        </p:nvSpPr>
        <p:spPr>
          <a:xfrm>
            <a:off x="6126480" y="3218688"/>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XII</a:t>
            </a:r>
            <a:endParaRPr lang="en-US" sz="1400" dirty="0"/>
          </a:p>
        </p:txBody>
      </p:sp>
      <p:sp>
        <p:nvSpPr>
          <p:cNvPr id="40" name="Text 38"/>
          <p:cNvSpPr txBox="1"/>
          <p:nvPr/>
        </p:nvSpPr>
        <p:spPr>
          <a:xfrm>
            <a:off x="6620256" y="3218688"/>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Control interno y auditoría</a:t>
            </a:r>
            <a:endParaRPr lang="en-US" sz="1100" dirty="0"/>
          </a:p>
        </p:txBody>
      </p:sp>
      <p:sp>
        <p:nvSpPr>
          <p:cNvPr id="41" name="Shape 39"/>
          <p:cNvSpPr/>
          <p:nvPr/>
        </p:nvSpPr>
        <p:spPr>
          <a:xfrm>
            <a:off x="566928" y="3803904"/>
            <a:ext cx="2578608" cy="512064"/>
          </a:xfrm>
          <a:prstGeom prst="roundRect">
            <a:avLst>
              <a:gd name="adj" fmla="val 8929"/>
            </a:avLst>
          </a:prstGeom>
          <a:solidFill>
            <a:srgbClr val="F5F6F9"/>
          </a:solidFill>
          <a:ln w="12700">
            <a:solidFill>
              <a:srgbClr val="E5E7EB"/>
            </a:solidFill>
            <a:prstDash val="solid"/>
          </a:ln>
        </p:spPr>
      </p:sp>
      <p:sp>
        <p:nvSpPr>
          <p:cNvPr id="42" name="Text 40"/>
          <p:cNvSpPr txBox="1"/>
          <p:nvPr/>
        </p:nvSpPr>
        <p:spPr>
          <a:xfrm>
            <a:off x="676656" y="3803904"/>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XIII</a:t>
            </a:r>
            <a:endParaRPr lang="en-US" sz="1400" dirty="0"/>
          </a:p>
        </p:txBody>
      </p:sp>
      <p:sp>
        <p:nvSpPr>
          <p:cNvPr id="43" name="Text 41"/>
          <p:cNvSpPr txBox="1"/>
          <p:nvPr/>
        </p:nvSpPr>
        <p:spPr>
          <a:xfrm>
            <a:off x="1170432" y="3803904"/>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Confidencialidad</a:t>
            </a:r>
            <a:endParaRPr lang="en-US" sz="1100" dirty="0"/>
          </a:p>
        </p:txBody>
      </p:sp>
      <p:sp>
        <p:nvSpPr>
          <p:cNvPr id="44" name="Shape 42"/>
          <p:cNvSpPr/>
          <p:nvPr/>
        </p:nvSpPr>
        <p:spPr>
          <a:xfrm>
            <a:off x="3291840" y="3803904"/>
            <a:ext cx="2578608" cy="512064"/>
          </a:xfrm>
          <a:prstGeom prst="roundRect">
            <a:avLst>
              <a:gd name="adj" fmla="val 8929"/>
            </a:avLst>
          </a:prstGeom>
          <a:solidFill>
            <a:srgbClr val="F5F6F9"/>
          </a:solidFill>
          <a:ln w="12700">
            <a:solidFill>
              <a:srgbClr val="E5E7EB"/>
            </a:solidFill>
            <a:prstDash val="solid"/>
          </a:ln>
        </p:spPr>
      </p:sp>
      <p:sp>
        <p:nvSpPr>
          <p:cNvPr id="45" name="Text 43"/>
          <p:cNvSpPr txBox="1"/>
          <p:nvPr/>
        </p:nvSpPr>
        <p:spPr>
          <a:xfrm>
            <a:off x="3401568" y="3803904"/>
            <a:ext cx="475488" cy="512064"/>
          </a:xfrm>
          <a:prstGeom prst="rect">
            <a:avLst/>
          </a:prstGeom>
          <a:noFill/>
          <a:ln/>
        </p:spPr>
        <p:txBody>
          <a:bodyPr wrap="square" lIns="0" tIns="0" rIns="0" bIns="0" rtlCol="0" anchor="ctr"/>
          <a:lstStyle/>
          <a:p>
            <a:pPr algn="ctr" indent="0" marL="0">
              <a:buNone/>
            </a:pPr>
            <a:r>
              <a:rPr lang="en-US" sz="1400" b="1" dirty="0">
                <a:solidFill>
                  <a:srgbClr val="6B7280"/>
                </a:solidFill>
                <a:latin typeface="Cambria" pitchFamily="34" charset="0"/>
                <a:ea typeface="Cambria" pitchFamily="34" charset="-122"/>
                <a:cs typeface="Cambria" pitchFamily="34" charset="-120"/>
              </a:rPr>
              <a:t>XIV</a:t>
            </a:r>
            <a:endParaRPr lang="en-US" sz="1400" dirty="0"/>
          </a:p>
        </p:txBody>
      </p:sp>
      <p:sp>
        <p:nvSpPr>
          <p:cNvPr id="46" name="Text 44"/>
          <p:cNvSpPr txBox="1"/>
          <p:nvPr/>
        </p:nvSpPr>
        <p:spPr>
          <a:xfrm>
            <a:off x="3895344" y="3803904"/>
            <a:ext cx="1865376" cy="512064"/>
          </a:xfrm>
          <a:prstGeom prst="rect">
            <a:avLst/>
          </a:prstGeom>
          <a:noFill/>
          <a:ln/>
        </p:spPr>
        <p:txBody>
          <a:bodyPr wrap="square" lIns="0" tIns="0" rIns="0" bIns="0" rtlCol="0" anchor="ctr"/>
          <a:lstStyle/>
          <a:p>
            <a:pPr indent="0" marL="0">
              <a:lnSpc>
                <a:spcPts val="1400"/>
              </a:lnSpc>
              <a:buNone/>
            </a:pPr>
            <a:r>
              <a:rPr lang="en-US" sz="1100" dirty="0">
                <a:solidFill>
                  <a:srgbClr val="12224A"/>
                </a:solidFill>
                <a:latin typeface="Arial" pitchFamily="34" charset="0"/>
                <a:ea typeface="Arial" pitchFamily="34" charset="-122"/>
                <a:cs typeface="Arial" pitchFamily="34" charset="-120"/>
              </a:rPr>
              <a:t>Actualización del Manual</a:t>
            </a:r>
            <a:endParaRPr lang="en-US" sz="1100" dirty="0"/>
          </a:p>
        </p:txBody>
      </p:sp>
      <p:sp>
        <p:nvSpPr>
          <p:cNvPr id="47" name="Text 45"/>
          <p:cNvSpPr txBox="1"/>
          <p:nvPr/>
        </p:nvSpPr>
        <p:spPr>
          <a:xfrm>
            <a:off x="566928" y="4315968"/>
            <a:ext cx="8010144" cy="274320"/>
          </a:xfrm>
          <a:prstGeom prst="rect">
            <a:avLst/>
          </a:prstGeom>
          <a:noFill/>
          <a:ln/>
        </p:spPr>
        <p:txBody>
          <a:bodyPr wrap="square" lIns="0" tIns="0" rIns="0" bIns="0" rtlCol="0" anchor="ctr"/>
          <a:lstStyle/>
          <a:p>
            <a:pPr indent="0" marL="0">
              <a:buNone/>
            </a:pPr>
            <a:r>
              <a:rPr lang="en-US" sz="1200" b="1" dirty="0">
                <a:solidFill>
                  <a:srgbClr val="92400E"/>
                </a:solidFill>
                <a:latin typeface="Arial" pitchFamily="34" charset="0"/>
                <a:ea typeface="Arial" pitchFamily="34" charset="-122"/>
                <a:cs typeface="Arial" pitchFamily="34" charset="-120"/>
              </a:rPr>
              <a:t>Las cuatro en ámbar no se pueden escribir sin la matriz de la sesión pasada.</a:t>
            </a:r>
            <a:endParaRPr lang="en-US" sz="1200" dirty="0"/>
          </a:p>
        </p:txBody>
      </p:sp>
      <p:sp>
        <p:nvSpPr>
          <p:cNvPr id="48" name="Text 46"/>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49" name="Text 47"/>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Lo que usted no hace, se declara</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El artículo más útil de este capítulo y el menos conocido.</a:t>
            </a:r>
            <a:endParaRPr lang="en-US" sz="1300" dirty="0"/>
          </a:p>
        </p:txBody>
      </p:sp>
      <p:sp>
        <p:nvSpPr>
          <p:cNvPr id="4" name="Text 2"/>
          <p:cNvSpPr txBox="1"/>
          <p:nvPr/>
        </p:nvSpPr>
        <p:spPr>
          <a:xfrm>
            <a:off x="566928" y="1188720"/>
            <a:ext cx="95463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 Bis 2</a:t>
            </a:r>
            <a:endParaRPr lang="en-US" sz="1000" dirty="0"/>
          </a:p>
        </p:txBody>
      </p:sp>
      <p:sp>
        <p:nvSpPr>
          <p:cNvPr id="5" name="Shape 3"/>
          <p:cNvSpPr/>
          <p:nvPr/>
        </p:nvSpPr>
        <p:spPr>
          <a:xfrm>
            <a:off x="566928" y="1609344"/>
            <a:ext cx="8010144" cy="969264"/>
          </a:xfrm>
          <a:prstGeom prst="roundRect">
            <a:avLst>
              <a:gd name="adj" fmla="val 5660"/>
            </a:avLst>
          </a:prstGeom>
          <a:solidFill>
            <a:srgbClr val="F5F6F9"/>
          </a:solidFill>
          <a:ln w="12700">
            <a:solidFill>
              <a:srgbClr val="E5E7EB"/>
            </a:solidFill>
            <a:prstDash val="solid"/>
          </a:ln>
        </p:spPr>
      </p:sp>
      <p:sp>
        <p:nvSpPr>
          <p:cNvPr id="6" name="Text 4"/>
          <p:cNvSpPr txBox="1"/>
          <p:nvPr/>
        </p:nvSpPr>
        <p:spPr>
          <a:xfrm>
            <a:off x="822960" y="1719072"/>
            <a:ext cx="7498080" cy="749808"/>
          </a:xfrm>
          <a:prstGeom prst="rect">
            <a:avLst/>
          </a:prstGeom>
          <a:noFill/>
          <a:ln/>
        </p:spPr>
        <p:txBody>
          <a:bodyPr wrap="square" lIns="0" tIns="0" rIns="0" bIns="0" rtlCol="0" anchor="ctr"/>
          <a:lstStyle/>
          <a:p>
            <a:pPr indent="0" marL="0">
              <a:lnSpc>
                <a:spcPts val="2000"/>
              </a:lnSpc>
              <a:buNone/>
            </a:pPr>
            <a:r>
              <a:rPr lang="en-US" sz="1450" i="1" dirty="0">
                <a:solidFill>
                  <a:srgbClr val="1F2937"/>
                </a:solidFill>
                <a:latin typeface="Arial" pitchFamily="34" charset="0"/>
                <a:ea typeface="Arial" pitchFamily="34" charset="-122"/>
                <a:cs typeface="Arial" pitchFamily="34" charset="-120"/>
              </a:rPr>
              <a:t>«…estarán exentos de establecer políticas, criterios, medidas o procedimientos para los mismos, siempre que hagan constar dicha circunstancia en el Manual de Políticas Internas.»</a:t>
            </a:r>
            <a:endParaRPr lang="en-US" sz="1450" dirty="0"/>
          </a:p>
        </p:txBody>
      </p:sp>
      <p:sp>
        <p:nvSpPr>
          <p:cNvPr id="7" name="Text 5"/>
          <p:cNvSpPr txBox="1"/>
          <p:nvPr/>
        </p:nvSpPr>
        <p:spPr>
          <a:xfrm>
            <a:off x="566928" y="2761488"/>
            <a:ext cx="8010144" cy="1833372"/>
          </a:xfrm>
          <a:prstGeom prst="rect">
            <a:avLst/>
          </a:prstGeom>
          <a:noFill/>
          <a:ln/>
        </p:spPr>
        <p:txBody>
          <a:bodyPr wrap="square" lIns="0" tIns="0" rIns="0" bIns="0" rtlCol="0" anchor="t"/>
          <a:lstStyle/>
          <a:p>
            <a:pPr marL="342900" indent="-342900">
              <a:lnSpc>
                <a:spcPts val="2059"/>
              </a:lnSpc>
              <a:spcAft>
                <a:spcPts val="800"/>
              </a:spcAft>
              <a:buSzPct val="100000"/>
              <a:buChar char="•"/>
            </a:pPr>
            <a:r>
              <a:rPr lang="en-US" sz="1450" dirty="0">
                <a:solidFill>
                  <a:srgbClr val="1F2937"/>
                </a:solidFill>
                <a:latin typeface="Arial" pitchFamily="34" charset="0"/>
                <a:ea typeface="Arial" pitchFamily="34" charset="-122"/>
                <a:cs typeface="Arial" pitchFamily="34" charset="-120"/>
              </a:rPr>
              <a:t>Si usted no recibe efectivo, no tiene que escribir la política de efectivo. Pero tiene que declarar que no lo recibe.</a:t>
            </a:r>
            <a:endParaRPr lang="en-US" sz="1450" dirty="0"/>
          </a:p>
          <a:p>
            <a:pPr marL="342900" indent="-342900">
              <a:lnSpc>
                <a:spcPts val="2059"/>
              </a:lnSpc>
              <a:spcAft>
                <a:spcPts val="800"/>
              </a:spcAft>
              <a:buSzPct val="100000"/>
              <a:buChar char="•"/>
            </a:pPr>
            <a:r>
              <a:rPr lang="en-US" sz="1450" dirty="0">
                <a:solidFill>
                  <a:srgbClr val="1F2937"/>
                </a:solidFill>
                <a:latin typeface="Arial" pitchFamily="34" charset="0"/>
                <a:ea typeface="Arial" pitchFamily="34" charset="-122"/>
                <a:cs typeface="Arial" pitchFamily="34" charset="-120"/>
              </a:rPr>
              <a:t>La exención depende de la declaración. El silencio no exenta: obliga.</a:t>
            </a:r>
            <a:endParaRPr lang="en-US" sz="1450" dirty="0"/>
          </a:p>
          <a:p>
            <a:pPr marL="342900" indent="-342900">
              <a:lnSpc>
                <a:spcPts val="2059"/>
              </a:lnSpc>
              <a:spcAft>
                <a:spcPts val="800"/>
              </a:spcAft>
              <a:buSzPct val="100000"/>
              <a:buChar char="•"/>
            </a:pPr>
            <a:r>
              <a:rPr lang="en-US" sz="1450" dirty="0">
                <a:solidFill>
                  <a:srgbClr val="1F2937"/>
                </a:solidFill>
                <a:latin typeface="Arial" pitchFamily="34" charset="0"/>
                <a:ea typeface="Arial" pitchFamily="34" charset="-122"/>
                <a:cs typeface="Arial" pitchFamily="34" charset="-120"/>
              </a:rPr>
              <a:t>Y tiene fecha de caducidad propia: en el momento en que decida hacer esa operación, la política debe estar escrita ANTES de la primera, no después.</a:t>
            </a:r>
            <a:endParaRPr lang="en-US" sz="1450" dirty="0"/>
          </a:p>
          <a:p>
            <a:pPr marL="342900" indent="-342900">
              <a:lnSpc>
                <a:spcPts val="2059"/>
              </a:lnSpc>
              <a:spcAft>
                <a:spcPts val="800"/>
              </a:spcAft>
              <a:buSzPct val="100000"/>
              <a:buChar char="•"/>
            </a:pPr>
            <a:r>
              <a:rPr lang="en-US" sz="1450" dirty="0">
                <a:solidFill>
                  <a:srgbClr val="1F2937"/>
                </a:solidFill>
                <a:latin typeface="Arial" pitchFamily="34" charset="0"/>
                <a:ea typeface="Arial" pitchFamily="34" charset="-122"/>
                <a:cs typeface="Arial" pitchFamily="34" charset="-120"/>
              </a:rPr>
              <a:t>En la plantilla es el apartado 18, con su tabla. Es el apartado que más páginas les ahorra.</a:t>
            </a:r>
            <a:endParaRPr lang="en-US" sz="1450" dirty="0"/>
          </a:p>
        </p:txBody>
      </p:sp>
      <p:sp>
        <p:nvSpPr>
          <p:cNvPr id="8" name="Text 6"/>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9" name="Text 7"/>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Dos reglas más que casi nadie aplica</a:t>
            </a:r>
            <a:endParaRPr lang="en-US" sz="2800" dirty="0"/>
          </a:p>
        </p:txBody>
      </p:sp>
      <p:sp>
        <p:nvSpPr>
          <p:cNvPr id="3" name="Shape 1"/>
          <p:cNvSpPr/>
          <p:nvPr/>
        </p:nvSpPr>
        <p:spPr>
          <a:xfrm>
            <a:off x="566928" y="1316736"/>
            <a:ext cx="3931920" cy="2962656"/>
          </a:xfrm>
          <a:prstGeom prst="roundRect">
            <a:avLst>
              <a:gd name="adj" fmla="val 1852"/>
            </a:avLst>
          </a:prstGeom>
          <a:solidFill>
            <a:srgbClr val="F5F6F9"/>
          </a:solidFill>
          <a:ln w="12700">
            <a:solidFill>
              <a:srgbClr val="E5E7EB"/>
            </a:solidFill>
            <a:prstDash val="solid"/>
          </a:ln>
        </p:spPr>
      </p:sp>
      <p:sp>
        <p:nvSpPr>
          <p:cNvPr id="4" name="Text 2"/>
          <p:cNvSpPr txBox="1"/>
          <p:nvPr/>
        </p:nvSpPr>
        <p:spPr>
          <a:xfrm>
            <a:off x="566928" y="1481328"/>
            <a:ext cx="1086307"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 párr. 2</a:t>
            </a:r>
            <a:endParaRPr lang="en-US" sz="1000" dirty="0"/>
          </a:p>
        </p:txBody>
      </p:sp>
      <p:sp>
        <p:nvSpPr>
          <p:cNvPr id="5" name="Text 3"/>
          <p:cNvSpPr txBox="1"/>
          <p:nvPr/>
        </p:nvSpPr>
        <p:spPr>
          <a:xfrm>
            <a:off x="786384" y="1847088"/>
            <a:ext cx="3493008" cy="548640"/>
          </a:xfrm>
          <a:prstGeom prst="rect">
            <a:avLst/>
          </a:prstGeom>
          <a:noFill/>
          <a:ln/>
        </p:spPr>
        <p:txBody>
          <a:bodyPr wrap="square" lIns="0" tIns="0" rIns="0" bIns="0" rtlCol="0" anchor="t"/>
          <a:lstStyle/>
          <a:p>
            <a:pPr indent="0" marL="0">
              <a:lnSpc>
                <a:spcPts val="2000"/>
              </a:lnSpc>
              <a:buNone/>
            </a:pPr>
            <a:r>
              <a:rPr lang="en-US" sz="1600" b="1" dirty="0">
                <a:solidFill>
                  <a:srgbClr val="12224A"/>
                </a:solidFill>
                <a:latin typeface="Arial" pitchFamily="34" charset="0"/>
                <a:ea typeface="Arial" pitchFamily="34" charset="-122"/>
                <a:cs typeface="Arial" pitchFamily="34" charset="-120"/>
              </a:rPr>
              <a:t>El Manual puede vivir en varios documentos</a:t>
            </a:r>
            <a:endParaRPr lang="en-US" sz="1600" dirty="0"/>
          </a:p>
        </p:txBody>
      </p:sp>
      <p:sp>
        <p:nvSpPr>
          <p:cNvPr id="6" name="Text 4"/>
          <p:cNvSpPr txBox="1"/>
          <p:nvPr/>
        </p:nvSpPr>
        <p:spPr>
          <a:xfrm>
            <a:off x="786384" y="2450592"/>
            <a:ext cx="3493008" cy="1700784"/>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Lo que no admite es que el Manual no los mencione: hay que incluir las referencias.</a:t>
            </a:r>
            <a:endParaRPr lang="en-US" sz="1250" dirty="0"/>
          </a:p>
          <a:p>
            <a:pPr indent="0" marL="0">
              <a:lnSpc>
                <a:spcPts val="1700"/>
              </a:lnSpc>
              <a:buNone/>
            </a:pPr>
            <a:endParaRPr lang="en-US" sz="1250" dirty="0"/>
          </a:p>
          <a:p>
            <a:pPr indent="0" marL="0">
              <a:lnSpc>
                <a:spcPts val="1700"/>
              </a:lnSpc>
              <a:buNone/>
            </a:pPr>
            <a:r>
              <a:rPr lang="en-US" sz="1250" dirty="0">
                <a:solidFill>
                  <a:srgbClr val="1F2937"/>
                </a:solidFill>
                <a:latin typeface="Arial" pitchFamily="34" charset="0"/>
                <a:ea typeface="Arial" pitchFamily="34" charset="-122"/>
                <a:cs typeface="Arial" pitchFamily="34" charset="-120"/>
              </a:rPr>
              <a:t>Si su procedimiento de conservación vive en la política de archivo, el Manual dice cómo se llama esa política y dónde está.</a:t>
            </a:r>
            <a:endParaRPr lang="en-US" sz="1250" dirty="0"/>
          </a:p>
          <a:p>
            <a:pPr indent="0" marL="0">
              <a:lnSpc>
                <a:spcPts val="1700"/>
              </a:lnSpc>
              <a:buNone/>
            </a:pPr>
            <a:endParaRPr lang="en-US" sz="1250" dirty="0"/>
          </a:p>
          <a:p>
            <a:pPr indent="0" marL="0">
              <a:lnSpc>
                <a:spcPts val="1700"/>
              </a:lnSpc>
              <a:buNone/>
            </a:pPr>
            <a:r>
              <a:rPr lang="en-US" sz="1250" dirty="0">
                <a:solidFill>
                  <a:srgbClr val="1F2937"/>
                </a:solidFill>
                <a:latin typeface="Arial" pitchFamily="34" charset="0"/>
                <a:ea typeface="Arial" pitchFamily="34" charset="-122"/>
                <a:cs typeface="Arial" pitchFamily="34" charset="-120"/>
              </a:rPr>
              <a:t>En la plantilla es el apartado 21.</a:t>
            </a:r>
            <a:endParaRPr lang="en-US" sz="1250" dirty="0"/>
          </a:p>
        </p:txBody>
      </p:sp>
      <p:sp>
        <p:nvSpPr>
          <p:cNvPr id="7" name="Shape 5"/>
          <p:cNvSpPr/>
          <p:nvPr/>
        </p:nvSpPr>
        <p:spPr>
          <a:xfrm>
            <a:off x="4645152" y="1316736"/>
            <a:ext cx="3931920" cy="2962656"/>
          </a:xfrm>
          <a:prstGeom prst="roundRect">
            <a:avLst>
              <a:gd name="adj" fmla="val 1852"/>
            </a:avLst>
          </a:prstGeom>
          <a:solidFill>
            <a:srgbClr val="FDF3E3"/>
          </a:solidFill>
          <a:ln w="12700">
            <a:solidFill>
              <a:srgbClr val="F2A541"/>
            </a:solidFill>
            <a:prstDash val="solid"/>
          </a:ln>
        </p:spPr>
      </p:sp>
      <p:sp>
        <p:nvSpPr>
          <p:cNvPr id="8" name="Text 6"/>
          <p:cNvSpPr txBox="1"/>
          <p:nvPr/>
        </p:nvSpPr>
        <p:spPr>
          <a:xfrm>
            <a:off x="4864608" y="1481328"/>
            <a:ext cx="137160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 Bis 3</a:t>
            </a:r>
            <a:endParaRPr lang="en-US" sz="1000" dirty="0"/>
          </a:p>
        </p:txBody>
      </p:sp>
      <p:sp>
        <p:nvSpPr>
          <p:cNvPr id="9" name="Text 7"/>
          <p:cNvSpPr txBox="1"/>
          <p:nvPr/>
        </p:nvSpPr>
        <p:spPr>
          <a:xfrm>
            <a:off x="4864608" y="1847088"/>
            <a:ext cx="3493008" cy="548640"/>
          </a:xfrm>
          <a:prstGeom prst="rect">
            <a:avLst/>
          </a:prstGeom>
          <a:noFill/>
          <a:ln/>
        </p:spPr>
        <p:txBody>
          <a:bodyPr wrap="square" lIns="0" tIns="0" rIns="0" bIns="0" rtlCol="0" anchor="t"/>
          <a:lstStyle/>
          <a:p>
            <a:pPr indent="0" marL="0">
              <a:lnSpc>
                <a:spcPts val="2000"/>
              </a:lnSpc>
              <a:buNone/>
            </a:pPr>
            <a:r>
              <a:rPr lang="en-US" sz="1600" b="1" dirty="0">
                <a:solidFill>
                  <a:srgbClr val="12224A"/>
                </a:solidFill>
                <a:latin typeface="Arial" pitchFamily="34" charset="0"/>
                <a:ea typeface="Arial" pitchFamily="34" charset="-122"/>
                <a:cs typeface="Arial" pitchFamily="34" charset="-120"/>
              </a:rPr>
              <a:t>El SAT puede ordenarle cambiar su manual</a:t>
            </a:r>
            <a:endParaRPr lang="en-US" sz="1600" dirty="0"/>
          </a:p>
        </p:txBody>
      </p:sp>
      <p:sp>
        <p:nvSpPr>
          <p:cNvPr id="10" name="Text 8"/>
          <p:cNvSpPr txBox="1"/>
          <p:nvPr/>
        </p:nvSpPr>
        <p:spPr>
          <a:xfrm>
            <a:off x="4864608" y="2450592"/>
            <a:ext cx="3493008" cy="1700784"/>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«…podrá señalar a quienes realicen Actividades Vulnerables que efectúen modificaciones al Manual de Políticas Internas, así como a los demás documentos en él señalados, cuando a su juicio sea necesario.»</a:t>
            </a:r>
            <a:endParaRPr lang="en-US" sz="1250" dirty="0"/>
          </a:p>
          <a:p>
            <a:pPr indent="0" marL="0">
              <a:lnSpc>
                <a:spcPts val="1700"/>
              </a:lnSpc>
              <a:buNone/>
            </a:pPr>
            <a:endParaRPr lang="en-US" sz="1250" dirty="0"/>
          </a:p>
          <a:p>
            <a:pPr indent="0" marL="0">
              <a:lnSpc>
                <a:spcPts val="1700"/>
              </a:lnSpc>
              <a:buNone/>
            </a:pPr>
            <a:r>
              <a:rPr lang="en-US" sz="1250" dirty="0">
                <a:solidFill>
                  <a:srgbClr val="1F2937"/>
                </a:solidFill>
                <a:latin typeface="Arial" pitchFamily="34" charset="0"/>
                <a:ea typeface="Arial" pitchFamily="34" charset="-122"/>
                <a:cs typeface="Arial" pitchFamily="34" charset="-120"/>
              </a:rPr>
              <a:t>A su juicio. No hay catálogo de causas. Por eso el manual conviene tenerlo defendible, no bonito.</a:t>
            </a:r>
            <a:endParaRPr lang="en-US" sz="1250" dirty="0"/>
          </a:p>
        </p:txBody>
      </p:sp>
      <p:sp>
        <p:nvSpPr>
          <p:cNvPr id="11" name="Text 9"/>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2" name="Text 10"/>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De la norma al texto</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El vocabulario no hay que inventarlo. Lo da la norma, y son cuatro escalones.</a:t>
            </a:r>
            <a:endParaRPr lang="en-US" sz="1300" dirty="0"/>
          </a:p>
        </p:txBody>
      </p:sp>
      <p:sp>
        <p:nvSpPr>
          <p:cNvPr id="4" name="Text 2"/>
          <p:cNvSpPr txBox="1"/>
          <p:nvPr/>
        </p:nvSpPr>
        <p:spPr>
          <a:xfrm>
            <a:off x="566928" y="1152144"/>
            <a:ext cx="1020470"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18 fr. VIII</a:t>
            </a:r>
            <a:endParaRPr lang="en-US" sz="1000" dirty="0"/>
          </a:p>
        </p:txBody>
      </p:sp>
      <p:sp>
        <p:nvSpPr>
          <p:cNvPr id="5" name="Text 3"/>
          <p:cNvSpPr txBox="1"/>
          <p:nvPr/>
        </p:nvSpPr>
        <p:spPr>
          <a:xfrm>
            <a:off x="1697126" y="1152144"/>
            <a:ext cx="1613002"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 fr. XI Quinquies</a:t>
            </a:r>
            <a:endParaRPr lang="en-US" sz="1000" dirty="0"/>
          </a:p>
        </p:txBody>
      </p:sp>
      <p:sp>
        <p:nvSpPr>
          <p:cNvPr id="6" name="Shape 4"/>
          <p:cNvSpPr/>
          <p:nvPr/>
        </p:nvSpPr>
        <p:spPr>
          <a:xfrm>
            <a:off x="566928" y="1554480"/>
            <a:ext cx="1901952" cy="1572768"/>
          </a:xfrm>
          <a:prstGeom prst="roundRect">
            <a:avLst>
              <a:gd name="adj" fmla="val 3488"/>
            </a:avLst>
          </a:prstGeom>
          <a:solidFill>
            <a:srgbClr val="F5F6F9"/>
          </a:solidFill>
          <a:ln w="12700">
            <a:solidFill>
              <a:srgbClr val="E5E7EB"/>
            </a:solidFill>
            <a:prstDash val="solid"/>
          </a:ln>
        </p:spPr>
      </p:sp>
      <p:sp>
        <p:nvSpPr>
          <p:cNvPr id="7" name="Text 5"/>
          <p:cNvSpPr txBox="1"/>
          <p:nvPr/>
        </p:nvSpPr>
        <p:spPr>
          <a:xfrm>
            <a:off x="694944" y="1645920"/>
            <a:ext cx="274320" cy="274320"/>
          </a:xfrm>
          <a:prstGeom prst="rect">
            <a:avLst/>
          </a:prstGeom>
          <a:noFill/>
          <a:ln/>
        </p:spPr>
        <p:txBody>
          <a:bodyPr wrap="square" lIns="0" tIns="0" rIns="0" bIns="0" rtlCol="0" anchor="ctr"/>
          <a:lstStyle/>
          <a:p>
            <a:pPr indent="0" marL="0">
              <a:buNone/>
            </a:pPr>
            <a:r>
              <a:rPr lang="en-US" sz="1100" b="1" dirty="0">
                <a:solidFill>
                  <a:srgbClr val="6B7280"/>
                </a:solidFill>
                <a:latin typeface="Cambria" pitchFamily="34" charset="0"/>
                <a:ea typeface="Cambria" pitchFamily="34" charset="-122"/>
                <a:cs typeface="Cambria" pitchFamily="34" charset="-120"/>
              </a:rPr>
              <a:t>1</a:t>
            </a:r>
            <a:endParaRPr lang="en-US" sz="1100" dirty="0"/>
          </a:p>
        </p:txBody>
      </p:sp>
      <p:sp>
        <p:nvSpPr>
          <p:cNvPr id="8" name="Text 6"/>
          <p:cNvSpPr txBox="1"/>
          <p:nvPr/>
        </p:nvSpPr>
        <p:spPr>
          <a:xfrm>
            <a:off x="694944" y="1920240"/>
            <a:ext cx="1645920" cy="292608"/>
          </a:xfrm>
          <a:prstGeom prst="rect">
            <a:avLst/>
          </a:prstGeom>
          <a:noFill/>
          <a:ln/>
        </p:spPr>
        <p:txBody>
          <a:bodyPr wrap="square" lIns="0" tIns="0" rIns="0" bIns="0" rtlCol="0" anchor="ctr"/>
          <a:lstStyle/>
          <a:p>
            <a:pPr indent="0" marL="0">
              <a:buNone/>
            </a:pPr>
            <a:r>
              <a:rPr lang="en-US" sz="1500" b="1" dirty="0">
                <a:solidFill>
                  <a:srgbClr val="12224A"/>
                </a:solidFill>
                <a:latin typeface="Arial" pitchFamily="34" charset="0"/>
                <a:ea typeface="Arial" pitchFamily="34" charset="-122"/>
                <a:cs typeface="Arial" pitchFamily="34" charset="-120"/>
              </a:rPr>
              <a:t>Política</a:t>
            </a:r>
            <a:endParaRPr lang="en-US" sz="1500" dirty="0"/>
          </a:p>
        </p:txBody>
      </p:sp>
      <p:sp>
        <p:nvSpPr>
          <p:cNvPr id="9" name="Text 7"/>
          <p:cNvSpPr txBox="1"/>
          <p:nvPr/>
        </p:nvSpPr>
        <p:spPr>
          <a:xfrm>
            <a:off x="694944" y="2231136"/>
            <a:ext cx="1645920" cy="548640"/>
          </a:xfrm>
          <a:prstGeom prst="rect">
            <a:avLst/>
          </a:prstGeom>
          <a:noFill/>
          <a:ln/>
        </p:spPr>
        <p:txBody>
          <a:bodyPr wrap="square" lIns="0" tIns="0" rIns="0" bIns="0" rtlCol="0" anchor="t"/>
          <a:lstStyle/>
          <a:p>
            <a:pPr indent="0" marL="0">
              <a:lnSpc>
                <a:spcPts val="1200"/>
              </a:lnSpc>
              <a:buNone/>
            </a:pPr>
            <a:r>
              <a:rPr lang="en-US" sz="1000" dirty="0">
                <a:solidFill>
                  <a:srgbClr val="1F2937"/>
                </a:solidFill>
                <a:latin typeface="Arial" pitchFamily="34" charset="0"/>
                <a:ea typeface="Arial" pitchFamily="34" charset="-122"/>
                <a:cs typeface="Arial" pitchFamily="34" charset="-120"/>
              </a:rPr>
              <a:t>La decisión de la casa</a:t>
            </a:r>
            <a:endParaRPr lang="en-US" sz="1000" dirty="0"/>
          </a:p>
        </p:txBody>
      </p:sp>
      <p:sp>
        <p:nvSpPr>
          <p:cNvPr id="10" name="Text 8"/>
          <p:cNvSpPr txBox="1"/>
          <p:nvPr/>
        </p:nvSpPr>
        <p:spPr>
          <a:xfrm>
            <a:off x="694944" y="2798064"/>
            <a:ext cx="1645920" cy="310896"/>
          </a:xfrm>
          <a:prstGeom prst="rect">
            <a:avLst/>
          </a:prstGeom>
          <a:noFill/>
          <a:ln/>
        </p:spPr>
        <p:txBody>
          <a:bodyPr wrap="square" lIns="0" tIns="0" rIns="0" bIns="0" rtlCol="0" anchor="t"/>
          <a:lstStyle/>
          <a:p>
            <a:pPr indent="0" marL="0">
              <a:lnSpc>
                <a:spcPts val="1150"/>
              </a:lnSpc>
              <a:buNone/>
            </a:pPr>
            <a:r>
              <a:rPr lang="en-US" sz="950" i="1" dirty="0">
                <a:solidFill>
                  <a:srgbClr val="92400E"/>
                </a:solidFill>
                <a:latin typeface="Arial" pitchFamily="34" charset="0"/>
                <a:ea typeface="Arial" pitchFamily="34" charset="-122"/>
                <a:cs typeface="Arial" pitchFamily="34" charset="-120"/>
              </a:rPr>
              <a:t>¿Qué decidimos?</a:t>
            </a:r>
            <a:endParaRPr lang="en-US" sz="950" dirty="0"/>
          </a:p>
        </p:txBody>
      </p:sp>
      <p:sp>
        <p:nvSpPr>
          <p:cNvPr id="11" name="Shape 9"/>
          <p:cNvSpPr/>
          <p:nvPr/>
        </p:nvSpPr>
        <p:spPr>
          <a:xfrm>
            <a:off x="2615184" y="1554480"/>
            <a:ext cx="1901952" cy="1572768"/>
          </a:xfrm>
          <a:prstGeom prst="roundRect">
            <a:avLst>
              <a:gd name="adj" fmla="val 3488"/>
            </a:avLst>
          </a:prstGeom>
          <a:solidFill>
            <a:srgbClr val="F5F6F9"/>
          </a:solidFill>
          <a:ln w="12700">
            <a:solidFill>
              <a:srgbClr val="E5E7EB"/>
            </a:solidFill>
            <a:prstDash val="solid"/>
          </a:ln>
        </p:spPr>
      </p:sp>
      <p:sp>
        <p:nvSpPr>
          <p:cNvPr id="12" name="Text 10"/>
          <p:cNvSpPr txBox="1"/>
          <p:nvPr/>
        </p:nvSpPr>
        <p:spPr>
          <a:xfrm>
            <a:off x="2743200" y="1645920"/>
            <a:ext cx="274320" cy="274320"/>
          </a:xfrm>
          <a:prstGeom prst="rect">
            <a:avLst/>
          </a:prstGeom>
          <a:noFill/>
          <a:ln/>
        </p:spPr>
        <p:txBody>
          <a:bodyPr wrap="square" lIns="0" tIns="0" rIns="0" bIns="0" rtlCol="0" anchor="ctr"/>
          <a:lstStyle/>
          <a:p>
            <a:pPr indent="0" marL="0">
              <a:buNone/>
            </a:pPr>
            <a:r>
              <a:rPr lang="en-US" sz="1100" b="1" dirty="0">
                <a:solidFill>
                  <a:srgbClr val="6B7280"/>
                </a:solidFill>
                <a:latin typeface="Cambria" pitchFamily="34" charset="0"/>
                <a:ea typeface="Cambria" pitchFamily="34" charset="-122"/>
                <a:cs typeface="Cambria" pitchFamily="34" charset="-120"/>
              </a:rPr>
              <a:t>2</a:t>
            </a:r>
            <a:endParaRPr lang="en-US" sz="1100" dirty="0"/>
          </a:p>
        </p:txBody>
      </p:sp>
      <p:sp>
        <p:nvSpPr>
          <p:cNvPr id="13" name="Text 11"/>
          <p:cNvSpPr txBox="1"/>
          <p:nvPr/>
        </p:nvSpPr>
        <p:spPr>
          <a:xfrm>
            <a:off x="2743200" y="1920240"/>
            <a:ext cx="1645920" cy="292608"/>
          </a:xfrm>
          <a:prstGeom prst="rect">
            <a:avLst/>
          </a:prstGeom>
          <a:noFill/>
          <a:ln/>
        </p:spPr>
        <p:txBody>
          <a:bodyPr wrap="square" lIns="0" tIns="0" rIns="0" bIns="0" rtlCol="0" anchor="ctr"/>
          <a:lstStyle/>
          <a:p>
            <a:pPr indent="0" marL="0">
              <a:buNone/>
            </a:pPr>
            <a:r>
              <a:rPr lang="en-US" sz="1500" b="1" dirty="0">
                <a:solidFill>
                  <a:srgbClr val="12224A"/>
                </a:solidFill>
                <a:latin typeface="Arial" pitchFamily="34" charset="0"/>
                <a:ea typeface="Arial" pitchFamily="34" charset="-122"/>
                <a:cs typeface="Arial" pitchFamily="34" charset="-120"/>
              </a:rPr>
              <a:t>Criterio</a:t>
            </a:r>
            <a:endParaRPr lang="en-US" sz="1500" dirty="0"/>
          </a:p>
        </p:txBody>
      </p:sp>
      <p:sp>
        <p:nvSpPr>
          <p:cNvPr id="14" name="Text 12"/>
          <p:cNvSpPr txBox="1"/>
          <p:nvPr/>
        </p:nvSpPr>
        <p:spPr>
          <a:xfrm>
            <a:off x="2743200" y="2231136"/>
            <a:ext cx="1645920" cy="548640"/>
          </a:xfrm>
          <a:prstGeom prst="rect">
            <a:avLst/>
          </a:prstGeom>
          <a:noFill/>
          <a:ln/>
        </p:spPr>
        <p:txBody>
          <a:bodyPr wrap="square" lIns="0" tIns="0" rIns="0" bIns="0" rtlCol="0" anchor="t"/>
          <a:lstStyle/>
          <a:p>
            <a:pPr indent="0" marL="0">
              <a:lnSpc>
                <a:spcPts val="1200"/>
              </a:lnSpc>
              <a:buNone/>
            </a:pPr>
            <a:r>
              <a:rPr lang="en-US" sz="1000" dirty="0">
                <a:solidFill>
                  <a:srgbClr val="1F2937"/>
                </a:solidFill>
                <a:latin typeface="Arial" pitchFamily="34" charset="0"/>
                <a:ea typeface="Arial" pitchFamily="34" charset="-122"/>
                <a:cs typeface="Arial" pitchFamily="34" charset="-120"/>
              </a:rPr>
              <a:t>La regla que resuelve el caso dudoso</a:t>
            </a:r>
            <a:endParaRPr lang="en-US" sz="1000" dirty="0"/>
          </a:p>
        </p:txBody>
      </p:sp>
      <p:sp>
        <p:nvSpPr>
          <p:cNvPr id="15" name="Text 13"/>
          <p:cNvSpPr txBox="1"/>
          <p:nvPr/>
        </p:nvSpPr>
        <p:spPr>
          <a:xfrm>
            <a:off x="2743200" y="2798064"/>
            <a:ext cx="1645920" cy="310896"/>
          </a:xfrm>
          <a:prstGeom prst="rect">
            <a:avLst/>
          </a:prstGeom>
          <a:noFill/>
          <a:ln/>
        </p:spPr>
        <p:txBody>
          <a:bodyPr wrap="square" lIns="0" tIns="0" rIns="0" bIns="0" rtlCol="0" anchor="t"/>
          <a:lstStyle/>
          <a:p>
            <a:pPr indent="0" marL="0">
              <a:lnSpc>
                <a:spcPts val="1150"/>
              </a:lnSpc>
              <a:buNone/>
            </a:pPr>
            <a:r>
              <a:rPr lang="en-US" sz="950" i="1" dirty="0">
                <a:solidFill>
                  <a:srgbClr val="92400E"/>
                </a:solidFill>
                <a:latin typeface="Arial" pitchFamily="34" charset="0"/>
                <a:ea typeface="Arial" pitchFamily="34" charset="-122"/>
                <a:cs typeface="Arial" pitchFamily="34" charset="-120"/>
              </a:rPr>
              <a:t>¿Cuándo? ¿Qué cuenta como qué?</a:t>
            </a:r>
            <a:endParaRPr lang="en-US" sz="950" dirty="0"/>
          </a:p>
        </p:txBody>
      </p:sp>
      <p:sp>
        <p:nvSpPr>
          <p:cNvPr id="16" name="Shape 14"/>
          <p:cNvSpPr/>
          <p:nvPr/>
        </p:nvSpPr>
        <p:spPr>
          <a:xfrm>
            <a:off x="4663440" y="1554480"/>
            <a:ext cx="1901952" cy="1572768"/>
          </a:xfrm>
          <a:prstGeom prst="roundRect">
            <a:avLst>
              <a:gd name="adj" fmla="val 3488"/>
            </a:avLst>
          </a:prstGeom>
          <a:solidFill>
            <a:srgbClr val="F5F6F9"/>
          </a:solidFill>
          <a:ln w="12700">
            <a:solidFill>
              <a:srgbClr val="E5E7EB"/>
            </a:solidFill>
            <a:prstDash val="solid"/>
          </a:ln>
        </p:spPr>
      </p:sp>
      <p:sp>
        <p:nvSpPr>
          <p:cNvPr id="17" name="Text 15"/>
          <p:cNvSpPr txBox="1"/>
          <p:nvPr/>
        </p:nvSpPr>
        <p:spPr>
          <a:xfrm>
            <a:off x="4791456" y="1645920"/>
            <a:ext cx="274320" cy="274320"/>
          </a:xfrm>
          <a:prstGeom prst="rect">
            <a:avLst/>
          </a:prstGeom>
          <a:noFill/>
          <a:ln/>
        </p:spPr>
        <p:txBody>
          <a:bodyPr wrap="square" lIns="0" tIns="0" rIns="0" bIns="0" rtlCol="0" anchor="ctr"/>
          <a:lstStyle/>
          <a:p>
            <a:pPr indent="0" marL="0">
              <a:buNone/>
            </a:pPr>
            <a:r>
              <a:rPr lang="en-US" sz="1100" b="1" dirty="0">
                <a:solidFill>
                  <a:srgbClr val="6B7280"/>
                </a:solidFill>
                <a:latin typeface="Cambria" pitchFamily="34" charset="0"/>
                <a:ea typeface="Cambria" pitchFamily="34" charset="-122"/>
                <a:cs typeface="Cambria" pitchFamily="34" charset="-120"/>
              </a:rPr>
              <a:t>3</a:t>
            </a:r>
            <a:endParaRPr lang="en-US" sz="1100" dirty="0"/>
          </a:p>
        </p:txBody>
      </p:sp>
      <p:sp>
        <p:nvSpPr>
          <p:cNvPr id="18" name="Text 16"/>
          <p:cNvSpPr txBox="1"/>
          <p:nvPr/>
        </p:nvSpPr>
        <p:spPr>
          <a:xfrm>
            <a:off x="4791456" y="1920240"/>
            <a:ext cx="1645920" cy="292608"/>
          </a:xfrm>
          <a:prstGeom prst="rect">
            <a:avLst/>
          </a:prstGeom>
          <a:noFill/>
          <a:ln/>
        </p:spPr>
        <p:txBody>
          <a:bodyPr wrap="square" lIns="0" tIns="0" rIns="0" bIns="0" rtlCol="0" anchor="ctr"/>
          <a:lstStyle/>
          <a:p>
            <a:pPr indent="0" marL="0">
              <a:buNone/>
            </a:pPr>
            <a:r>
              <a:rPr lang="en-US" sz="1500" b="1" dirty="0">
                <a:solidFill>
                  <a:srgbClr val="12224A"/>
                </a:solidFill>
                <a:latin typeface="Arial" pitchFamily="34" charset="0"/>
                <a:ea typeface="Arial" pitchFamily="34" charset="-122"/>
                <a:cs typeface="Arial" pitchFamily="34" charset="-120"/>
              </a:rPr>
              <a:t>Medida</a:t>
            </a:r>
            <a:endParaRPr lang="en-US" sz="1500" dirty="0"/>
          </a:p>
        </p:txBody>
      </p:sp>
      <p:sp>
        <p:nvSpPr>
          <p:cNvPr id="19" name="Text 17"/>
          <p:cNvSpPr txBox="1"/>
          <p:nvPr/>
        </p:nvSpPr>
        <p:spPr>
          <a:xfrm>
            <a:off x="4791456" y="2231136"/>
            <a:ext cx="1645920" cy="548640"/>
          </a:xfrm>
          <a:prstGeom prst="rect">
            <a:avLst/>
          </a:prstGeom>
          <a:noFill/>
          <a:ln/>
        </p:spPr>
        <p:txBody>
          <a:bodyPr wrap="square" lIns="0" tIns="0" rIns="0" bIns="0" rtlCol="0" anchor="t"/>
          <a:lstStyle/>
          <a:p>
            <a:pPr indent="0" marL="0">
              <a:lnSpc>
                <a:spcPts val="1200"/>
              </a:lnSpc>
              <a:buNone/>
            </a:pPr>
            <a:r>
              <a:rPr lang="en-US" sz="1000" dirty="0">
                <a:solidFill>
                  <a:srgbClr val="1F2937"/>
                </a:solidFill>
                <a:latin typeface="Arial" pitchFamily="34" charset="0"/>
                <a:ea typeface="Arial" pitchFamily="34" charset="-122"/>
                <a:cs typeface="Arial" pitchFamily="34" charset="-120"/>
              </a:rPr>
              <a:t>El control concreto</a:t>
            </a:r>
            <a:endParaRPr lang="en-US" sz="1000" dirty="0"/>
          </a:p>
        </p:txBody>
      </p:sp>
      <p:sp>
        <p:nvSpPr>
          <p:cNvPr id="20" name="Text 18"/>
          <p:cNvSpPr txBox="1"/>
          <p:nvPr/>
        </p:nvSpPr>
        <p:spPr>
          <a:xfrm>
            <a:off x="4791456" y="2798064"/>
            <a:ext cx="1645920" cy="310896"/>
          </a:xfrm>
          <a:prstGeom prst="rect">
            <a:avLst/>
          </a:prstGeom>
          <a:noFill/>
          <a:ln/>
        </p:spPr>
        <p:txBody>
          <a:bodyPr wrap="square" lIns="0" tIns="0" rIns="0" bIns="0" rtlCol="0" anchor="t"/>
          <a:lstStyle/>
          <a:p>
            <a:pPr indent="0" marL="0">
              <a:lnSpc>
                <a:spcPts val="1150"/>
              </a:lnSpc>
              <a:buNone/>
            </a:pPr>
            <a:r>
              <a:rPr lang="en-US" sz="950" i="1" dirty="0">
                <a:solidFill>
                  <a:srgbClr val="92400E"/>
                </a:solidFill>
                <a:latin typeface="Arial" pitchFamily="34" charset="0"/>
                <a:ea typeface="Arial" pitchFamily="34" charset="-122"/>
                <a:cs typeface="Arial" pitchFamily="34" charset="-120"/>
              </a:rPr>
              <a:t>¿Qué se hace para que se cumpla?</a:t>
            </a:r>
            <a:endParaRPr lang="en-US" sz="950" dirty="0"/>
          </a:p>
        </p:txBody>
      </p:sp>
      <p:sp>
        <p:nvSpPr>
          <p:cNvPr id="21" name="Shape 19"/>
          <p:cNvSpPr/>
          <p:nvPr/>
        </p:nvSpPr>
        <p:spPr>
          <a:xfrm>
            <a:off x="6711696" y="1554480"/>
            <a:ext cx="1901952" cy="1572768"/>
          </a:xfrm>
          <a:prstGeom prst="roundRect">
            <a:avLst>
              <a:gd name="adj" fmla="val 3488"/>
            </a:avLst>
          </a:prstGeom>
          <a:solidFill>
            <a:srgbClr val="FDF3E3"/>
          </a:solidFill>
          <a:ln w="19050">
            <a:solidFill>
              <a:srgbClr val="F2A541"/>
            </a:solidFill>
            <a:prstDash val="solid"/>
          </a:ln>
        </p:spPr>
      </p:sp>
      <p:sp>
        <p:nvSpPr>
          <p:cNvPr id="22" name="Text 20"/>
          <p:cNvSpPr txBox="1"/>
          <p:nvPr/>
        </p:nvSpPr>
        <p:spPr>
          <a:xfrm>
            <a:off x="6839712" y="1645920"/>
            <a:ext cx="274320" cy="274320"/>
          </a:xfrm>
          <a:prstGeom prst="rect">
            <a:avLst/>
          </a:prstGeom>
          <a:noFill/>
          <a:ln/>
        </p:spPr>
        <p:txBody>
          <a:bodyPr wrap="square" lIns="0" tIns="0" rIns="0" bIns="0" rtlCol="0" anchor="ctr"/>
          <a:lstStyle/>
          <a:p>
            <a:pPr indent="0" marL="0">
              <a:buNone/>
            </a:pPr>
            <a:r>
              <a:rPr lang="en-US" sz="1100" b="1" dirty="0">
                <a:solidFill>
                  <a:srgbClr val="92400E"/>
                </a:solidFill>
                <a:latin typeface="Cambria" pitchFamily="34" charset="0"/>
                <a:ea typeface="Cambria" pitchFamily="34" charset="-122"/>
                <a:cs typeface="Cambria" pitchFamily="34" charset="-120"/>
              </a:rPr>
              <a:t>4</a:t>
            </a:r>
            <a:endParaRPr lang="en-US" sz="1100" dirty="0"/>
          </a:p>
        </p:txBody>
      </p:sp>
      <p:sp>
        <p:nvSpPr>
          <p:cNvPr id="23" name="Text 21"/>
          <p:cNvSpPr txBox="1"/>
          <p:nvPr/>
        </p:nvSpPr>
        <p:spPr>
          <a:xfrm>
            <a:off x="6839712" y="1920240"/>
            <a:ext cx="1645920" cy="292608"/>
          </a:xfrm>
          <a:prstGeom prst="rect">
            <a:avLst/>
          </a:prstGeom>
          <a:noFill/>
          <a:ln/>
        </p:spPr>
        <p:txBody>
          <a:bodyPr wrap="square" lIns="0" tIns="0" rIns="0" bIns="0" rtlCol="0" anchor="ctr"/>
          <a:lstStyle/>
          <a:p>
            <a:pPr indent="0" marL="0">
              <a:buNone/>
            </a:pPr>
            <a:r>
              <a:rPr lang="en-US" sz="1500" b="1" dirty="0">
                <a:solidFill>
                  <a:srgbClr val="12224A"/>
                </a:solidFill>
                <a:latin typeface="Arial" pitchFamily="34" charset="0"/>
                <a:ea typeface="Arial" pitchFamily="34" charset="-122"/>
                <a:cs typeface="Arial" pitchFamily="34" charset="-120"/>
              </a:rPr>
              <a:t>Procedimiento</a:t>
            </a:r>
            <a:endParaRPr lang="en-US" sz="1500" dirty="0"/>
          </a:p>
        </p:txBody>
      </p:sp>
      <p:sp>
        <p:nvSpPr>
          <p:cNvPr id="24" name="Text 22"/>
          <p:cNvSpPr txBox="1"/>
          <p:nvPr/>
        </p:nvSpPr>
        <p:spPr>
          <a:xfrm>
            <a:off x="6839712" y="2231136"/>
            <a:ext cx="1645920" cy="548640"/>
          </a:xfrm>
          <a:prstGeom prst="rect">
            <a:avLst/>
          </a:prstGeom>
          <a:noFill/>
          <a:ln/>
        </p:spPr>
        <p:txBody>
          <a:bodyPr wrap="square" lIns="0" tIns="0" rIns="0" bIns="0" rtlCol="0" anchor="t"/>
          <a:lstStyle/>
          <a:p>
            <a:pPr indent="0" marL="0">
              <a:lnSpc>
                <a:spcPts val="1200"/>
              </a:lnSpc>
              <a:buNone/>
            </a:pPr>
            <a:r>
              <a:rPr lang="en-US" sz="1000" dirty="0">
                <a:solidFill>
                  <a:srgbClr val="1F2937"/>
                </a:solidFill>
                <a:latin typeface="Arial" pitchFamily="34" charset="0"/>
                <a:ea typeface="Arial" pitchFamily="34" charset="-122"/>
                <a:cs typeface="Arial" pitchFamily="34" charset="-120"/>
              </a:rPr>
              <a:t>Pasos con responsable, plazo y evidencia</a:t>
            </a:r>
            <a:endParaRPr lang="en-US" sz="1000" dirty="0"/>
          </a:p>
        </p:txBody>
      </p:sp>
      <p:sp>
        <p:nvSpPr>
          <p:cNvPr id="25" name="Text 23"/>
          <p:cNvSpPr txBox="1"/>
          <p:nvPr/>
        </p:nvSpPr>
        <p:spPr>
          <a:xfrm>
            <a:off x="6839712" y="2798064"/>
            <a:ext cx="1645920" cy="310896"/>
          </a:xfrm>
          <a:prstGeom prst="rect">
            <a:avLst/>
          </a:prstGeom>
          <a:noFill/>
          <a:ln/>
        </p:spPr>
        <p:txBody>
          <a:bodyPr wrap="square" lIns="0" tIns="0" rIns="0" bIns="0" rtlCol="0" anchor="t"/>
          <a:lstStyle/>
          <a:p>
            <a:pPr indent="0" marL="0">
              <a:lnSpc>
                <a:spcPts val="1150"/>
              </a:lnSpc>
              <a:buNone/>
            </a:pPr>
            <a:r>
              <a:rPr lang="en-US" sz="950" i="1" dirty="0">
                <a:solidFill>
                  <a:srgbClr val="92400E"/>
                </a:solidFill>
                <a:latin typeface="Arial" pitchFamily="34" charset="0"/>
                <a:ea typeface="Arial" pitchFamily="34" charset="-122"/>
                <a:cs typeface="Arial" pitchFamily="34" charset="-120"/>
              </a:rPr>
              <a:t>¿Cómo, y cómo se prueba?</a:t>
            </a:r>
            <a:endParaRPr lang="en-US" sz="950" dirty="0"/>
          </a:p>
        </p:txBody>
      </p:sp>
      <p:sp>
        <p:nvSpPr>
          <p:cNvPr id="26" name="Shape 24"/>
          <p:cNvSpPr/>
          <p:nvPr/>
        </p:nvSpPr>
        <p:spPr>
          <a:xfrm>
            <a:off x="566928" y="3310128"/>
            <a:ext cx="8010144" cy="566928"/>
          </a:xfrm>
          <a:prstGeom prst="rect">
            <a:avLst/>
          </a:prstGeom>
          <a:solidFill>
            <a:srgbClr val="12224A"/>
          </a:solidFill>
          <a:ln w="12700">
            <a:solidFill>
              <a:srgbClr val="333333"/>
            </a:solidFill>
            <a:prstDash val="solid"/>
          </a:ln>
        </p:spPr>
      </p:sp>
      <p:sp>
        <p:nvSpPr>
          <p:cNvPr id="27" name="Text 25"/>
          <p:cNvSpPr txBox="1"/>
          <p:nvPr/>
        </p:nvSpPr>
        <p:spPr>
          <a:xfrm>
            <a:off x="786384" y="3310128"/>
            <a:ext cx="7571232" cy="566928"/>
          </a:xfrm>
          <a:prstGeom prst="rect">
            <a:avLst/>
          </a:prstGeom>
          <a:noFill/>
          <a:ln/>
        </p:spPr>
        <p:txBody>
          <a:bodyPr wrap="square" lIns="0" tIns="0" rIns="0" bIns="0" rtlCol="0" anchor="ctr"/>
          <a:lstStyle/>
          <a:p>
            <a:pPr indent="0" marL="0">
              <a:lnSpc>
                <a:spcPts val="1600"/>
              </a:lnSpc>
              <a:buNone/>
            </a:pPr>
            <a:r>
              <a:rPr lang="en-US" sz="1200" b="1" dirty="0">
                <a:solidFill>
                  <a:srgbClr val="F2A541"/>
                </a:solidFill>
                <a:latin typeface="Arial" pitchFamily="34" charset="0"/>
                <a:ea typeface="Arial" pitchFamily="34" charset="-122"/>
                <a:cs typeface="Arial" pitchFamily="34" charset="-120"/>
              </a:rPr>
              <a:t>El 37 Bis dice en cada fracción qué tipo de texto quiere.</a:t>
            </a:r>
            <a:pPr indent="0" marL="0">
              <a:lnSpc>
                <a:spcPts val="1600"/>
              </a:lnSpc>
              <a:buNone/>
            </a:pPr>
            <a:r>
              <a:rPr lang="en-US" sz="1200" dirty="0">
                <a:solidFill>
                  <a:srgbClr val="FFFFFF"/>
                </a:solidFill>
                <a:latin typeface="Arial" pitchFamily="34" charset="0"/>
                <a:ea typeface="Arial" pitchFamily="34" charset="-122"/>
                <a:cs typeface="Arial" pitchFamily="34" charset="-120"/>
              </a:rPr>
              <a:t>  La I pide criterios; la III y la XIII, medidas; la IV, VI y XIV, procedimientos; la II, V, VII, VIII, IX y XII, mecanismos.</a:t>
            </a:r>
            <a:endParaRPr lang="en-US" sz="1200" dirty="0"/>
          </a:p>
        </p:txBody>
      </p:sp>
      <p:sp>
        <p:nvSpPr>
          <p:cNvPr id="28" name="Text 26"/>
          <p:cNvSpPr txBox="1"/>
          <p:nvPr/>
        </p:nvSpPr>
        <p:spPr>
          <a:xfrm>
            <a:off x="566928" y="4023360"/>
            <a:ext cx="8010144" cy="512064"/>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La prueba: si una persona que entró ayer puede ejecutarlo sin preguntar, y al ejecutarlo queda rastro, está bien escrito. Sin responsable, sin plazo y sin evidencia es transcripción, no procedimiento.</a:t>
            </a:r>
            <a:endParaRPr lang="en-US" sz="1250" dirty="0"/>
          </a:p>
        </p:txBody>
      </p:sp>
      <p:sp>
        <p:nvSpPr>
          <p:cNvPr id="29" name="Text 27"/>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30" name="Text 28"/>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224A"/>
        </a:solidFill>
      </p:bgPr>
    </p:bg>
    <p:spTree>
      <p:nvGrpSpPr>
        <p:cNvPr id="1" name=""/>
        <p:cNvGrpSpPr/>
        <p:nvPr/>
      </p:nvGrpSpPr>
      <p:grpSpPr>
        <a:xfrm>
          <a:off x="0" y="0"/>
          <a:ext cx="0" cy="0"/>
          <a:chOff x="0" y="0"/>
          <a:chExt cx="0" cy="0"/>
        </a:xfrm>
      </p:grpSpPr>
      <p:sp>
        <p:nvSpPr>
          <p:cNvPr id="2" name="Shape 0"/>
          <p:cNvSpPr/>
          <p:nvPr/>
        </p:nvSpPr>
        <p:spPr>
          <a:xfrm>
            <a:off x="0" y="1225296"/>
            <a:ext cx="822960" cy="45720"/>
          </a:xfrm>
          <a:prstGeom prst="rect">
            <a:avLst/>
          </a:prstGeom>
          <a:solidFill>
            <a:srgbClr val="F2A541"/>
          </a:solidFill>
          <a:ln w="12700">
            <a:solidFill>
              <a:srgbClr val="333333"/>
            </a:solidFill>
            <a:prstDash val="solid"/>
          </a:ln>
        </p:spPr>
      </p:sp>
      <p:sp>
        <p:nvSpPr>
          <p:cNvPr id="3" name="Text 1"/>
          <p:cNvSpPr txBox="1"/>
          <p:nvPr/>
        </p:nvSpPr>
        <p:spPr>
          <a:xfrm>
            <a:off x="685800" y="877824"/>
            <a:ext cx="7772400" cy="274320"/>
          </a:xfrm>
          <a:prstGeom prst="rect">
            <a:avLst/>
          </a:prstGeom>
          <a:noFill/>
          <a:ln/>
        </p:spPr>
        <p:txBody>
          <a:bodyPr wrap="square" lIns="0" tIns="0" rIns="0" bIns="0" rtlCol="0" anchor="ctr"/>
          <a:lstStyle/>
          <a:p>
            <a:pPr indent="0" marL="0">
              <a:buNone/>
            </a:pPr>
            <a:r>
              <a:rPr lang="en-US" sz="1200" b="1" spc="160" kern="0" dirty="0">
                <a:solidFill>
                  <a:srgbClr val="F2A541"/>
                </a:solidFill>
                <a:latin typeface="Arial" pitchFamily="34" charset="0"/>
                <a:ea typeface="Arial" pitchFamily="34" charset="-122"/>
                <a:cs typeface="Arial" pitchFamily="34" charset="-120"/>
              </a:rPr>
              <a:t>EJERCICIO · 15 MINUTOS</a:t>
            </a:r>
            <a:endParaRPr lang="en-US" sz="1200" dirty="0"/>
          </a:p>
        </p:txBody>
      </p:sp>
      <p:sp>
        <p:nvSpPr>
          <p:cNvPr id="4" name="Text 2"/>
          <p:cNvSpPr txBox="1"/>
          <p:nvPr/>
        </p:nvSpPr>
        <p:spPr>
          <a:xfrm>
            <a:off x="685800" y="1389888"/>
            <a:ext cx="7772400" cy="47548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Escriban UN apartado, completo</a:t>
            </a:r>
            <a:endParaRPr lang="en-US" sz="3000" dirty="0"/>
          </a:p>
        </p:txBody>
      </p:sp>
      <p:sp>
        <p:nvSpPr>
          <p:cNvPr id="5" name="Text 3"/>
          <p:cNvSpPr txBox="1"/>
          <p:nvPr/>
        </p:nvSpPr>
        <p:spPr>
          <a:xfrm>
            <a:off x="685800" y="2139696"/>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33856" y="2103120"/>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Elijan UNA fracción del 37 Bis. No la más fácil: la que peor tengan hoy. En la guía, tabla del apartado 4, viene qué tipo de texto pide.</a:t>
            </a:r>
            <a:endParaRPr lang="en-US" sz="1350" dirty="0"/>
          </a:p>
        </p:txBody>
      </p:sp>
      <p:sp>
        <p:nvSpPr>
          <p:cNvPr id="7" name="Text 5"/>
          <p:cNvSpPr txBox="1"/>
          <p:nvPr/>
        </p:nvSpPr>
        <p:spPr>
          <a:xfrm>
            <a:off x="685800" y="2706624"/>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133856" y="2670048"/>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Escriban los cuatro escalones: política de una frase, criterio que resuelva la discusión que ese tema les provoca, medida que ya exista, y el procedimiento en tabla.</a:t>
            </a:r>
            <a:endParaRPr lang="en-US" sz="1350" dirty="0"/>
          </a:p>
        </p:txBody>
      </p:sp>
      <p:sp>
        <p:nvSpPr>
          <p:cNvPr id="9" name="Text 7"/>
          <p:cNvSpPr txBox="1"/>
          <p:nvPr/>
        </p:nvSpPr>
        <p:spPr>
          <a:xfrm>
            <a:off x="685800" y="3273552"/>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1133856" y="3236976"/>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Cada paso del procedimiento lleva responsable, plazo y la evidencia que deja. Sin esos tres, no es un paso.</a:t>
            </a:r>
            <a:endParaRPr lang="en-US" sz="1350" dirty="0"/>
          </a:p>
        </p:txBody>
      </p:sp>
      <p:sp>
        <p:nvSpPr>
          <p:cNvPr id="11" name="Text 9"/>
          <p:cNvSpPr txBox="1"/>
          <p:nvPr/>
        </p:nvSpPr>
        <p:spPr>
          <a:xfrm>
            <a:off x="685800" y="3840480"/>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1133856" y="3803904"/>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Pásenlo por la lista de nueve preguntas del apartado 11 de la guía, y escriban en el chat cuáles no pasaron.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La política de PEP dentro del manual</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La fracción IV es la única del 37 Bis que la Ley menciona por su nombre.</a:t>
            </a:r>
            <a:endParaRPr lang="en-US" sz="1300" dirty="0"/>
          </a:p>
        </p:txBody>
      </p:sp>
      <p:sp>
        <p:nvSpPr>
          <p:cNvPr id="4" name="Text 2"/>
          <p:cNvSpPr txBox="1"/>
          <p:nvPr/>
        </p:nvSpPr>
        <p:spPr>
          <a:xfrm>
            <a:off x="566928" y="1207008"/>
            <a:ext cx="1020470"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18 fr. VIII</a:t>
            </a:r>
            <a:endParaRPr lang="en-US" sz="1000" dirty="0"/>
          </a:p>
        </p:txBody>
      </p:sp>
      <p:sp>
        <p:nvSpPr>
          <p:cNvPr id="5" name="Text 3"/>
          <p:cNvSpPr txBox="1"/>
          <p:nvPr/>
        </p:nvSpPr>
        <p:spPr>
          <a:xfrm>
            <a:off x="1697126" y="1207008"/>
            <a:ext cx="1283818"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 Bis fr. IV</a:t>
            </a:r>
            <a:endParaRPr lang="en-US" sz="1000" dirty="0"/>
          </a:p>
        </p:txBody>
      </p:sp>
      <p:sp>
        <p:nvSpPr>
          <p:cNvPr id="6" name="Text 4"/>
          <p:cNvSpPr txBox="1"/>
          <p:nvPr/>
        </p:nvSpPr>
        <p:spPr>
          <a:xfrm>
            <a:off x="3090672" y="1207008"/>
            <a:ext cx="102047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23 Quáter</a:t>
            </a:r>
            <a:endParaRPr lang="en-US" sz="1000" dirty="0"/>
          </a:p>
        </p:txBody>
      </p:sp>
      <p:sp>
        <p:nvSpPr>
          <p:cNvPr id="7" name="Text 5"/>
          <p:cNvSpPr txBox="1"/>
          <p:nvPr/>
        </p:nvSpPr>
        <p:spPr>
          <a:xfrm>
            <a:off x="566928" y="1627632"/>
            <a:ext cx="8010144" cy="2967228"/>
          </a:xfrm>
          <a:prstGeom prst="rect">
            <a:avLst/>
          </a:prstGeom>
          <a:noFill/>
          <a:ln/>
        </p:spPr>
        <p:txBody>
          <a:bodyPr wrap="square" lIns="0" tIns="0" rIns="0" bIns="0" rtlCol="0" anchor="t"/>
          <a:lstStyle/>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Quién es PEP: quien desempeña o ha desempeñado funciones públicas, en México o en el extranjero. Jefes de estado, líderes políticos, funcionarios gubernamentales, judiciales o militares de alta jerarquía, altos ejecutivos de empresas estatales, miembros importantes de partidos y de organizaciones internacionales.</a:t>
            </a:r>
            <a:endParaRPr lang="en-US" sz="1350" dirty="0"/>
          </a:p>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Y por asimilación: cónyuge, concubina, concubinario, parentesco por consanguinidad o afinidad hasta segundo grado, y socios o asociados de personas morales con vínculos patrimoniales.</a:t>
            </a:r>
            <a:endParaRPr lang="en-US" sz="1350" dirty="0"/>
          </a:p>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La regla del año, que casi nadie tiene: sigue siendo PEP nacional durante el año siguiente a dejar el cargo. Y si lo dejó dentro del año anterior a operar con usted, se cataloga como PEP durante el año siguiente a esa operación.</a:t>
            </a:r>
            <a:endParaRPr lang="en-US" sz="1350" dirty="0"/>
          </a:p>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La aplicación Consulta PEP 2.0 se entra con e.firma y estará disponible hasta el 30 de agosto de 2027. Hasta entonces, su manual tiene que decir contra qué fuentes verifica.</a:t>
            </a:r>
            <a:endParaRPr lang="en-US" sz="1350" dirty="0"/>
          </a:p>
        </p:txBody>
      </p:sp>
      <p:sp>
        <p:nvSpPr>
          <p:cNvPr id="8" name="Text 6"/>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9" name="Text 7"/>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Dos condiciones, no una</a:t>
            </a:r>
            <a:endParaRPr lang="en-US" sz="2800" dirty="0"/>
          </a:p>
        </p:txBody>
      </p:sp>
      <p:sp>
        <p:nvSpPr>
          <p:cNvPr id="3" name="Text 1"/>
          <p:cNvSpPr txBox="1"/>
          <p:nvPr/>
        </p:nvSpPr>
        <p:spPr>
          <a:xfrm>
            <a:off x="566928" y="1133856"/>
            <a:ext cx="95463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23 Ter 5</a:t>
            </a:r>
            <a:endParaRPr lang="en-US" sz="1000" dirty="0"/>
          </a:p>
        </p:txBody>
      </p:sp>
      <p:sp>
        <p:nvSpPr>
          <p:cNvPr id="4" name="Shape 2"/>
          <p:cNvSpPr/>
          <p:nvPr/>
        </p:nvSpPr>
        <p:spPr>
          <a:xfrm>
            <a:off x="566928" y="1572768"/>
            <a:ext cx="2286000" cy="1133856"/>
          </a:xfrm>
          <a:prstGeom prst="roundRect">
            <a:avLst>
              <a:gd name="adj" fmla="val 4839"/>
            </a:avLst>
          </a:prstGeom>
          <a:solidFill>
            <a:srgbClr val="F5F6F9"/>
          </a:solidFill>
          <a:ln w="12700">
            <a:solidFill>
              <a:srgbClr val="D1D5DB"/>
            </a:solidFill>
            <a:prstDash val="solid"/>
          </a:ln>
        </p:spPr>
      </p:sp>
      <p:sp>
        <p:nvSpPr>
          <p:cNvPr id="5" name="Text 3"/>
          <p:cNvSpPr txBox="1"/>
          <p:nvPr/>
        </p:nvSpPr>
        <p:spPr>
          <a:xfrm>
            <a:off x="713232" y="1700784"/>
            <a:ext cx="1993392" cy="384048"/>
          </a:xfrm>
          <a:prstGeom prst="rect">
            <a:avLst/>
          </a:prstGeom>
          <a:noFill/>
          <a:ln/>
        </p:spPr>
        <p:txBody>
          <a:bodyPr wrap="square" lIns="0" tIns="0" rIns="0" bIns="0" rtlCol="0" anchor="ctr"/>
          <a:lstStyle/>
          <a:p>
            <a:pPr algn="ctr" indent="0" marL="0">
              <a:buNone/>
            </a:pPr>
            <a:r>
              <a:rPr lang="en-US" sz="1600" b="1" dirty="0">
                <a:solidFill>
                  <a:srgbClr val="12224A"/>
                </a:solidFill>
                <a:latin typeface="Arial" pitchFamily="34" charset="0"/>
                <a:ea typeface="Arial" pitchFamily="34" charset="-122"/>
                <a:cs typeface="Arial" pitchFamily="34" charset="-120"/>
              </a:rPr>
              <a:t>Es PEP</a:t>
            </a:r>
            <a:endParaRPr lang="en-US" sz="1600" dirty="0"/>
          </a:p>
        </p:txBody>
      </p:sp>
      <p:sp>
        <p:nvSpPr>
          <p:cNvPr id="6" name="Text 4"/>
          <p:cNvSpPr txBox="1"/>
          <p:nvPr/>
        </p:nvSpPr>
        <p:spPr>
          <a:xfrm>
            <a:off x="713232" y="2084832"/>
            <a:ext cx="1993392" cy="512064"/>
          </a:xfrm>
          <a:prstGeom prst="rect">
            <a:avLst/>
          </a:prstGeom>
          <a:noFill/>
          <a:ln/>
        </p:spPr>
        <p:txBody>
          <a:bodyPr wrap="square" lIns="0" tIns="0" rIns="0" bIns="0" rtlCol="0" anchor="t"/>
          <a:lstStyle/>
          <a:p>
            <a:pPr algn="ctr" indent="0" marL="0">
              <a:lnSpc>
                <a:spcPts val="1500"/>
              </a:lnSpc>
              <a:buNone/>
            </a:pPr>
            <a:r>
              <a:rPr lang="en-US" sz="1150" dirty="0">
                <a:solidFill>
                  <a:srgbClr val="6B7280"/>
                </a:solidFill>
                <a:latin typeface="Arial" pitchFamily="34" charset="0"/>
                <a:ea typeface="Arial" pitchFamily="34" charset="-122"/>
                <a:cs typeface="Arial" pitchFamily="34" charset="-120"/>
              </a:rPr>
              <a:t>Nacional, extranjera o asimilada</a:t>
            </a:r>
            <a:endParaRPr lang="en-US" sz="1150" dirty="0"/>
          </a:p>
        </p:txBody>
      </p:sp>
      <p:sp>
        <p:nvSpPr>
          <p:cNvPr id="7" name="Text 5"/>
          <p:cNvSpPr txBox="1"/>
          <p:nvPr/>
        </p:nvSpPr>
        <p:spPr>
          <a:xfrm>
            <a:off x="2962656" y="1572768"/>
            <a:ext cx="457200" cy="1133856"/>
          </a:xfrm>
          <a:prstGeom prst="rect">
            <a:avLst/>
          </a:prstGeom>
          <a:noFill/>
          <a:ln/>
        </p:spPr>
        <p:txBody>
          <a:bodyPr wrap="square" lIns="0" tIns="0" rIns="0" bIns="0" rtlCol="0" anchor="ctr"/>
          <a:lstStyle/>
          <a:p>
            <a:pPr algn="ctr" indent="0" marL="0">
              <a:buNone/>
            </a:pPr>
            <a:r>
              <a:rPr lang="en-US" sz="3000" b="1" dirty="0">
                <a:solidFill>
                  <a:srgbClr val="F2A541"/>
                </a:solidFill>
                <a:latin typeface="Cambria" pitchFamily="34" charset="0"/>
                <a:ea typeface="Cambria" pitchFamily="34" charset="-122"/>
                <a:cs typeface="Cambria" pitchFamily="34" charset="-120"/>
              </a:rPr>
              <a:t>+</a:t>
            </a:r>
            <a:endParaRPr lang="en-US" sz="3000" dirty="0"/>
          </a:p>
        </p:txBody>
      </p:sp>
      <p:sp>
        <p:nvSpPr>
          <p:cNvPr id="8" name="Shape 6"/>
          <p:cNvSpPr/>
          <p:nvPr/>
        </p:nvSpPr>
        <p:spPr>
          <a:xfrm>
            <a:off x="3529584" y="1572768"/>
            <a:ext cx="2286000" cy="1133856"/>
          </a:xfrm>
          <a:prstGeom prst="roundRect">
            <a:avLst>
              <a:gd name="adj" fmla="val 4839"/>
            </a:avLst>
          </a:prstGeom>
          <a:solidFill>
            <a:srgbClr val="F5F6F9"/>
          </a:solidFill>
          <a:ln w="12700">
            <a:solidFill>
              <a:srgbClr val="D1D5DB"/>
            </a:solidFill>
            <a:prstDash val="solid"/>
          </a:ln>
        </p:spPr>
      </p:sp>
      <p:sp>
        <p:nvSpPr>
          <p:cNvPr id="9" name="Text 7"/>
          <p:cNvSpPr txBox="1"/>
          <p:nvPr/>
        </p:nvSpPr>
        <p:spPr>
          <a:xfrm>
            <a:off x="3675888" y="1700784"/>
            <a:ext cx="1993392" cy="384048"/>
          </a:xfrm>
          <a:prstGeom prst="rect">
            <a:avLst/>
          </a:prstGeom>
          <a:noFill/>
          <a:ln/>
        </p:spPr>
        <p:txBody>
          <a:bodyPr wrap="square" lIns="0" tIns="0" rIns="0" bIns="0" rtlCol="0" anchor="ctr"/>
          <a:lstStyle/>
          <a:p>
            <a:pPr algn="ctr" indent="0" marL="0">
              <a:buNone/>
            </a:pPr>
            <a:r>
              <a:rPr lang="en-US" sz="1600" b="1" dirty="0">
                <a:solidFill>
                  <a:srgbClr val="12224A"/>
                </a:solidFill>
                <a:latin typeface="Arial" pitchFamily="34" charset="0"/>
                <a:ea typeface="Arial" pitchFamily="34" charset="-122"/>
                <a:cs typeface="Arial" pitchFamily="34" charset="-120"/>
              </a:rPr>
              <a:t>Grado de Riesgo alto</a:t>
            </a:r>
            <a:endParaRPr lang="en-US" sz="1600" dirty="0"/>
          </a:p>
        </p:txBody>
      </p:sp>
      <p:sp>
        <p:nvSpPr>
          <p:cNvPr id="10" name="Text 8"/>
          <p:cNvSpPr txBox="1"/>
          <p:nvPr/>
        </p:nvSpPr>
        <p:spPr>
          <a:xfrm>
            <a:off x="3675888" y="2084832"/>
            <a:ext cx="1993392" cy="512064"/>
          </a:xfrm>
          <a:prstGeom prst="rect">
            <a:avLst/>
          </a:prstGeom>
          <a:noFill/>
          <a:ln/>
        </p:spPr>
        <p:txBody>
          <a:bodyPr wrap="square" lIns="0" tIns="0" rIns="0" bIns="0" rtlCol="0" anchor="t"/>
          <a:lstStyle/>
          <a:p>
            <a:pPr algn="ctr" indent="0" marL="0">
              <a:lnSpc>
                <a:spcPts val="1500"/>
              </a:lnSpc>
              <a:buNone/>
            </a:pPr>
            <a:r>
              <a:rPr lang="en-US" sz="1150" dirty="0">
                <a:solidFill>
                  <a:srgbClr val="6B7280"/>
                </a:solidFill>
                <a:latin typeface="Arial" pitchFamily="34" charset="0"/>
                <a:ea typeface="Arial" pitchFamily="34" charset="-122"/>
                <a:cs typeface="Arial" pitchFamily="34" charset="-120"/>
              </a:rPr>
              <a:t>Según su propio modelo</a:t>
            </a:r>
            <a:endParaRPr lang="en-US" sz="1150" dirty="0"/>
          </a:p>
        </p:txBody>
      </p:sp>
      <p:sp>
        <p:nvSpPr>
          <p:cNvPr id="11" name="Text 9"/>
          <p:cNvSpPr txBox="1"/>
          <p:nvPr/>
        </p:nvSpPr>
        <p:spPr>
          <a:xfrm>
            <a:off x="5925312" y="1572768"/>
            <a:ext cx="457200" cy="1133856"/>
          </a:xfrm>
          <a:prstGeom prst="rect">
            <a:avLst/>
          </a:prstGeom>
          <a:noFill/>
          <a:ln/>
        </p:spPr>
        <p:txBody>
          <a:bodyPr wrap="square" lIns="0" tIns="0" rIns="0" bIns="0" rtlCol="0" anchor="ctr"/>
          <a:lstStyle/>
          <a:p>
            <a:pPr algn="ctr" indent="0" marL="0">
              <a:buNone/>
            </a:pPr>
            <a:r>
              <a:rPr lang="en-US" sz="3000" b="1" dirty="0">
                <a:solidFill>
                  <a:srgbClr val="F2A541"/>
                </a:solidFill>
                <a:latin typeface="Cambria" pitchFamily="34" charset="0"/>
                <a:ea typeface="Cambria" pitchFamily="34" charset="-122"/>
                <a:cs typeface="Cambria" pitchFamily="34" charset="-120"/>
              </a:rPr>
              <a:t>=</a:t>
            </a:r>
            <a:endParaRPr lang="en-US" sz="3000" dirty="0"/>
          </a:p>
        </p:txBody>
      </p:sp>
      <p:sp>
        <p:nvSpPr>
          <p:cNvPr id="12" name="Shape 10"/>
          <p:cNvSpPr/>
          <p:nvPr/>
        </p:nvSpPr>
        <p:spPr>
          <a:xfrm>
            <a:off x="6492240" y="1572768"/>
            <a:ext cx="2084832" cy="1133856"/>
          </a:xfrm>
          <a:prstGeom prst="roundRect">
            <a:avLst>
              <a:gd name="adj" fmla="val 4839"/>
            </a:avLst>
          </a:prstGeom>
          <a:solidFill>
            <a:srgbClr val="FDF3E3"/>
          </a:solidFill>
          <a:ln w="19050">
            <a:solidFill>
              <a:srgbClr val="F2A541"/>
            </a:solidFill>
            <a:prstDash val="solid"/>
          </a:ln>
        </p:spPr>
      </p:sp>
      <p:sp>
        <p:nvSpPr>
          <p:cNvPr id="13" name="Text 11"/>
          <p:cNvSpPr txBox="1"/>
          <p:nvPr/>
        </p:nvSpPr>
        <p:spPr>
          <a:xfrm>
            <a:off x="6620256" y="1700784"/>
            <a:ext cx="1828800" cy="877824"/>
          </a:xfrm>
          <a:prstGeom prst="rect">
            <a:avLst/>
          </a:prstGeom>
          <a:noFill/>
          <a:ln/>
        </p:spPr>
        <p:txBody>
          <a:bodyPr wrap="square" lIns="0" tIns="0" rIns="0" bIns="0" rtlCol="0" anchor="ctr"/>
          <a:lstStyle/>
          <a:p>
            <a:pPr algn="ctr" indent="0" marL="0">
              <a:lnSpc>
                <a:spcPts val="1800"/>
              </a:lnSpc>
              <a:buNone/>
            </a:pPr>
            <a:r>
              <a:rPr lang="en-US" sz="1400" b="1" dirty="0">
                <a:solidFill>
                  <a:srgbClr val="92400E"/>
                </a:solidFill>
                <a:latin typeface="Arial" pitchFamily="34" charset="0"/>
                <a:ea typeface="Arial" pitchFamily="34" charset="-122"/>
                <a:cs typeface="Arial" pitchFamily="34" charset="-120"/>
              </a:rPr>
              <a:t>Aprobación de un directivo</a:t>
            </a:r>
            <a:endParaRPr lang="en-US" sz="1400" dirty="0"/>
          </a:p>
        </p:txBody>
      </p:sp>
      <p:sp>
        <p:nvSpPr>
          <p:cNvPr id="14" name="Text 12"/>
          <p:cNvSpPr txBox="1"/>
          <p:nvPr/>
        </p:nvSpPr>
        <p:spPr>
          <a:xfrm>
            <a:off x="566928" y="2871216"/>
            <a:ext cx="8010144" cy="1723644"/>
          </a:xfrm>
          <a:prstGeom prst="rect">
            <a:avLst/>
          </a:prstGeom>
          <a:noFill/>
          <a:ln/>
        </p:spPr>
        <p:txBody>
          <a:bodyPr wrap="square" lIns="0" tIns="0" rIns="0" bIns="0" rtlCol="0" anchor="t"/>
          <a:lstStyle/>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Ser PEP, por sí solo, NO dispara esta aprobación. Tienen que concurrir las dos condiciones.</a:t>
            </a:r>
            <a:endParaRPr lang="en-US" sz="1350" dirty="0"/>
          </a:p>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Aplica «previamente o con posterioridad» al acto u operación. El texto lo dice así.</a:t>
            </a:r>
            <a:endParaRPr lang="en-US" sz="1350" dirty="0"/>
          </a:p>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Y remite a «lo que al efecto se establezca en su Manual de Políticas Internas»: sin el apartado escrito, el formato no funciona.</a:t>
            </a:r>
            <a:endParaRPr lang="en-US" sz="1350" dirty="0"/>
          </a:p>
          <a:p>
            <a:pPr marL="342900" indent="-342900">
              <a:lnSpc>
                <a:spcPts val="1917"/>
              </a:lnSpc>
              <a:spcAft>
                <a:spcPts val="800"/>
              </a:spcAft>
              <a:buSzPct val="100000"/>
              <a:buChar char="•"/>
            </a:pPr>
            <a:r>
              <a:rPr lang="en-US" sz="1350" dirty="0">
                <a:solidFill>
                  <a:srgbClr val="1F2937"/>
                </a:solidFill>
                <a:latin typeface="Arial" pitchFamily="34" charset="0"/>
                <a:ea typeface="Arial" pitchFamily="34" charset="-122"/>
                <a:cs typeface="Arial" pitchFamily="34" charset="-120"/>
              </a:rPr>
              <a:t>Persona física que realiza la Actividad Vulnerable: no hay directivo a quien pedirle. Se subsana con constancia motivada — escrita, no una casilla marcada.</a:t>
            </a:r>
            <a:endParaRPr lang="en-US" sz="1350" dirty="0"/>
          </a:p>
        </p:txBody>
      </p:sp>
      <p:sp>
        <p:nvSpPr>
          <p:cNvPr id="15" name="Text 13"/>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6" name="Text 14"/>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8046720" cy="786384"/>
          </a:xfrm>
          <a:prstGeom prst="rect">
            <a:avLst/>
          </a:prstGeom>
          <a:noFill/>
          <a:ln/>
        </p:spPr>
        <p:txBody>
          <a:bodyPr wrap="square" lIns="0" tIns="0" rIns="0" bIns="0" rtlCol="0" anchor="t"/>
          <a:lstStyle/>
          <a:p>
            <a:pPr indent="0" marL="0">
              <a:buNone/>
            </a:pPr>
            <a:r>
              <a:rPr lang="en-US" sz="2500" b="1" dirty="0">
                <a:solidFill>
                  <a:srgbClr val="12224A"/>
                </a:solidFill>
                <a:latin typeface="Cambria" pitchFamily="34" charset="0"/>
                <a:ea typeface="Cambria" pitchFamily="34" charset="-122"/>
                <a:cs typeface="Cambria" pitchFamily="34" charset="-120"/>
              </a:rPr>
              <a:t>El acta que todo el mundo pide y nadie puede fundamentar</a:t>
            </a:r>
            <a:endParaRPr lang="en-US" sz="2500" dirty="0"/>
          </a:p>
        </p:txBody>
      </p:sp>
      <p:sp>
        <p:nvSpPr>
          <p:cNvPr id="3" name="Shape 1"/>
          <p:cNvSpPr/>
          <p:nvPr/>
        </p:nvSpPr>
        <p:spPr>
          <a:xfrm>
            <a:off x="566928" y="1298448"/>
            <a:ext cx="8010144" cy="1627632"/>
          </a:xfrm>
          <a:prstGeom prst="roundRect">
            <a:avLst>
              <a:gd name="adj" fmla="val 3371"/>
            </a:avLst>
          </a:prstGeom>
          <a:solidFill>
            <a:srgbClr val="FDF3E3"/>
          </a:solidFill>
          <a:ln w="12700">
            <a:solidFill>
              <a:srgbClr val="F2A541"/>
            </a:solidFill>
            <a:prstDash val="solid"/>
          </a:ln>
        </p:spPr>
      </p:sp>
      <p:sp>
        <p:nvSpPr>
          <p:cNvPr id="4" name="Text 2"/>
          <p:cNvSpPr txBox="1"/>
          <p:nvPr/>
        </p:nvSpPr>
        <p:spPr>
          <a:xfrm>
            <a:off x="822960" y="1389888"/>
            <a:ext cx="7498080" cy="420624"/>
          </a:xfrm>
          <a:prstGeom prst="rect">
            <a:avLst/>
          </a:prstGeom>
          <a:noFill/>
          <a:ln/>
        </p:spPr>
        <p:txBody>
          <a:bodyPr wrap="square" lIns="0" tIns="0" rIns="0" bIns="0" rtlCol="0" anchor="t"/>
          <a:lstStyle/>
          <a:p>
            <a:pPr indent="0" marL="0">
              <a:lnSpc>
                <a:spcPts val="1700"/>
              </a:lnSpc>
              <a:buNone/>
            </a:pPr>
            <a:r>
              <a:rPr lang="en-US" sz="1300" dirty="0">
                <a:solidFill>
                  <a:srgbClr val="1F2937"/>
                </a:solidFill>
                <a:latin typeface="Arial" pitchFamily="34" charset="0"/>
                <a:ea typeface="Arial" pitchFamily="34" charset="-122"/>
                <a:cs typeface="Arial" pitchFamily="34" charset="-120"/>
              </a:rPr>
              <a:t>Se cotejaron el RCG 37, el 37 Bis, el 37 Bis 1, el 37 Bis 2, el 37 Bis 3, el artículo 18 de la Ley y el Reglamento completo.</a:t>
            </a:r>
            <a:endParaRPr lang="en-US" sz="1300" dirty="0"/>
          </a:p>
        </p:txBody>
      </p:sp>
      <p:sp>
        <p:nvSpPr>
          <p:cNvPr id="5" name="Text 3"/>
          <p:cNvSpPr txBox="1"/>
          <p:nvPr/>
        </p:nvSpPr>
        <p:spPr>
          <a:xfrm>
            <a:off x="822960" y="1847088"/>
            <a:ext cx="7498080" cy="603504"/>
          </a:xfrm>
          <a:prstGeom prst="rect">
            <a:avLst/>
          </a:prstGeom>
          <a:noFill/>
          <a:ln/>
        </p:spPr>
        <p:txBody>
          <a:bodyPr wrap="square" lIns="0" tIns="0" rIns="0" bIns="0" rtlCol="0" anchor="t"/>
          <a:lstStyle/>
          <a:p>
            <a:pPr indent="0" marL="0">
              <a:lnSpc>
                <a:spcPts val="2300"/>
              </a:lnSpc>
              <a:buNone/>
            </a:pPr>
            <a:r>
              <a:rPr lang="en-US" sz="1800" b="1" dirty="0">
                <a:solidFill>
                  <a:srgbClr val="92400E"/>
                </a:solidFill>
                <a:latin typeface="Arial" pitchFamily="34" charset="0"/>
                <a:ea typeface="Arial" pitchFamily="34" charset="-122"/>
                <a:cs typeface="Arial" pitchFamily="34" charset="-120"/>
              </a:rPr>
              <a:t>Ninguna disposición exige que el órgano de administración apruebe el Manual.</a:t>
            </a:r>
            <a:endParaRPr lang="en-US" sz="1800" dirty="0"/>
          </a:p>
        </p:txBody>
      </p:sp>
      <p:sp>
        <p:nvSpPr>
          <p:cNvPr id="6" name="Text 4"/>
          <p:cNvSpPr txBox="1"/>
          <p:nvPr/>
        </p:nvSpPr>
        <p:spPr>
          <a:xfrm>
            <a:off x="822960" y="2468880"/>
            <a:ext cx="7498080" cy="384048"/>
          </a:xfrm>
          <a:prstGeom prst="rect">
            <a:avLst/>
          </a:prstGeom>
          <a:noFill/>
          <a:ln/>
        </p:spPr>
        <p:txBody>
          <a:bodyPr wrap="square" lIns="0" tIns="0" rIns="0" bIns="0" rtlCol="0" anchor="t"/>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Si su consejo lo aprueba por gobierno corporativo, perfecto. Pero no lo cite con artículo, porque no lo hay.</a:t>
            </a:r>
            <a:endParaRPr lang="en-US" sz="1250" dirty="0"/>
          </a:p>
        </p:txBody>
      </p:sp>
      <p:sp>
        <p:nvSpPr>
          <p:cNvPr id="7" name="Text 5"/>
          <p:cNvSpPr txBox="1"/>
          <p:nvPr/>
        </p:nvSpPr>
        <p:spPr>
          <a:xfrm>
            <a:off x="566928" y="2962656"/>
            <a:ext cx="8010144" cy="384048"/>
          </a:xfrm>
          <a:prstGeom prst="rect">
            <a:avLst/>
          </a:prstGeom>
          <a:noFill/>
          <a:ln/>
        </p:spPr>
        <p:txBody>
          <a:bodyPr wrap="square" lIns="0" tIns="0" rIns="0" bIns="0" rtlCol="0" anchor="ctr"/>
          <a:lstStyle/>
          <a:p>
            <a:pPr indent="0" marL="0">
              <a:lnSpc>
                <a:spcPts val="1600"/>
              </a:lnSpc>
              <a:buNone/>
            </a:pPr>
            <a:r>
              <a:rPr lang="en-US" sz="1250" b="1" dirty="0">
                <a:solidFill>
                  <a:srgbClr val="12224A"/>
                </a:solidFill>
                <a:latin typeface="Arial" pitchFamily="34" charset="0"/>
                <a:ea typeface="Arial" pitchFamily="34" charset="-122"/>
                <a:cs typeface="Arial" pitchFamily="34" charset="-120"/>
              </a:rPr>
              <a:t>Tampoco para la evaluación: el RCG 10 Septies 3 sólo pide que las revisiones «consten por escrito». Lo que la norma sí manda al órgano de gobierno son dos cosas:</a:t>
            </a:r>
            <a:endParaRPr lang="en-US" sz="1250" dirty="0"/>
          </a:p>
        </p:txBody>
      </p:sp>
      <p:sp>
        <p:nvSpPr>
          <p:cNvPr id="8" name="Shape 6"/>
          <p:cNvSpPr/>
          <p:nvPr/>
        </p:nvSpPr>
        <p:spPr>
          <a:xfrm>
            <a:off x="566928" y="3419856"/>
            <a:ext cx="3931920" cy="1097280"/>
          </a:xfrm>
          <a:prstGeom prst="roundRect">
            <a:avLst>
              <a:gd name="adj" fmla="val 5000"/>
            </a:avLst>
          </a:prstGeom>
          <a:solidFill>
            <a:srgbClr val="F5F6F9"/>
          </a:solidFill>
          <a:ln w="12700">
            <a:solidFill>
              <a:srgbClr val="E5E7EB"/>
            </a:solidFill>
            <a:prstDash val="solid"/>
          </a:ln>
        </p:spPr>
      </p:sp>
      <p:sp>
        <p:nvSpPr>
          <p:cNvPr id="9" name="Text 7"/>
          <p:cNvSpPr txBox="1"/>
          <p:nvPr/>
        </p:nvSpPr>
        <p:spPr>
          <a:xfrm>
            <a:off x="786384" y="3511296"/>
            <a:ext cx="137160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23 Ter 5</a:t>
            </a:r>
            <a:endParaRPr lang="en-US" sz="1000" dirty="0"/>
          </a:p>
        </p:txBody>
      </p:sp>
      <p:sp>
        <p:nvSpPr>
          <p:cNvPr id="10" name="Text 8"/>
          <p:cNvSpPr txBox="1"/>
          <p:nvPr/>
        </p:nvSpPr>
        <p:spPr>
          <a:xfrm>
            <a:off x="786384" y="3803904"/>
            <a:ext cx="3493008" cy="658368"/>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La aprobación de un directivo para operar con PEP de Grado alto. Es por operación, no por documento.</a:t>
            </a:r>
            <a:endParaRPr lang="en-US" sz="1250" dirty="0"/>
          </a:p>
        </p:txBody>
      </p:sp>
      <p:sp>
        <p:nvSpPr>
          <p:cNvPr id="11" name="Shape 9"/>
          <p:cNvSpPr/>
          <p:nvPr/>
        </p:nvSpPr>
        <p:spPr>
          <a:xfrm>
            <a:off x="4645152" y="3419856"/>
            <a:ext cx="3931920" cy="1097280"/>
          </a:xfrm>
          <a:prstGeom prst="roundRect">
            <a:avLst>
              <a:gd name="adj" fmla="val 5000"/>
            </a:avLst>
          </a:prstGeom>
          <a:solidFill>
            <a:srgbClr val="F5F6F9"/>
          </a:solidFill>
          <a:ln w="12700">
            <a:solidFill>
              <a:srgbClr val="E5E7EB"/>
            </a:solidFill>
            <a:prstDash val="solid"/>
          </a:ln>
        </p:spPr>
      </p:sp>
      <p:sp>
        <p:nvSpPr>
          <p:cNvPr id="12" name="Text 10"/>
          <p:cNvSpPr txBox="1"/>
          <p:nvPr/>
        </p:nvSpPr>
        <p:spPr>
          <a:xfrm>
            <a:off x="4864608" y="3511296"/>
            <a:ext cx="146304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42 párr. 2</a:t>
            </a:r>
            <a:endParaRPr lang="en-US" sz="1000" dirty="0"/>
          </a:p>
        </p:txBody>
      </p:sp>
      <p:sp>
        <p:nvSpPr>
          <p:cNvPr id="13" name="Text 11"/>
          <p:cNvSpPr txBox="1"/>
          <p:nvPr/>
        </p:nvSpPr>
        <p:spPr>
          <a:xfrm>
            <a:off x="4864608" y="3803904"/>
            <a:ext cx="3493008" cy="658368"/>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El dictamen de auditoría, que sí se presenta al consejo, al administrador único o a la dirección general.</a:t>
            </a:r>
            <a:endParaRPr lang="en-US" sz="1250" dirty="0"/>
          </a:p>
        </p:txBody>
      </p:sp>
      <p:sp>
        <p:nvSpPr>
          <p:cNvPr id="14" name="Text 12"/>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5" name="Text 13"/>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224A"/>
        </a:solidFill>
      </p:bgPr>
    </p:bg>
    <p:spTree>
      <p:nvGrpSpPr>
        <p:cNvPr id="1" name=""/>
        <p:cNvGrpSpPr/>
        <p:nvPr/>
      </p:nvGrpSpPr>
      <p:grpSpPr>
        <a:xfrm>
          <a:off x="0" y="0"/>
          <a:ext cx="0" cy="0"/>
          <a:chOff x="0" y="0"/>
          <a:chExt cx="0" cy="0"/>
        </a:xfrm>
      </p:grpSpPr>
      <p:sp>
        <p:nvSpPr>
          <p:cNvPr id="2" name="Shape 0"/>
          <p:cNvSpPr/>
          <p:nvPr/>
        </p:nvSpPr>
        <p:spPr>
          <a:xfrm>
            <a:off x="0" y="2377440"/>
            <a:ext cx="822960" cy="45720"/>
          </a:xfrm>
          <a:prstGeom prst="rect">
            <a:avLst/>
          </a:prstGeom>
          <a:solidFill>
            <a:srgbClr val="F2A541"/>
          </a:solidFill>
          <a:ln w="12700">
            <a:solidFill>
              <a:srgbClr val="333333"/>
            </a:solidFill>
            <a:prstDash val="solid"/>
          </a:ln>
        </p:spPr>
      </p:sp>
      <p:sp>
        <p:nvSpPr>
          <p:cNvPr id="3" name="Text 1"/>
          <p:cNvSpPr txBox="1"/>
          <p:nvPr/>
        </p:nvSpPr>
        <p:spPr>
          <a:xfrm>
            <a:off x="685800" y="2029968"/>
            <a:ext cx="7772400" cy="274320"/>
          </a:xfrm>
          <a:prstGeom prst="rect">
            <a:avLst/>
          </a:prstGeom>
          <a:noFill/>
          <a:ln/>
        </p:spPr>
        <p:txBody>
          <a:bodyPr wrap="square" lIns="0" tIns="0" rIns="0" bIns="0" rtlCol="0" anchor="ctr"/>
          <a:lstStyle/>
          <a:p>
            <a:pPr indent="0" marL="0">
              <a:buNone/>
            </a:pPr>
            <a:r>
              <a:rPr lang="en-US" sz="1200" b="1" spc="160" kern="0" dirty="0">
                <a:solidFill>
                  <a:srgbClr val="F2A541"/>
                </a:solidFill>
                <a:latin typeface="Arial" pitchFamily="34" charset="0"/>
                <a:ea typeface="Arial" pitchFamily="34" charset="-122"/>
                <a:cs typeface="Arial" pitchFamily="34" charset="-120"/>
              </a:rPr>
              <a:t>BLOQUE 3 · MINUTO 50</a:t>
            </a:r>
            <a:endParaRPr lang="en-US" sz="1200" dirty="0"/>
          </a:p>
        </p:txBody>
      </p:sp>
      <p:sp>
        <p:nvSpPr>
          <p:cNvPr id="4" name="Text 2"/>
          <p:cNvSpPr txBox="1"/>
          <p:nvPr/>
        </p:nvSpPr>
        <p:spPr>
          <a:xfrm>
            <a:off x="685800" y="2560320"/>
            <a:ext cx="7315200" cy="54864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La Representante Encargada de Cumplimiento</a:t>
            </a:r>
            <a:endParaRPr lang="en-US" sz="3100" dirty="0"/>
          </a:p>
        </p:txBody>
      </p:sp>
      <p:sp>
        <p:nvSpPr>
          <p:cNvPr id="5" name="Text 3"/>
          <p:cNvSpPr txBox="1"/>
          <p:nvPr/>
        </p:nvSpPr>
        <p:spPr>
          <a:xfrm>
            <a:off x="685800" y="3200400"/>
            <a:ext cx="7315200" cy="365760"/>
          </a:xfrm>
          <a:prstGeom prst="rect">
            <a:avLst/>
          </a:prstGeom>
          <a:noFill/>
          <a:ln/>
        </p:spPr>
        <p:txBody>
          <a:bodyPr wrap="square" lIns="0" tIns="0" rIns="0" bIns="0" rtlCol="0" anchor="ctr"/>
          <a:lstStyle/>
          <a:p>
            <a:pPr indent="0" marL="0">
              <a:buNone/>
            </a:pPr>
            <a:r>
              <a:rPr lang="en-US" sz="1500" dirty="0">
                <a:solidFill>
                  <a:srgbClr val="C7CEDB"/>
                </a:solidFill>
                <a:latin typeface="Arial" pitchFamily="34" charset="0"/>
                <a:ea typeface="Arial" pitchFamily="34" charset="-122"/>
                <a:cs typeface="Arial" pitchFamily="34" charset="-120"/>
              </a:rPr>
              <a:t>Quién puede serlo, cómo se designa de verdad, y quién responde mientras tanto</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Quién tiene que designar, y quién no</a:t>
            </a:r>
            <a:endParaRPr lang="en-US" sz="2800" dirty="0"/>
          </a:p>
        </p:txBody>
      </p:sp>
      <p:sp>
        <p:nvSpPr>
          <p:cNvPr id="3" name="Text 1"/>
          <p:cNvSpPr txBox="1"/>
          <p:nvPr/>
        </p:nvSpPr>
        <p:spPr>
          <a:xfrm>
            <a:off x="566928" y="1133856"/>
            <a:ext cx="685800"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20</a:t>
            </a:r>
            <a:endParaRPr lang="en-US" sz="1000" dirty="0"/>
          </a:p>
        </p:txBody>
      </p:sp>
      <p:sp>
        <p:nvSpPr>
          <p:cNvPr id="4" name="Text 2"/>
          <p:cNvSpPr txBox="1"/>
          <p:nvPr/>
        </p:nvSpPr>
        <p:spPr>
          <a:xfrm>
            <a:off x="1362456" y="1133856"/>
            <a:ext cx="68580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10</a:t>
            </a:r>
            <a:endParaRPr lang="en-US" sz="1000" dirty="0"/>
          </a:p>
        </p:txBody>
      </p:sp>
      <p:sp>
        <p:nvSpPr>
          <p:cNvPr id="5" name="Shape 3"/>
          <p:cNvSpPr/>
          <p:nvPr/>
        </p:nvSpPr>
        <p:spPr>
          <a:xfrm>
            <a:off x="566928" y="1554480"/>
            <a:ext cx="3931920" cy="1371600"/>
          </a:xfrm>
          <a:prstGeom prst="roundRect">
            <a:avLst>
              <a:gd name="adj" fmla="val 4000"/>
            </a:avLst>
          </a:prstGeom>
          <a:solidFill>
            <a:srgbClr val="F5F6F9"/>
          </a:solidFill>
          <a:ln w="12700">
            <a:solidFill>
              <a:srgbClr val="E5E7EB"/>
            </a:solidFill>
            <a:prstDash val="solid"/>
          </a:ln>
        </p:spPr>
      </p:sp>
      <p:sp>
        <p:nvSpPr>
          <p:cNvPr id="6" name="Text 4"/>
          <p:cNvSpPr txBox="1"/>
          <p:nvPr/>
        </p:nvSpPr>
        <p:spPr>
          <a:xfrm>
            <a:off x="786384" y="1700784"/>
            <a:ext cx="3493008" cy="274320"/>
          </a:xfrm>
          <a:prstGeom prst="rect">
            <a:avLst/>
          </a:prstGeom>
          <a:noFill/>
          <a:ln/>
        </p:spPr>
        <p:txBody>
          <a:bodyPr wrap="square" lIns="0" tIns="0" rIns="0" bIns="0" rtlCol="0" anchor="ctr"/>
          <a:lstStyle/>
          <a:p>
            <a:pPr indent="0" marL="0">
              <a:buNone/>
            </a:pPr>
            <a:r>
              <a:rPr lang="en-US" sz="1300" b="1" dirty="0">
                <a:solidFill>
                  <a:srgbClr val="12224A"/>
                </a:solidFill>
                <a:latin typeface="Arial" pitchFamily="34" charset="0"/>
                <a:ea typeface="Arial" pitchFamily="34" charset="-122"/>
                <a:cs typeface="Arial" pitchFamily="34" charset="-120"/>
              </a:rPr>
              <a:t>SÍ deben designar</a:t>
            </a:r>
            <a:endParaRPr lang="en-US" sz="1300" dirty="0"/>
          </a:p>
        </p:txBody>
      </p:sp>
      <p:sp>
        <p:nvSpPr>
          <p:cNvPr id="7" name="Text 5"/>
          <p:cNvSpPr txBox="1"/>
          <p:nvPr/>
        </p:nvSpPr>
        <p:spPr>
          <a:xfrm>
            <a:off x="786384" y="2011680"/>
            <a:ext cx="3493008" cy="786384"/>
          </a:xfrm>
          <a:prstGeom prst="rect">
            <a:avLst/>
          </a:prstGeom>
          <a:noFill/>
          <a:ln/>
        </p:spPr>
        <p:txBody>
          <a:bodyPr wrap="square" lIns="0" tIns="0" rIns="0" bIns="0" rtlCol="0" anchor="t"/>
          <a:lstStyle/>
          <a:p>
            <a:pPr indent="0" marL="0">
              <a:lnSpc>
                <a:spcPts val="1800"/>
              </a:lnSpc>
              <a:buNone/>
            </a:pPr>
            <a:r>
              <a:rPr lang="en-US" sz="1300" dirty="0">
                <a:solidFill>
                  <a:srgbClr val="1F2937"/>
                </a:solidFill>
                <a:latin typeface="Arial" pitchFamily="34" charset="0"/>
                <a:ea typeface="Arial" pitchFamily="34" charset="-122"/>
                <a:cs typeface="Arial" pitchFamily="34" charset="-120"/>
              </a:rPr>
              <a:t>Las personas morales, y quienes actúen a través de fideicomisos o de cualquier otra figura jurídica.</a:t>
            </a:r>
            <a:endParaRPr lang="en-US" sz="1300" dirty="0"/>
          </a:p>
        </p:txBody>
      </p:sp>
      <p:sp>
        <p:nvSpPr>
          <p:cNvPr id="8" name="Shape 6"/>
          <p:cNvSpPr/>
          <p:nvPr/>
        </p:nvSpPr>
        <p:spPr>
          <a:xfrm>
            <a:off x="4645152" y="1554480"/>
            <a:ext cx="3931920" cy="1371600"/>
          </a:xfrm>
          <a:prstGeom prst="roundRect">
            <a:avLst>
              <a:gd name="adj" fmla="val 4000"/>
            </a:avLst>
          </a:prstGeom>
          <a:solidFill>
            <a:srgbClr val="F5F6F9"/>
          </a:solidFill>
          <a:ln w="12700">
            <a:solidFill>
              <a:srgbClr val="E5E7EB"/>
            </a:solidFill>
            <a:prstDash val="solid"/>
          </a:ln>
        </p:spPr>
      </p:sp>
      <p:sp>
        <p:nvSpPr>
          <p:cNvPr id="9" name="Text 7"/>
          <p:cNvSpPr txBox="1"/>
          <p:nvPr/>
        </p:nvSpPr>
        <p:spPr>
          <a:xfrm>
            <a:off x="4864608" y="1700784"/>
            <a:ext cx="3493008" cy="274320"/>
          </a:xfrm>
          <a:prstGeom prst="rect">
            <a:avLst/>
          </a:prstGeom>
          <a:noFill/>
          <a:ln/>
        </p:spPr>
        <p:txBody>
          <a:bodyPr wrap="square" lIns="0" tIns="0" rIns="0" bIns="0" rtlCol="0" anchor="ctr"/>
          <a:lstStyle/>
          <a:p>
            <a:pPr indent="0" marL="0">
              <a:buNone/>
            </a:pPr>
            <a:r>
              <a:rPr lang="en-US" sz="1300" b="1" dirty="0">
                <a:solidFill>
                  <a:srgbClr val="12224A"/>
                </a:solidFill>
                <a:latin typeface="Arial" pitchFamily="34" charset="0"/>
                <a:ea typeface="Arial" pitchFamily="34" charset="-122"/>
                <a:cs typeface="Arial" pitchFamily="34" charset="-120"/>
              </a:rPr>
              <a:t>NO designan</a:t>
            </a:r>
            <a:endParaRPr lang="en-US" sz="1300" dirty="0"/>
          </a:p>
        </p:txBody>
      </p:sp>
      <p:sp>
        <p:nvSpPr>
          <p:cNvPr id="10" name="Text 8"/>
          <p:cNvSpPr txBox="1"/>
          <p:nvPr/>
        </p:nvSpPr>
        <p:spPr>
          <a:xfrm>
            <a:off x="4864608" y="2011680"/>
            <a:ext cx="3493008" cy="786384"/>
          </a:xfrm>
          <a:prstGeom prst="rect">
            <a:avLst/>
          </a:prstGeom>
          <a:noFill/>
          <a:ln/>
        </p:spPr>
        <p:txBody>
          <a:bodyPr wrap="square" lIns="0" tIns="0" rIns="0" bIns="0" rtlCol="0" anchor="t"/>
          <a:lstStyle/>
          <a:p>
            <a:pPr indent="0" marL="0">
              <a:lnSpc>
                <a:spcPts val="1800"/>
              </a:lnSpc>
              <a:buNone/>
            </a:pPr>
            <a:r>
              <a:rPr lang="en-US" sz="1300" dirty="0">
                <a:solidFill>
                  <a:srgbClr val="1F2937"/>
                </a:solidFill>
                <a:latin typeface="Arial" pitchFamily="34" charset="0"/>
                <a:ea typeface="Arial" pitchFamily="34" charset="-122"/>
                <a:cs typeface="Arial" pitchFamily="34" charset="-120"/>
              </a:rPr>
              <a:t>Las personas físicas: cumplen personal y directamente, salvo el supuesto de Entidades Colegiadas.</a:t>
            </a:r>
            <a:endParaRPr lang="en-US" sz="1300" dirty="0"/>
          </a:p>
        </p:txBody>
      </p:sp>
      <p:sp>
        <p:nvSpPr>
          <p:cNvPr id="11" name="Shape 9"/>
          <p:cNvSpPr/>
          <p:nvPr/>
        </p:nvSpPr>
        <p:spPr>
          <a:xfrm>
            <a:off x="566928" y="3072384"/>
            <a:ext cx="8010144" cy="1225296"/>
          </a:xfrm>
          <a:prstGeom prst="roundRect">
            <a:avLst>
              <a:gd name="adj" fmla="val 4478"/>
            </a:avLst>
          </a:prstGeom>
          <a:solidFill>
            <a:srgbClr val="FDF3E3"/>
          </a:solidFill>
          <a:ln w="12700">
            <a:solidFill>
              <a:srgbClr val="F2A541"/>
            </a:solidFill>
            <a:prstDash val="solid"/>
          </a:ln>
        </p:spPr>
      </p:sp>
      <p:sp>
        <p:nvSpPr>
          <p:cNvPr id="12" name="Text 10"/>
          <p:cNvSpPr txBox="1"/>
          <p:nvPr/>
        </p:nvSpPr>
        <p:spPr>
          <a:xfrm>
            <a:off x="786384" y="3182112"/>
            <a:ext cx="7571232" cy="274320"/>
          </a:xfrm>
          <a:prstGeom prst="rect">
            <a:avLst/>
          </a:prstGeom>
          <a:noFill/>
          <a:ln/>
        </p:spPr>
        <p:txBody>
          <a:bodyPr wrap="square" lIns="0" tIns="0" rIns="0" bIns="0" rtlCol="0" anchor="ctr"/>
          <a:lstStyle/>
          <a:p>
            <a:pPr indent="0" marL="0">
              <a:buNone/>
            </a:pPr>
            <a:r>
              <a:rPr lang="en-US" sz="1300" b="1" dirty="0">
                <a:solidFill>
                  <a:srgbClr val="92400E"/>
                </a:solidFill>
                <a:latin typeface="Arial" pitchFamily="34" charset="0"/>
                <a:ea typeface="Arial" pitchFamily="34" charset="-122"/>
                <a:cs typeface="Arial" pitchFamily="34" charset="-120"/>
              </a:rPr>
              <a:t>Tres cosas que se pasan por alto</a:t>
            </a:r>
            <a:endParaRPr lang="en-US" sz="1300" dirty="0"/>
          </a:p>
        </p:txBody>
      </p:sp>
      <p:sp>
        <p:nvSpPr>
          <p:cNvPr id="13" name="Text 11"/>
          <p:cNvSpPr txBox="1"/>
          <p:nvPr/>
        </p:nvSpPr>
        <p:spPr>
          <a:xfrm>
            <a:off x="786384" y="3474720"/>
            <a:ext cx="7571232" cy="731520"/>
          </a:xfrm>
          <a:prstGeom prst="rect">
            <a:avLst/>
          </a:prstGeom>
          <a:noFill/>
          <a:ln/>
        </p:spPr>
        <p:txBody>
          <a:bodyPr wrap="square" lIns="0" tIns="0" rIns="0" bIns="0" rtlCol="0" anchor="t"/>
          <a:lstStyle/>
          <a:p>
            <a:pPr indent="0" marL="0">
              <a:lnSpc>
                <a:spcPts val="1800"/>
              </a:lnSpc>
              <a:buNone/>
            </a:pPr>
            <a:r>
              <a:rPr lang="en-US" sz="1300" b="1" dirty="0">
                <a:solidFill>
                  <a:srgbClr val="1F2937"/>
                </a:solidFill>
                <a:latin typeface="Arial" pitchFamily="34" charset="0"/>
                <a:ea typeface="Arial" pitchFamily="34" charset="-122"/>
                <a:cs typeface="Arial" pitchFamily="34" charset="-120"/>
              </a:rPr>
              <a:t>Sólo puede ser persona física.</a:t>
            </a:r>
            <a:pPr indent="0" marL="0">
              <a:lnSpc>
                <a:spcPts val="1800"/>
              </a:lnSpc>
              <a:buNone/>
            </a:pPr>
            <a:r>
              <a:rPr lang="en-US" sz="1300" dirty="0">
                <a:solidFill>
                  <a:srgbClr val="F2A541"/>
                </a:solidFill>
                <a:latin typeface="Arial" pitchFamily="34" charset="0"/>
                <a:ea typeface="Arial" pitchFamily="34" charset="-122"/>
                <a:cs typeface="Arial" pitchFamily="34" charset="-120"/>
              </a:rPr>
              <a:t>   ·   </a:t>
            </a:r>
            <a:pPr indent="0" marL="0">
              <a:lnSpc>
                <a:spcPts val="1800"/>
              </a:lnSpc>
              <a:buNone/>
            </a:pPr>
            <a:r>
              <a:rPr lang="en-US" sz="1300" b="1" dirty="0">
                <a:solidFill>
                  <a:srgbClr val="1F2937"/>
                </a:solidFill>
                <a:latin typeface="Arial" pitchFamily="34" charset="0"/>
                <a:ea typeface="Arial" pitchFamily="34" charset="-122"/>
                <a:cs typeface="Arial" pitchFamily="34" charset="-120"/>
              </a:rPr>
              <a:t>La designación hay que MANTENERLA VIGENTE, no sólo hacerla.</a:t>
            </a:r>
            <a:pPr indent="0" marL="0">
              <a:lnSpc>
                <a:spcPts val="1800"/>
              </a:lnSpc>
              <a:buNone/>
            </a:pPr>
            <a:r>
              <a:rPr lang="en-US" sz="1300" dirty="0">
                <a:solidFill>
                  <a:srgbClr val="F2A541"/>
                </a:solidFill>
                <a:latin typeface="Arial" pitchFamily="34" charset="0"/>
                <a:ea typeface="Arial" pitchFamily="34" charset="-122"/>
                <a:cs typeface="Arial" pitchFamily="34" charset="-120"/>
              </a:rPr>
              <a:t>   ·   </a:t>
            </a:r>
            <a:pPr indent="0" marL="0">
              <a:lnSpc>
                <a:spcPts val="1800"/>
              </a:lnSpc>
              <a:buNone/>
            </a:pPr>
            <a:r>
              <a:rPr lang="en-US" sz="1300" b="1" dirty="0">
                <a:solidFill>
                  <a:srgbClr val="1F2937"/>
                </a:solidFill>
                <a:latin typeface="Arial" pitchFamily="34" charset="0"/>
                <a:ea typeface="Arial" pitchFamily="34" charset="-122"/>
                <a:cs typeface="Arial" pitchFamily="34" charset="-120"/>
              </a:rPr>
              <a:t>La RECC debe recibir capacitación ANUALMENTE, y es una obligación específica del artículo 20 que casi siempre se olvida.</a:t>
            </a:r>
            <a:endParaRPr lang="en-US" sz="1300" dirty="0"/>
          </a:p>
        </p:txBody>
      </p:sp>
      <p:sp>
        <p:nvSpPr>
          <p:cNvPr id="14" name="Text 12"/>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5" name="Text 13"/>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La designación no existe hasta que la aceptan</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Y este paso es el que falta en la mitad de los expedientes.</a:t>
            </a:r>
            <a:endParaRPr lang="en-US" sz="1300" dirty="0"/>
          </a:p>
        </p:txBody>
      </p:sp>
      <p:sp>
        <p:nvSpPr>
          <p:cNvPr id="4" name="Text 2"/>
          <p:cNvSpPr txBox="1"/>
          <p:nvPr/>
        </p:nvSpPr>
        <p:spPr>
          <a:xfrm>
            <a:off x="566928" y="1188720"/>
            <a:ext cx="68580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10</a:t>
            </a:r>
            <a:endParaRPr lang="en-US" sz="1000" dirty="0"/>
          </a:p>
        </p:txBody>
      </p:sp>
      <p:sp>
        <p:nvSpPr>
          <p:cNvPr id="5" name="Text 3"/>
          <p:cNvSpPr txBox="1"/>
          <p:nvPr/>
        </p:nvSpPr>
        <p:spPr>
          <a:xfrm>
            <a:off x="566928" y="1627632"/>
            <a:ext cx="329184" cy="329184"/>
          </a:xfrm>
          <a:prstGeom prst="rect">
            <a:avLst/>
          </a:prstGeom>
          <a:solidFill>
            <a:srgbClr val="F2A541"/>
          </a:solidFill>
          <a:ln/>
        </p:spPr>
        <p:txBody>
          <a:bodyPr wrap="square" lIns="0" tIns="0" rIns="0" bIns="0" rtlCol="0" anchor="ctr"/>
          <a:lstStyle/>
          <a:p>
            <a:pPr algn="ctr" indent="0" marL="0">
              <a:buNone/>
            </a:pPr>
            <a:r>
              <a:rPr lang="en-US" sz="1300" b="1" dirty="0">
                <a:solidFill>
                  <a:srgbClr val="12224A"/>
                </a:solidFill>
                <a:latin typeface="Cambria" pitchFamily="34" charset="0"/>
                <a:ea typeface="Cambria" pitchFamily="34" charset="-122"/>
                <a:cs typeface="Cambria" pitchFamily="34" charset="-120"/>
              </a:rPr>
              <a:t>1</a:t>
            </a:r>
            <a:endParaRPr lang="en-US" sz="1300" dirty="0"/>
          </a:p>
        </p:txBody>
      </p:sp>
      <p:sp>
        <p:nvSpPr>
          <p:cNvPr id="6" name="Text 4"/>
          <p:cNvSpPr txBox="1"/>
          <p:nvPr/>
        </p:nvSpPr>
        <p:spPr>
          <a:xfrm>
            <a:off x="1042416" y="1609344"/>
            <a:ext cx="2743200" cy="36576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Usted designa</a:t>
            </a:r>
            <a:endParaRPr lang="en-US" sz="1400" dirty="0"/>
          </a:p>
        </p:txBody>
      </p:sp>
      <p:sp>
        <p:nvSpPr>
          <p:cNvPr id="7" name="Text 5"/>
          <p:cNvSpPr txBox="1"/>
          <p:nvPr/>
        </p:nvSpPr>
        <p:spPr>
          <a:xfrm>
            <a:off x="3913632" y="1609344"/>
            <a:ext cx="4663440" cy="36576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En el trámite ante la Secretaría.</a:t>
            </a:r>
            <a:endParaRPr lang="en-US" sz="1250" dirty="0"/>
          </a:p>
        </p:txBody>
      </p:sp>
      <p:sp>
        <p:nvSpPr>
          <p:cNvPr id="8" name="Text 6"/>
          <p:cNvSpPr txBox="1"/>
          <p:nvPr/>
        </p:nvSpPr>
        <p:spPr>
          <a:xfrm>
            <a:off x="566928" y="2176272"/>
            <a:ext cx="329184" cy="329184"/>
          </a:xfrm>
          <a:prstGeom prst="rect">
            <a:avLst/>
          </a:prstGeom>
          <a:solidFill>
            <a:srgbClr val="F2A541"/>
          </a:solidFill>
          <a:ln/>
        </p:spPr>
        <p:txBody>
          <a:bodyPr wrap="square" lIns="0" tIns="0" rIns="0" bIns="0" rtlCol="0" anchor="ctr"/>
          <a:lstStyle/>
          <a:p>
            <a:pPr algn="ctr" indent="0" marL="0">
              <a:buNone/>
            </a:pPr>
            <a:r>
              <a:rPr lang="en-US" sz="1300" b="1" dirty="0">
                <a:solidFill>
                  <a:srgbClr val="12224A"/>
                </a:solidFill>
                <a:latin typeface="Cambria" pitchFamily="34" charset="0"/>
                <a:ea typeface="Cambria" pitchFamily="34" charset="-122"/>
                <a:cs typeface="Cambria" pitchFamily="34" charset="-120"/>
              </a:rPr>
              <a:t>2</a:t>
            </a:r>
            <a:endParaRPr lang="en-US" sz="1300" dirty="0"/>
          </a:p>
        </p:txBody>
      </p:sp>
      <p:sp>
        <p:nvSpPr>
          <p:cNvPr id="9" name="Text 7"/>
          <p:cNvSpPr txBox="1"/>
          <p:nvPr/>
        </p:nvSpPr>
        <p:spPr>
          <a:xfrm>
            <a:off x="1042416" y="2157984"/>
            <a:ext cx="2743200" cy="36576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La persona designada entra al Portal</a:t>
            </a:r>
            <a:endParaRPr lang="en-US" sz="1400" dirty="0"/>
          </a:p>
        </p:txBody>
      </p:sp>
      <p:sp>
        <p:nvSpPr>
          <p:cNvPr id="10" name="Text 8"/>
          <p:cNvSpPr txBox="1"/>
          <p:nvPr/>
        </p:nvSpPr>
        <p:spPr>
          <a:xfrm>
            <a:off x="3913632" y="2157984"/>
            <a:ext cx="4663440" cy="36576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Con SU clave del RFC y SU certificado vigente de e.firma. No la de la empresa.</a:t>
            </a:r>
            <a:endParaRPr lang="en-US" sz="1250" dirty="0"/>
          </a:p>
        </p:txBody>
      </p:sp>
      <p:sp>
        <p:nvSpPr>
          <p:cNvPr id="11" name="Text 9"/>
          <p:cNvSpPr txBox="1"/>
          <p:nvPr/>
        </p:nvSpPr>
        <p:spPr>
          <a:xfrm>
            <a:off x="566928" y="2724912"/>
            <a:ext cx="329184" cy="329184"/>
          </a:xfrm>
          <a:prstGeom prst="rect">
            <a:avLst/>
          </a:prstGeom>
          <a:solidFill>
            <a:srgbClr val="F2A541"/>
          </a:solidFill>
          <a:ln/>
        </p:spPr>
        <p:txBody>
          <a:bodyPr wrap="square" lIns="0" tIns="0" rIns="0" bIns="0" rtlCol="0" anchor="ctr"/>
          <a:lstStyle/>
          <a:p>
            <a:pPr algn="ctr" indent="0" marL="0">
              <a:buNone/>
            </a:pPr>
            <a:r>
              <a:rPr lang="en-US" sz="1300" b="1" dirty="0">
                <a:solidFill>
                  <a:srgbClr val="12224A"/>
                </a:solidFill>
                <a:latin typeface="Cambria" pitchFamily="34" charset="0"/>
                <a:ea typeface="Cambria" pitchFamily="34" charset="-122"/>
                <a:cs typeface="Cambria" pitchFamily="34" charset="-120"/>
              </a:rPr>
              <a:t>3</a:t>
            </a:r>
            <a:endParaRPr lang="en-US" sz="1300" dirty="0"/>
          </a:p>
        </p:txBody>
      </p:sp>
      <p:sp>
        <p:nvSpPr>
          <p:cNvPr id="12" name="Text 10"/>
          <p:cNvSpPr txBox="1"/>
          <p:nvPr/>
        </p:nvSpPr>
        <p:spPr>
          <a:xfrm>
            <a:off x="1042416" y="2706624"/>
            <a:ext cx="2743200" cy="36576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Acepta o rechaza</a:t>
            </a:r>
            <a:endParaRPr lang="en-US" sz="1400" dirty="0"/>
          </a:p>
        </p:txBody>
      </p:sp>
      <p:sp>
        <p:nvSpPr>
          <p:cNvPr id="13" name="Text 11"/>
          <p:cNvSpPr txBox="1"/>
          <p:nvPr/>
        </p:nvSpPr>
        <p:spPr>
          <a:xfrm>
            <a:off x="3913632" y="2706624"/>
            <a:ext cx="4663440" cy="36576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Aquí, y sólo aquí, se completa la designación.</a:t>
            </a:r>
            <a:endParaRPr lang="en-US" sz="1250" dirty="0"/>
          </a:p>
        </p:txBody>
      </p:sp>
      <p:sp>
        <p:nvSpPr>
          <p:cNvPr id="14" name="Text 12"/>
          <p:cNvSpPr txBox="1"/>
          <p:nvPr/>
        </p:nvSpPr>
        <p:spPr>
          <a:xfrm>
            <a:off x="566928" y="3273552"/>
            <a:ext cx="329184" cy="329184"/>
          </a:xfrm>
          <a:prstGeom prst="rect">
            <a:avLst/>
          </a:prstGeom>
          <a:solidFill>
            <a:srgbClr val="F2A541"/>
          </a:solidFill>
          <a:ln/>
        </p:spPr>
        <p:txBody>
          <a:bodyPr wrap="square" lIns="0" tIns="0" rIns="0" bIns="0" rtlCol="0" anchor="ctr"/>
          <a:lstStyle/>
          <a:p>
            <a:pPr algn="ctr" indent="0" marL="0">
              <a:buNone/>
            </a:pPr>
            <a:r>
              <a:rPr lang="en-US" sz="1300" b="1" dirty="0">
                <a:solidFill>
                  <a:srgbClr val="12224A"/>
                </a:solidFill>
                <a:latin typeface="Cambria" pitchFamily="34" charset="0"/>
                <a:ea typeface="Cambria" pitchFamily="34" charset="-122"/>
                <a:cs typeface="Cambria" pitchFamily="34" charset="-120"/>
              </a:rPr>
              <a:t>4</a:t>
            </a:r>
            <a:endParaRPr lang="en-US" sz="1300" dirty="0"/>
          </a:p>
        </p:txBody>
      </p:sp>
      <p:sp>
        <p:nvSpPr>
          <p:cNvPr id="15" name="Text 13"/>
          <p:cNvSpPr txBox="1"/>
          <p:nvPr/>
        </p:nvSpPr>
        <p:spPr>
          <a:xfrm>
            <a:off x="1042416" y="3255264"/>
            <a:ext cx="2743200" cy="36576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El SAT le notifica a usted</a:t>
            </a:r>
            <a:endParaRPr lang="en-US" sz="1400" dirty="0"/>
          </a:p>
        </p:txBody>
      </p:sp>
      <p:sp>
        <p:nvSpPr>
          <p:cNvPr id="16" name="Text 14"/>
          <p:cNvSpPr txBox="1"/>
          <p:nvPr/>
        </p:nvSpPr>
        <p:spPr>
          <a:xfrm>
            <a:off x="3913632" y="3255264"/>
            <a:ext cx="4663440" cy="36576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Dentro de los diez días hábiles siguientes a recibir la aceptación o el rechazo.</a:t>
            </a:r>
            <a:endParaRPr lang="en-US" sz="1250" dirty="0"/>
          </a:p>
        </p:txBody>
      </p:sp>
      <p:sp>
        <p:nvSpPr>
          <p:cNvPr id="17" name="Text 15"/>
          <p:cNvSpPr txBox="1"/>
          <p:nvPr/>
        </p:nvSpPr>
        <p:spPr>
          <a:xfrm>
            <a:off x="566928" y="3822192"/>
            <a:ext cx="329184" cy="329184"/>
          </a:xfrm>
          <a:prstGeom prst="rect">
            <a:avLst/>
          </a:prstGeom>
          <a:solidFill>
            <a:srgbClr val="92400E"/>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18" name="Text 16"/>
          <p:cNvSpPr txBox="1"/>
          <p:nvPr/>
        </p:nvSpPr>
        <p:spPr>
          <a:xfrm>
            <a:off x="1042416" y="3803904"/>
            <a:ext cx="2743200" cy="365760"/>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Si rechaza, usted sigue obligado</a:t>
            </a:r>
            <a:endParaRPr lang="en-US" sz="1400" dirty="0"/>
          </a:p>
        </p:txBody>
      </p:sp>
      <p:sp>
        <p:nvSpPr>
          <p:cNvPr id="19" name="Text 17"/>
          <p:cNvSpPr txBox="1"/>
          <p:nvPr/>
        </p:nvSpPr>
        <p:spPr>
          <a:xfrm>
            <a:off x="3913632" y="3803904"/>
            <a:ext cx="4663440" cy="36576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El rechazo no libera a quien designó de ninguna obligación.</a:t>
            </a:r>
            <a:endParaRPr lang="en-US" sz="1250" dirty="0"/>
          </a:p>
        </p:txBody>
      </p:sp>
      <p:sp>
        <p:nvSpPr>
          <p:cNvPr id="20" name="Text 18"/>
          <p:cNvSpPr txBox="1"/>
          <p:nvPr/>
        </p:nvSpPr>
        <p:spPr>
          <a:xfrm>
            <a:off x="566928" y="4425696"/>
            <a:ext cx="8010144" cy="292608"/>
          </a:xfrm>
          <a:prstGeom prst="rect">
            <a:avLst/>
          </a:prstGeom>
          <a:noFill/>
          <a:ln/>
        </p:spPr>
        <p:txBody>
          <a:bodyPr wrap="square" lIns="0" tIns="0" rIns="0" bIns="0" rtlCol="0" anchor="ctr"/>
          <a:lstStyle/>
          <a:p>
            <a:pPr indent="0" marL="0">
              <a:buNone/>
            </a:pPr>
            <a:r>
              <a:rPr lang="en-US" sz="1250" i="1" dirty="0">
                <a:solidFill>
                  <a:srgbClr val="6B7280"/>
                </a:solidFill>
                <a:latin typeface="Arial" pitchFamily="34" charset="0"/>
                <a:ea typeface="Arial" pitchFamily="34" charset="-122"/>
                <a:cs typeface="Arial" pitchFamily="34" charset="-120"/>
              </a:rPr>
              <a:t>Si la persona no está inscrita en el RFC, puede inscribirse SIN obligaciones fiscales sólo para tramitar su e.firma.</a:t>
            </a:r>
            <a:endParaRPr lang="en-US" sz="1250" dirty="0"/>
          </a:p>
        </p:txBody>
      </p:sp>
      <p:sp>
        <p:nvSpPr>
          <p:cNvPr id="21" name="Text 19"/>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22" name="Text 20"/>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El párrafo que nadie leyó</a:t>
            </a:r>
            <a:endParaRPr lang="en-US" sz="2800" dirty="0"/>
          </a:p>
        </p:txBody>
      </p:sp>
      <p:sp>
        <p:nvSpPr>
          <p:cNvPr id="3" name="Text 1"/>
          <p:cNvSpPr txBox="1"/>
          <p:nvPr/>
        </p:nvSpPr>
        <p:spPr>
          <a:xfrm>
            <a:off x="566928" y="1152144"/>
            <a:ext cx="954634"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20 párr. 2</a:t>
            </a:r>
            <a:endParaRPr lang="en-US" sz="1000" dirty="0"/>
          </a:p>
        </p:txBody>
      </p:sp>
      <p:sp>
        <p:nvSpPr>
          <p:cNvPr id="4" name="Shape 2"/>
          <p:cNvSpPr/>
          <p:nvPr/>
        </p:nvSpPr>
        <p:spPr>
          <a:xfrm>
            <a:off x="566928" y="1499616"/>
            <a:ext cx="8010144" cy="1243584"/>
          </a:xfrm>
          <a:prstGeom prst="roundRect">
            <a:avLst>
              <a:gd name="adj" fmla="val 4412"/>
            </a:avLst>
          </a:prstGeom>
          <a:solidFill>
            <a:srgbClr val="FDF3E3"/>
          </a:solidFill>
          <a:ln w="12700">
            <a:solidFill>
              <a:srgbClr val="F2A541"/>
            </a:solidFill>
            <a:prstDash val="solid"/>
          </a:ln>
        </p:spPr>
      </p:sp>
      <p:sp>
        <p:nvSpPr>
          <p:cNvPr id="5" name="Text 3"/>
          <p:cNvSpPr txBox="1"/>
          <p:nvPr/>
        </p:nvSpPr>
        <p:spPr>
          <a:xfrm>
            <a:off x="822960" y="1591056"/>
            <a:ext cx="7498080" cy="1078992"/>
          </a:xfrm>
          <a:prstGeom prst="rect">
            <a:avLst/>
          </a:prstGeom>
          <a:noFill/>
          <a:ln/>
        </p:spPr>
        <p:txBody>
          <a:bodyPr wrap="square" lIns="0" tIns="0" rIns="0" bIns="0" rtlCol="0" anchor="t"/>
          <a:lstStyle/>
          <a:p>
            <a:pPr indent="0" marL="0">
              <a:lnSpc>
                <a:spcPts val="1650"/>
              </a:lnSpc>
              <a:buNone/>
            </a:pPr>
            <a:r>
              <a:rPr lang="en-US" sz="1300" i="1" dirty="0">
                <a:solidFill>
                  <a:srgbClr val="1F2937"/>
                </a:solidFill>
                <a:latin typeface="Arial" pitchFamily="34" charset="0"/>
                <a:ea typeface="Arial" pitchFamily="34" charset="-122"/>
                <a:cs typeface="Arial" pitchFamily="34" charset="-120"/>
              </a:rPr>
              <a:t>«En tanto no haya una persona Representante Encargada del Cumplimiento o la designación no sea aceptada, el cumplimiento de las obligaciones que esta Ley señala corresponderá a los integrantes del órgano de administración o a quien funja como administrador único de la persona moral; a la parte fideicomitente o su representante, o la persona que funja como administrador en cualquier otra figura jurídica.»</a:t>
            </a:r>
            <a:endParaRPr lang="en-US" sz="1300" dirty="0"/>
          </a:p>
        </p:txBody>
      </p:sp>
      <p:sp>
        <p:nvSpPr>
          <p:cNvPr id="6" name="Text 4"/>
          <p:cNvSpPr txBox="1"/>
          <p:nvPr/>
        </p:nvSpPr>
        <p:spPr>
          <a:xfrm>
            <a:off x="566928" y="2834640"/>
            <a:ext cx="8010144" cy="1792224"/>
          </a:xfrm>
          <a:prstGeom prst="rect">
            <a:avLst/>
          </a:prstGeom>
          <a:noFill/>
          <a:ln/>
        </p:spPr>
        <p:txBody>
          <a:bodyPr wrap="square" lIns="0" tIns="0" rIns="0" bIns="0" rtlCol="0" anchor="t"/>
          <a:lstStyle/>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Mientras la aceptación no ocurra, la obligación no está en el aire: está en el consejo, o en el administrador único.</a:t>
            </a:r>
            <a:endParaRPr lang="en-US" sz="1250" dirty="0"/>
          </a:p>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Y no es sólo la obligación. Es también la sanción, porque el artículo 53 fracción II sanciona el incumplimiento de las obligaciones del artículo 18, sin importar quién debió cumplirlas.</a:t>
            </a:r>
            <a:endParaRPr lang="en-US" sz="1250" dirty="0"/>
          </a:p>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Una designación firmada y nunca aceptada es peor que no tener designación: da la sensación de que el tema está resuelto.</a:t>
            </a:r>
            <a:endParaRPr lang="en-US" sz="1250" dirty="0"/>
          </a:p>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La tarea de esta semana cabe en veinte minutos: entrar al Portal y verificar la fecha de aceptación.</a:t>
            </a:r>
            <a:endParaRPr lang="en-US" sz="1250" dirty="0"/>
          </a:p>
        </p:txBody>
      </p:sp>
      <p:sp>
        <p:nvSpPr>
          <p:cNvPr id="7" name="Text 5"/>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8" name="Text 6"/>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Dos cosas que protegen a quien firma</a:t>
            </a:r>
            <a:endParaRPr lang="en-US" sz="2800" dirty="0"/>
          </a:p>
        </p:txBody>
      </p:sp>
      <p:sp>
        <p:nvSpPr>
          <p:cNvPr id="3" name="Shape 1"/>
          <p:cNvSpPr/>
          <p:nvPr/>
        </p:nvSpPr>
        <p:spPr>
          <a:xfrm>
            <a:off x="566928" y="1280160"/>
            <a:ext cx="3931920" cy="3017520"/>
          </a:xfrm>
          <a:prstGeom prst="roundRect">
            <a:avLst>
              <a:gd name="adj" fmla="val 1818"/>
            </a:avLst>
          </a:prstGeom>
          <a:solidFill>
            <a:srgbClr val="F5F6F9"/>
          </a:solidFill>
          <a:ln w="12700">
            <a:solidFill>
              <a:srgbClr val="E5E7EB"/>
            </a:solidFill>
            <a:prstDash val="solid"/>
          </a:ln>
        </p:spPr>
      </p:sp>
      <p:sp>
        <p:nvSpPr>
          <p:cNvPr id="4" name="Text 2"/>
          <p:cNvSpPr txBox="1"/>
          <p:nvPr/>
        </p:nvSpPr>
        <p:spPr>
          <a:xfrm>
            <a:off x="786384" y="1444752"/>
            <a:ext cx="1005840"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41 Bis</a:t>
            </a:r>
            <a:endParaRPr lang="en-US" sz="1000" dirty="0"/>
          </a:p>
        </p:txBody>
      </p:sp>
      <p:sp>
        <p:nvSpPr>
          <p:cNvPr id="5" name="Text 3"/>
          <p:cNvSpPr txBox="1"/>
          <p:nvPr/>
        </p:nvSpPr>
        <p:spPr>
          <a:xfrm>
            <a:off x="786384" y="1810512"/>
            <a:ext cx="3493008" cy="548640"/>
          </a:xfrm>
          <a:prstGeom prst="rect">
            <a:avLst/>
          </a:prstGeom>
          <a:noFill/>
          <a:ln/>
        </p:spPr>
        <p:txBody>
          <a:bodyPr wrap="square" lIns="0" tIns="0" rIns="0" bIns="0" rtlCol="0" anchor="t"/>
          <a:lstStyle/>
          <a:p>
            <a:pPr indent="0" marL="0">
              <a:lnSpc>
                <a:spcPts val="2000"/>
              </a:lnSpc>
              <a:buNone/>
            </a:pPr>
            <a:r>
              <a:rPr lang="en-US" sz="1600" b="1" dirty="0">
                <a:solidFill>
                  <a:srgbClr val="12224A"/>
                </a:solidFill>
                <a:latin typeface="Arial" pitchFamily="34" charset="0"/>
                <a:ea typeface="Arial" pitchFamily="34" charset="-122"/>
                <a:cs typeface="Arial" pitchFamily="34" charset="-120"/>
              </a:rPr>
              <a:t>No tiene que ir usted a comparecer</a:t>
            </a:r>
            <a:endParaRPr lang="en-US" sz="1600" dirty="0"/>
          </a:p>
        </p:txBody>
      </p:sp>
      <p:sp>
        <p:nvSpPr>
          <p:cNvPr id="6" name="Text 4"/>
          <p:cNvSpPr txBox="1"/>
          <p:nvPr/>
        </p:nvSpPr>
        <p:spPr>
          <a:xfrm>
            <a:off x="786384" y="2395728"/>
            <a:ext cx="3493008" cy="1755648"/>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Cuando una autoridad judicial o administrativa requiera la comparecencia de la RECC para una diligencia relacionada con sus funciones, la diligencia PUEDE desahogarla la persona representante legal o apoderada.</a:t>
            </a:r>
            <a:endParaRPr lang="en-US" sz="1250" dirty="0"/>
          </a:p>
          <a:p>
            <a:pPr indent="0" marL="0">
              <a:lnSpc>
                <a:spcPts val="1700"/>
              </a:lnSpc>
              <a:buNone/>
            </a:pPr>
            <a:endParaRPr lang="en-US" sz="1250" dirty="0"/>
          </a:p>
          <a:p>
            <a:pPr indent="0" marL="0">
              <a:lnSpc>
                <a:spcPts val="1700"/>
              </a:lnSpc>
              <a:buNone/>
            </a:pPr>
            <a:r>
              <a:rPr lang="en-US" sz="1250" dirty="0">
                <a:solidFill>
                  <a:srgbClr val="1F2937"/>
                </a:solidFill>
                <a:latin typeface="Arial" pitchFamily="34" charset="0"/>
                <a:ea typeface="Arial" pitchFamily="34" charset="-122"/>
                <a:cs typeface="Arial" pitchFamily="34" charset="-120"/>
              </a:rPr>
              <a:t>Es protección de identidad, y va junto con el resguardo del artículo 38 de la Ley.</a:t>
            </a:r>
            <a:endParaRPr lang="en-US" sz="1250" dirty="0"/>
          </a:p>
        </p:txBody>
      </p:sp>
      <p:sp>
        <p:nvSpPr>
          <p:cNvPr id="7" name="Shape 5"/>
          <p:cNvSpPr/>
          <p:nvPr/>
        </p:nvSpPr>
        <p:spPr>
          <a:xfrm>
            <a:off x="4645152" y="1280160"/>
            <a:ext cx="3931920" cy="3017520"/>
          </a:xfrm>
          <a:prstGeom prst="roundRect">
            <a:avLst>
              <a:gd name="adj" fmla="val 1818"/>
            </a:avLst>
          </a:prstGeom>
          <a:solidFill>
            <a:srgbClr val="F5F6F9"/>
          </a:solidFill>
          <a:ln w="12700">
            <a:solidFill>
              <a:srgbClr val="E5E7EB"/>
            </a:solidFill>
            <a:prstDash val="solid"/>
          </a:ln>
        </p:spPr>
      </p:sp>
      <p:sp>
        <p:nvSpPr>
          <p:cNvPr id="8" name="Text 6"/>
          <p:cNvSpPr txBox="1"/>
          <p:nvPr/>
        </p:nvSpPr>
        <p:spPr>
          <a:xfrm>
            <a:off x="4864608" y="1444752"/>
            <a:ext cx="118872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34 Bis</a:t>
            </a:r>
            <a:endParaRPr lang="en-US" sz="1000" dirty="0"/>
          </a:p>
        </p:txBody>
      </p:sp>
      <p:sp>
        <p:nvSpPr>
          <p:cNvPr id="9" name="Text 7"/>
          <p:cNvSpPr txBox="1"/>
          <p:nvPr/>
        </p:nvSpPr>
        <p:spPr>
          <a:xfrm>
            <a:off x="4864608" y="1810512"/>
            <a:ext cx="3493008" cy="548640"/>
          </a:xfrm>
          <a:prstGeom prst="rect">
            <a:avLst/>
          </a:prstGeom>
          <a:noFill/>
          <a:ln/>
        </p:spPr>
        <p:txBody>
          <a:bodyPr wrap="square" lIns="0" tIns="0" rIns="0" bIns="0" rtlCol="0" anchor="t"/>
          <a:lstStyle/>
          <a:p>
            <a:pPr indent="0" marL="0">
              <a:lnSpc>
                <a:spcPts val="2000"/>
              </a:lnSpc>
              <a:buNone/>
            </a:pPr>
            <a:r>
              <a:rPr lang="en-US" sz="1600" b="1" dirty="0">
                <a:solidFill>
                  <a:srgbClr val="12224A"/>
                </a:solidFill>
                <a:latin typeface="Arial" pitchFamily="34" charset="0"/>
                <a:ea typeface="Arial" pitchFamily="34" charset="-122"/>
                <a:cs typeface="Arial" pitchFamily="34" charset="-120"/>
              </a:rPr>
              <a:t>La certificación de la UIF es voluntaria</a:t>
            </a:r>
            <a:endParaRPr lang="en-US" sz="1600" dirty="0"/>
          </a:p>
        </p:txBody>
      </p:sp>
      <p:sp>
        <p:nvSpPr>
          <p:cNvPr id="10" name="Text 8"/>
          <p:cNvSpPr txBox="1"/>
          <p:nvPr/>
        </p:nvSpPr>
        <p:spPr>
          <a:xfrm>
            <a:off x="4864608" y="2395728"/>
            <a:ext cx="3493008" cy="1755648"/>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El texto dice «podrán obtener». No es requisito para ser RECC ni para que la designación surta efectos.</a:t>
            </a:r>
            <a:endParaRPr lang="en-US" sz="1250" dirty="0"/>
          </a:p>
          <a:p>
            <a:pPr indent="0" marL="0">
              <a:lnSpc>
                <a:spcPts val="1700"/>
              </a:lnSpc>
              <a:buNone/>
            </a:pPr>
            <a:endParaRPr lang="en-US" sz="1250" dirty="0"/>
          </a:p>
          <a:p>
            <a:pPr indent="0" marL="0">
              <a:lnSpc>
                <a:spcPts val="1700"/>
              </a:lnSpc>
              <a:buNone/>
            </a:pPr>
            <a:r>
              <a:rPr lang="en-US" sz="1250" dirty="0">
                <a:solidFill>
                  <a:srgbClr val="1F2937"/>
                </a:solidFill>
                <a:latin typeface="Arial" pitchFamily="34" charset="0"/>
                <a:ea typeface="Arial" pitchFamily="34" charset="-122"/>
                <a:cs typeface="Arial" pitchFamily="34" charset="-120"/>
              </a:rPr>
              <a:t>La pueden obtener las personas físicas que realizan Actividades Vulnerables y las RECC que YA aceptaron su designación. Va por convocatoria en el DOF y dura cinco años.</a:t>
            </a:r>
            <a:endParaRPr lang="en-US" sz="1250" dirty="0"/>
          </a:p>
        </p:txBody>
      </p:sp>
      <p:sp>
        <p:nvSpPr>
          <p:cNvPr id="11" name="Text 9"/>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2" name="Text 10"/>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2224A"/>
        </a:solidFill>
      </p:bgPr>
    </p:bg>
    <p:spTree>
      <p:nvGrpSpPr>
        <p:cNvPr id="1" name=""/>
        <p:cNvGrpSpPr/>
        <p:nvPr/>
      </p:nvGrpSpPr>
      <p:grpSpPr>
        <a:xfrm>
          <a:off x="0" y="0"/>
          <a:ext cx="0" cy="0"/>
          <a:chOff x="0" y="0"/>
          <a:chExt cx="0" cy="0"/>
        </a:xfrm>
      </p:grpSpPr>
      <p:sp>
        <p:nvSpPr>
          <p:cNvPr id="2" name="Shape 0"/>
          <p:cNvSpPr/>
          <p:nvPr/>
        </p:nvSpPr>
        <p:spPr>
          <a:xfrm>
            <a:off x="0" y="2377440"/>
            <a:ext cx="822960" cy="45720"/>
          </a:xfrm>
          <a:prstGeom prst="rect">
            <a:avLst/>
          </a:prstGeom>
          <a:solidFill>
            <a:srgbClr val="F2A541"/>
          </a:solidFill>
          <a:ln w="12700">
            <a:solidFill>
              <a:srgbClr val="333333"/>
            </a:solidFill>
            <a:prstDash val="solid"/>
          </a:ln>
        </p:spPr>
      </p:sp>
      <p:sp>
        <p:nvSpPr>
          <p:cNvPr id="3" name="Text 1"/>
          <p:cNvSpPr txBox="1"/>
          <p:nvPr/>
        </p:nvSpPr>
        <p:spPr>
          <a:xfrm>
            <a:off x="685800" y="2029968"/>
            <a:ext cx="7772400" cy="274320"/>
          </a:xfrm>
          <a:prstGeom prst="rect">
            <a:avLst/>
          </a:prstGeom>
          <a:noFill/>
          <a:ln/>
        </p:spPr>
        <p:txBody>
          <a:bodyPr wrap="square" lIns="0" tIns="0" rIns="0" bIns="0" rtlCol="0" anchor="ctr"/>
          <a:lstStyle/>
          <a:p>
            <a:pPr indent="0" marL="0">
              <a:buNone/>
            </a:pPr>
            <a:r>
              <a:rPr lang="en-US" sz="1200" b="1" spc="160" kern="0" dirty="0">
                <a:solidFill>
                  <a:srgbClr val="F2A541"/>
                </a:solidFill>
                <a:latin typeface="Arial" pitchFamily="34" charset="0"/>
                <a:ea typeface="Arial" pitchFamily="34" charset="-122"/>
                <a:cs typeface="Arial" pitchFamily="34" charset="-120"/>
              </a:rPr>
              <a:t>BLOQUE 4 · MINUTO 75</a:t>
            </a:r>
            <a:endParaRPr lang="en-US" sz="1200" dirty="0"/>
          </a:p>
        </p:txBody>
      </p:sp>
      <p:sp>
        <p:nvSpPr>
          <p:cNvPr id="4" name="Text 2"/>
          <p:cNvSpPr txBox="1"/>
          <p:nvPr/>
        </p:nvSpPr>
        <p:spPr>
          <a:xfrm>
            <a:off x="685800" y="2560320"/>
            <a:ext cx="7315200" cy="548640"/>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Capacitación y selección de personal</a:t>
            </a:r>
            <a:endParaRPr lang="en-US" sz="3100" dirty="0"/>
          </a:p>
        </p:txBody>
      </p:sp>
      <p:sp>
        <p:nvSpPr>
          <p:cNvPr id="5" name="Text 3"/>
          <p:cNvSpPr txBox="1"/>
          <p:nvPr/>
        </p:nvSpPr>
        <p:spPr>
          <a:xfrm>
            <a:off x="685800" y="3200400"/>
            <a:ext cx="7315200" cy="365760"/>
          </a:xfrm>
          <a:prstGeom prst="rect">
            <a:avLst/>
          </a:prstGeom>
          <a:noFill/>
          <a:ln/>
        </p:spPr>
        <p:txBody>
          <a:bodyPr wrap="square" lIns="0" tIns="0" rIns="0" bIns="0" rtlCol="0" anchor="ctr"/>
          <a:lstStyle/>
          <a:p>
            <a:pPr indent="0" marL="0">
              <a:buNone/>
            </a:pPr>
            <a:r>
              <a:rPr lang="en-US" sz="1500" dirty="0">
                <a:solidFill>
                  <a:srgbClr val="C7CEDB"/>
                </a:solidFill>
                <a:latin typeface="Arial" pitchFamily="34" charset="0"/>
                <a:ea typeface="Arial" pitchFamily="34" charset="-122"/>
                <a:cs typeface="Arial" pitchFamily="34" charset="-120"/>
              </a:rPr>
              <a:t>Dos obligaciones en una sola fracción, y la segunda casi siempre falta</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A quién hay que capacitar</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La lista es más larga de lo que casi todos suponen.</a:t>
            </a:r>
            <a:endParaRPr lang="en-US" sz="1300" dirty="0"/>
          </a:p>
        </p:txBody>
      </p:sp>
      <p:sp>
        <p:nvSpPr>
          <p:cNvPr id="4" name="Text 2"/>
          <p:cNvSpPr txBox="1"/>
          <p:nvPr/>
        </p:nvSpPr>
        <p:spPr>
          <a:xfrm>
            <a:off x="566928" y="1188720"/>
            <a:ext cx="888797"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18 fr. IX</a:t>
            </a:r>
            <a:endParaRPr lang="en-US" sz="1000" dirty="0"/>
          </a:p>
        </p:txBody>
      </p:sp>
      <p:sp>
        <p:nvSpPr>
          <p:cNvPr id="5" name="Text 3"/>
          <p:cNvSpPr txBox="1"/>
          <p:nvPr/>
        </p:nvSpPr>
        <p:spPr>
          <a:xfrm>
            <a:off x="1565453" y="1188720"/>
            <a:ext cx="822960"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39 Bis</a:t>
            </a:r>
            <a:endParaRPr lang="en-US" sz="1000" dirty="0"/>
          </a:p>
        </p:txBody>
      </p:sp>
      <p:sp>
        <p:nvSpPr>
          <p:cNvPr id="6" name="Shape 4"/>
          <p:cNvSpPr/>
          <p:nvPr/>
        </p:nvSpPr>
        <p:spPr>
          <a:xfrm>
            <a:off x="566928" y="1627632"/>
            <a:ext cx="3931920" cy="475488"/>
          </a:xfrm>
          <a:prstGeom prst="roundRect">
            <a:avLst>
              <a:gd name="adj" fmla="val 9615"/>
            </a:avLst>
          </a:prstGeom>
          <a:solidFill>
            <a:srgbClr val="F5F6F9"/>
          </a:solidFill>
          <a:ln w="12700">
            <a:solidFill>
              <a:srgbClr val="E5E7EB"/>
            </a:solidFill>
            <a:prstDash val="solid"/>
          </a:ln>
        </p:spPr>
      </p:sp>
      <p:sp>
        <p:nvSpPr>
          <p:cNvPr id="7" name="Text 5"/>
          <p:cNvSpPr txBox="1"/>
          <p:nvPr/>
        </p:nvSpPr>
        <p:spPr>
          <a:xfrm>
            <a:off x="731520" y="1627632"/>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Integrantes del consejo de administración</a:t>
            </a:r>
            <a:endParaRPr lang="en-US" sz="1250" dirty="0"/>
          </a:p>
        </p:txBody>
      </p:sp>
      <p:sp>
        <p:nvSpPr>
          <p:cNvPr id="8" name="Shape 6"/>
          <p:cNvSpPr/>
          <p:nvPr/>
        </p:nvSpPr>
        <p:spPr>
          <a:xfrm>
            <a:off x="4645152" y="1627632"/>
            <a:ext cx="3931920" cy="475488"/>
          </a:xfrm>
          <a:prstGeom prst="roundRect">
            <a:avLst>
              <a:gd name="adj" fmla="val 9615"/>
            </a:avLst>
          </a:prstGeom>
          <a:solidFill>
            <a:srgbClr val="F5F6F9"/>
          </a:solidFill>
          <a:ln w="12700">
            <a:solidFill>
              <a:srgbClr val="E5E7EB"/>
            </a:solidFill>
            <a:prstDash val="solid"/>
          </a:ln>
        </p:spPr>
      </p:sp>
      <p:sp>
        <p:nvSpPr>
          <p:cNvPr id="9" name="Text 7"/>
          <p:cNvSpPr txBox="1"/>
          <p:nvPr/>
        </p:nvSpPr>
        <p:spPr>
          <a:xfrm>
            <a:off x="4809744" y="1627632"/>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La persona administradora única o su equivalente</a:t>
            </a:r>
            <a:endParaRPr lang="en-US" sz="1250" dirty="0"/>
          </a:p>
        </p:txBody>
      </p:sp>
      <p:sp>
        <p:nvSpPr>
          <p:cNvPr id="10" name="Shape 8"/>
          <p:cNvSpPr/>
          <p:nvPr/>
        </p:nvSpPr>
        <p:spPr>
          <a:xfrm>
            <a:off x="566928" y="2194560"/>
            <a:ext cx="3931920" cy="475488"/>
          </a:xfrm>
          <a:prstGeom prst="roundRect">
            <a:avLst>
              <a:gd name="adj" fmla="val 9615"/>
            </a:avLst>
          </a:prstGeom>
          <a:solidFill>
            <a:srgbClr val="F5F6F9"/>
          </a:solidFill>
          <a:ln w="12700">
            <a:solidFill>
              <a:srgbClr val="E5E7EB"/>
            </a:solidFill>
            <a:prstDash val="solid"/>
          </a:ln>
        </p:spPr>
      </p:sp>
      <p:sp>
        <p:nvSpPr>
          <p:cNvPr id="11" name="Text 9"/>
          <p:cNvSpPr txBox="1"/>
          <p:nvPr/>
        </p:nvSpPr>
        <p:spPr>
          <a:xfrm>
            <a:off x="731520" y="2194560"/>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Personas directivas y funcionarias</a:t>
            </a:r>
            <a:endParaRPr lang="en-US" sz="1250" dirty="0"/>
          </a:p>
        </p:txBody>
      </p:sp>
      <p:sp>
        <p:nvSpPr>
          <p:cNvPr id="12" name="Shape 10"/>
          <p:cNvSpPr/>
          <p:nvPr/>
        </p:nvSpPr>
        <p:spPr>
          <a:xfrm>
            <a:off x="4645152" y="2194560"/>
            <a:ext cx="3931920" cy="475488"/>
          </a:xfrm>
          <a:prstGeom prst="roundRect">
            <a:avLst>
              <a:gd name="adj" fmla="val 9615"/>
            </a:avLst>
          </a:prstGeom>
          <a:solidFill>
            <a:srgbClr val="F5F6F9"/>
          </a:solidFill>
          <a:ln w="12700">
            <a:solidFill>
              <a:srgbClr val="E5E7EB"/>
            </a:solidFill>
            <a:prstDash val="solid"/>
          </a:ln>
        </p:spPr>
      </p:sp>
      <p:sp>
        <p:nvSpPr>
          <p:cNvPr id="13" name="Text 11"/>
          <p:cNvSpPr txBox="1"/>
          <p:nvPr/>
        </p:nvSpPr>
        <p:spPr>
          <a:xfrm>
            <a:off x="4809744" y="2194560"/>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La Representante Encargada de Cumplimiento</a:t>
            </a:r>
            <a:endParaRPr lang="en-US" sz="1250" dirty="0"/>
          </a:p>
        </p:txBody>
      </p:sp>
      <p:sp>
        <p:nvSpPr>
          <p:cNvPr id="14" name="Shape 12"/>
          <p:cNvSpPr/>
          <p:nvPr/>
        </p:nvSpPr>
        <p:spPr>
          <a:xfrm>
            <a:off x="566928" y="2761488"/>
            <a:ext cx="3931920" cy="475488"/>
          </a:xfrm>
          <a:prstGeom prst="roundRect">
            <a:avLst>
              <a:gd name="adj" fmla="val 9615"/>
            </a:avLst>
          </a:prstGeom>
          <a:solidFill>
            <a:srgbClr val="F5F6F9"/>
          </a:solidFill>
          <a:ln w="12700">
            <a:solidFill>
              <a:srgbClr val="E5E7EB"/>
            </a:solidFill>
            <a:prstDash val="solid"/>
          </a:ln>
        </p:spPr>
      </p:sp>
      <p:sp>
        <p:nvSpPr>
          <p:cNvPr id="15" name="Text 13"/>
          <p:cNvSpPr txBox="1"/>
          <p:nvPr/>
        </p:nvSpPr>
        <p:spPr>
          <a:xfrm>
            <a:off x="731520" y="2761488"/>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Quien labore en atención al público</a:t>
            </a:r>
            <a:endParaRPr lang="en-US" sz="1250" dirty="0"/>
          </a:p>
        </p:txBody>
      </p:sp>
      <p:sp>
        <p:nvSpPr>
          <p:cNvPr id="16" name="Shape 14"/>
          <p:cNvSpPr/>
          <p:nvPr/>
        </p:nvSpPr>
        <p:spPr>
          <a:xfrm>
            <a:off x="4645152" y="2761488"/>
            <a:ext cx="3931920" cy="475488"/>
          </a:xfrm>
          <a:prstGeom prst="roundRect">
            <a:avLst>
              <a:gd name="adj" fmla="val 9615"/>
            </a:avLst>
          </a:prstGeom>
          <a:solidFill>
            <a:srgbClr val="F5F6F9"/>
          </a:solidFill>
          <a:ln w="12700">
            <a:solidFill>
              <a:srgbClr val="E5E7EB"/>
            </a:solidFill>
            <a:prstDash val="solid"/>
          </a:ln>
        </p:spPr>
      </p:sp>
      <p:sp>
        <p:nvSpPr>
          <p:cNvPr id="17" name="Text 15"/>
          <p:cNvSpPr txBox="1"/>
          <p:nvPr/>
        </p:nvSpPr>
        <p:spPr>
          <a:xfrm>
            <a:off x="4809744" y="2761488"/>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Quien participe en identificación o conocimiento del Cliente</a:t>
            </a:r>
            <a:endParaRPr lang="en-US" sz="1250" dirty="0"/>
          </a:p>
        </p:txBody>
      </p:sp>
      <p:sp>
        <p:nvSpPr>
          <p:cNvPr id="18" name="Shape 16"/>
          <p:cNvSpPr/>
          <p:nvPr/>
        </p:nvSpPr>
        <p:spPr>
          <a:xfrm>
            <a:off x="566928" y="3328416"/>
            <a:ext cx="3931920" cy="475488"/>
          </a:xfrm>
          <a:prstGeom prst="roundRect">
            <a:avLst>
              <a:gd name="adj" fmla="val 9615"/>
            </a:avLst>
          </a:prstGeom>
          <a:solidFill>
            <a:srgbClr val="F5F6F9"/>
          </a:solidFill>
          <a:ln w="12700">
            <a:solidFill>
              <a:srgbClr val="E5E7EB"/>
            </a:solidFill>
            <a:prstDash val="solid"/>
          </a:ln>
        </p:spPr>
      </p:sp>
      <p:sp>
        <p:nvSpPr>
          <p:cNvPr id="19" name="Text 17"/>
          <p:cNvSpPr txBox="1"/>
          <p:nvPr/>
        </p:nvSpPr>
        <p:spPr>
          <a:xfrm>
            <a:off x="731520" y="3328416"/>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Quien envíe Avisos</a:t>
            </a:r>
            <a:endParaRPr lang="en-US" sz="1250" dirty="0"/>
          </a:p>
        </p:txBody>
      </p:sp>
      <p:sp>
        <p:nvSpPr>
          <p:cNvPr id="20" name="Shape 18"/>
          <p:cNvSpPr/>
          <p:nvPr/>
        </p:nvSpPr>
        <p:spPr>
          <a:xfrm>
            <a:off x="4645152" y="3328416"/>
            <a:ext cx="3931920" cy="475488"/>
          </a:xfrm>
          <a:prstGeom prst="roundRect">
            <a:avLst>
              <a:gd name="adj" fmla="val 9615"/>
            </a:avLst>
          </a:prstGeom>
          <a:solidFill>
            <a:srgbClr val="F5F6F9"/>
          </a:solidFill>
          <a:ln w="12700">
            <a:solidFill>
              <a:srgbClr val="E5E7EB"/>
            </a:solidFill>
            <a:prstDash val="solid"/>
          </a:ln>
        </p:spPr>
      </p:sp>
      <p:sp>
        <p:nvSpPr>
          <p:cNvPr id="21" name="Text 19"/>
          <p:cNvSpPr txBox="1"/>
          <p:nvPr/>
        </p:nvSpPr>
        <p:spPr>
          <a:xfrm>
            <a:off x="4809744" y="3328416"/>
            <a:ext cx="3657600" cy="475488"/>
          </a:xfrm>
          <a:prstGeom prst="rect">
            <a:avLst/>
          </a:prstGeom>
          <a:noFill/>
          <a:ln/>
        </p:spPr>
        <p:txBody>
          <a:bodyPr wrap="square" lIns="0" tIns="0" rIns="0" bIns="0" rtlCol="0" anchor="ctr"/>
          <a:lstStyle/>
          <a:p>
            <a:pPr indent="0" marL="0">
              <a:lnSpc>
                <a:spcPts val="1500"/>
              </a:lnSpc>
              <a:buNone/>
            </a:pPr>
            <a:r>
              <a:rPr lang="en-US" sz="1250" dirty="0">
                <a:solidFill>
                  <a:srgbClr val="12224A"/>
                </a:solidFill>
                <a:latin typeface="Arial" pitchFamily="34" charset="0"/>
                <a:ea typeface="Arial" pitchFamily="34" charset="-122"/>
                <a:cs typeface="Arial" pitchFamily="34" charset="-120"/>
              </a:rPr>
              <a:t>Quien realice actividades de auditoría</a:t>
            </a:r>
            <a:endParaRPr lang="en-US" sz="1250" dirty="0"/>
          </a:p>
        </p:txBody>
      </p:sp>
      <p:sp>
        <p:nvSpPr>
          <p:cNvPr id="22" name="Text 20"/>
          <p:cNvSpPr txBox="1"/>
          <p:nvPr/>
        </p:nvSpPr>
        <p:spPr>
          <a:xfrm>
            <a:off x="566928" y="4041648"/>
            <a:ext cx="8010144" cy="274320"/>
          </a:xfrm>
          <a:prstGeom prst="rect">
            <a:avLst/>
          </a:prstGeom>
          <a:noFill/>
          <a:ln/>
        </p:spPr>
        <p:txBody>
          <a:bodyPr wrap="square" lIns="0" tIns="0" rIns="0" bIns="0" rtlCol="0" anchor="ctr"/>
          <a:lstStyle/>
          <a:p>
            <a:pPr indent="0" marL="0">
              <a:buNone/>
            </a:pPr>
            <a:r>
              <a:rPr lang="en-US" sz="1300" b="1" dirty="0">
                <a:solidFill>
                  <a:srgbClr val="92400E"/>
                </a:solidFill>
                <a:latin typeface="Arial" pitchFamily="34" charset="0"/>
                <a:ea typeface="Arial" pitchFamily="34" charset="-122"/>
                <a:cs typeface="Arial" pitchFamily="34" charset="-120"/>
              </a:rPr>
              <a:t>Ocho supuestos. Con que se cumpla uno, esa persona entra al programa.</a:t>
            </a:r>
            <a:endParaRPr lang="en-US" sz="1300" dirty="0"/>
          </a:p>
        </p:txBody>
      </p:sp>
      <p:sp>
        <p:nvSpPr>
          <p:cNvPr id="23" name="Text 21"/>
          <p:cNvSpPr txBox="1"/>
          <p:nvPr/>
        </p:nvSpPr>
        <p:spPr>
          <a:xfrm>
            <a:off x="566928" y="4334256"/>
            <a:ext cx="8010144" cy="274320"/>
          </a:xfrm>
          <a:prstGeom prst="rect">
            <a:avLst/>
          </a:prstGeom>
          <a:noFill/>
          <a:ln/>
        </p:spPr>
        <p:txBody>
          <a:bodyPr wrap="square" lIns="0" tIns="0" rIns="0" bIns="0" rtlCol="0" anchor="ctr"/>
          <a:lstStyle/>
          <a:p>
            <a:pPr indent="0" marL="0">
              <a:buNone/>
            </a:pPr>
            <a:r>
              <a:rPr lang="en-US" sz="1250" dirty="0">
                <a:solidFill>
                  <a:srgbClr val="6B7280"/>
                </a:solidFill>
                <a:latin typeface="Arial" pitchFamily="34" charset="0"/>
                <a:ea typeface="Arial" pitchFamily="34" charset="-122"/>
                <a:cs typeface="Arial" pitchFamily="34" charset="-120"/>
              </a:rPr>
              <a:t>La herramienta que se llevan hoy lo calcula sola: usted marca las casillas y la hoja dice quién queda obligado.</a:t>
            </a:r>
            <a:endParaRPr lang="en-US" sz="1250" dirty="0"/>
          </a:p>
        </p:txBody>
      </p:sp>
      <p:sp>
        <p:nvSpPr>
          <p:cNvPr id="24" name="Text 22"/>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25" name="Text 23"/>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Qué tiene que contener, como mínimo</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Cuatro incisos y una fracción. No se puede escoger.</a:t>
            </a:r>
            <a:endParaRPr lang="en-US" sz="1300" dirty="0"/>
          </a:p>
        </p:txBody>
      </p:sp>
      <p:sp>
        <p:nvSpPr>
          <p:cNvPr id="4" name="Text 2"/>
          <p:cNvSpPr txBox="1"/>
          <p:nvPr/>
        </p:nvSpPr>
        <p:spPr>
          <a:xfrm>
            <a:off x="566928" y="1170432"/>
            <a:ext cx="1217981"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39 Bis fr. I</a:t>
            </a:r>
            <a:endParaRPr lang="en-US" sz="1000" dirty="0"/>
          </a:p>
        </p:txBody>
      </p:sp>
      <p:sp>
        <p:nvSpPr>
          <p:cNvPr id="5" name="Text 3"/>
          <p:cNvSpPr txBox="1"/>
          <p:nvPr/>
        </p:nvSpPr>
        <p:spPr>
          <a:xfrm>
            <a:off x="1894637" y="1170432"/>
            <a:ext cx="888797" cy="237744"/>
          </a:xfrm>
          <a:prstGeom prst="rect">
            <a:avLst/>
          </a:prstGeom>
          <a:solidFill>
            <a:srgbClr val="6D28D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CPF 400 Bis</a:t>
            </a:r>
            <a:endParaRPr lang="en-US" sz="1000" dirty="0"/>
          </a:p>
        </p:txBody>
      </p:sp>
      <p:sp>
        <p:nvSpPr>
          <p:cNvPr id="6" name="Text 4"/>
          <p:cNvSpPr txBox="1"/>
          <p:nvPr/>
        </p:nvSpPr>
        <p:spPr>
          <a:xfrm>
            <a:off x="566928" y="1591056"/>
            <a:ext cx="603504" cy="402336"/>
          </a:xfrm>
          <a:prstGeom prst="rect">
            <a:avLst/>
          </a:prstGeom>
          <a:noFill/>
          <a:ln/>
        </p:spPr>
        <p:txBody>
          <a:bodyPr wrap="square" lIns="0" tIns="0" rIns="0" bIns="0" rtlCol="0" anchor="ctr"/>
          <a:lstStyle/>
          <a:p>
            <a:pPr algn="ctr" indent="0" marL="0">
              <a:buNone/>
            </a:pPr>
            <a:r>
              <a:rPr lang="en-US" sz="1300" b="1" dirty="0">
                <a:solidFill>
                  <a:srgbClr val="F2A541"/>
                </a:solidFill>
                <a:latin typeface="Cambria" pitchFamily="34" charset="0"/>
                <a:ea typeface="Cambria" pitchFamily="34" charset="-122"/>
                <a:cs typeface="Cambria" pitchFamily="34" charset="-120"/>
              </a:rPr>
              <a:t>a)</a:t>
            </a:r>
            <a:endParaRPr lang="en-US" sz="1300" dirty="0"/>
          </a:p>
        </p:txBody>
      </p:sp>
      <p:sp>
        <p:nvSpPr>
          <p:cNvPr id="7" name="Text 5"/>
          <p:cNvSpPr txBox="1"/>
          <p:nvPr/>
        </p:nvSpPr>
        <p:spPr>
          <a:xfrm>
            <a:off x="1280160" y="1591056"/>
            <a:ext cx="7296912" cy="402336"/>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Arial" pitchFamily="34" charset="0"/>
                <a:ea typeface="Arial" pitchFamily="34" charset="-122"/>
                <a:cs typeface="Arial" pitchFamily="34" charset="-120"/>
              </a:rPr>
              <a:t>La Ley, el Reglamento, estas Reglas y las Resoluciones de formatos de alta y de Avisos, con sus modificaciones</a:t>
            </a:r>
            <a:endParaRPr lang="en-US" sz="1350" dirty="0"/>
          </a:p>
        </p:txBody>
      </p:sp>
      <p:sp>
        <p:nvSpPr>
          <p:cNvPr id="8" name="Text 6"/>
          <p:cNvSpPr txBox="1"/>
          <p:nvPr/>
        </p:nvSpPr>
        <p:spPr>
          <a:xfrm>
            <a:off x="566928" y="2103120"/>
            <a:ext cx="603504" cy="402336"/>
          </a:xfrm>
          <a:prstGeom prst="rect">
            <a:avLst/>
          </a:prstGeom>
          <a:noFill/>
          <a:ln/>
        </p:spPr>
        <p:txBody>
          <a:bodyPr wrap="square" lIns="0" tIns="0" rIns="0" bIns="0" rtlCol="0" anchor="ctr"/>
          <a:lstStyle/>
          <a:p>
            <a:pPr algn="ctr" indent="0" marL="0">
              <a:buNone/>
            </a:pPr>
            <a:r>
              <a:rPr lang="en-US" sz="1300" b="1" dirty="0">
                <a:solidFill>
                  <a:srgbClr val="F2A541"/>
                </a:solidFill>
                <a:latin typeface="Cambria" pitchFamily="34" charset="0"/>
                <a:ea typeface="Cambria" pitchFamily="34" charset="-122"/>
                <a:cs typeface="Cambria" pitchFamily="34" charset="-120"/>
              </a:rPr>
              <a:t>b)</a:t>
            </a:r>
            <a:endParaRPr lang="en-US" sz="1300" dirty="0"/>
          </a:p>
        </p:txBody>
      </p:sp>
      <p:sp>
        <p:nvSpPr>
          <p:cNvPr id="9" name="Text 7"/>
          <p:cNvSpPr txBox="1"/>
          <p:nvPr/>
        </p:nvSpPr>
        <p:spPr>
          <a:xfrm>
            <a:off x="1280160" y="2103120"/>
            <a:ext cx="7296912" cy="402336"/>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Arial" pitchFamily="34" charset="0"/>
                <a:ea typeface="Arial" pitchFamily="34" charset="-122"/>
                <a:cs typeface="Arial" pitchFamily="34" charset="-120"/>
              </a:rPr>
              <a:t>El contenido de su propio Manual de Políticas Internas</a:t>
            </a:r>
            <a:endParaRPr lang="en-US" sz="1350" dirty="0"/>
          </a:p>
        </p:txBody>
      </p:sp>
      <p:sp>
        <p:nvSpPr>
          <p:cNvPr id="10" name="Text 8"/>
          <p:cNvSpPr txBox="1"/>
          <p:nvPr/>
        </p:nvSpPr>
        <p:spPr>
          <a:xfrm>
            <a:off x="566928" y="2615184"/>
            <a:ext cx="603504" cy="402336"/>
          </a:xfrm>
          <a:prstGeom prst="rect">
            <a:avLst/>
          </a:prstGeom>
          <a:noFill/>
          <a:ln/>
        </p:spPr>
        <p:txBody>
          <a:bodyPr wrap="square" lIns="0" tIns="0" rIns="0" bIns="0" rtlCol="0" anchor="ctr"/>
          <a:lstStyle/>
          <a:p>
            <a:pPr algn="ctr" indent="0" marL="0">
              <a:buNone/>
            </a:pPr>
            <a:r>
              <a:rPr lang="en-US" sz="1300" b="1" dirty="0">
                <a:solidFill>
                  <a:srgbClr val="F2A541"/>
                </a:solidFill>
                <a:latin typeface="Cambria" pitchFamily="34" charset="0"/>
                <a:ea typeface="Cambria" pitchFamily="34" charset="-122"/>
                <a:cs typeface="Cambria" pitchFamily="34" charset="-120"/>
              </a:rPr>
              <a:t>c)</a:t>
            </a:r>
            <a:endParaRPr lang="en-US" sz="1300" dirty="0"/>
          </a:p>
        </p:txBody>
      </p:sp>
      <p:sp>
        <p:nvSpPr>
          <p:cNvPr id="11" name="Text 9"/>
          <p:cNvSpPr txBox="1"/>
          <p:nvPr/>
        </p:nvSpPr>
        <p:spPr>
          <a:xfrm>
            <a:off x="1280160" y="2615184"/>
            <a:ext cx="7296912" cy="402336"/>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Arial" pitchFamily="34" charset="0"/>
                <a:ea typeface="Arial" pitchFamily="34" charset="-122"/>
                <a:cs typeface="Arial" pitchFamily="34" charset="-120"/>
              </a:rPr>
              <a:t>Los actos u operaciones que se llevan a cabo en términos del artículo 17 de la Ley</a:t>
            </a:r>
            <a:endParaRPr lang="en-US" sz="1350" dirty="0"/>
          </a:p>
        </p:txBody>
      </p:sp>
      <p:sp>
        <p:nvSpPr>
          <p:cNvPr id="12" name="Text 10"/>
          <p:cNvSpPr txBox="1"/>
          <p:nvPr/>
        </p:nvSpPr>
        <p:spPr>
          <a:xfrm>
            <a:off x="566928" y="3127248"/>
            <a:ext cx="603504" cy="402336"/>
          </a:xfrm>
          <a:prstGeom prst="rect">
            <a:avLst/>
          </a:prstGeom>
          <a:noFill/>
          <a:ln/>
        </p:spPr>
        <p:txBody>
          <a:bodyPr wrap="square" lIns="0" tIns="0" rIns="0" bIns="0" rtlCol="0" anchor="ctr"/>
          <a:lstStyle/>
          <a:p>
            <a:pPr algn="ctr" indent="0" marL="0">
              <a:buNone/>
            </a:pPr>
            <a:r>
              <a:rPr lang="en-US" sz="1300" b="1" dirty="0">
                <a:solidFill>
                  <a:srgbClr val="F2A541"/>
                </a:solidFill>
                <a:latin typeface="Cambria" pitchFamily="34" charset="0"/>
                <a:ea typeface="Cambria" pitchFamily="34" charset="-122"/>
                <a:cs typeface="Cambria" pitchFamily="34" charset="-120"/>
              </a:rPr>
              <a:t>d)</a:t>
            </a:r>
            <a:endParaRPr lang="en-US" sz="1300" dirty="0"/>
          </a:p>
        </p:txBody>
      </p:sp>
      <p:sp>
        <p:nvSpPr>
          <p:cNvPr id="13" name="Text 11"/>
          <p:cNvSpPr txBox="1"/>
          <p:nvPr/>
        </p:nvSpPr>
        <p:spPr>
          <a:xfrm>
            <a:off x="1280160" y="3127248"/>
            <a:ext cx="7296912" cy="402336"/>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Arial" pitchFamily="34" charset="0"/>
                <a:ea typeface="Arial" pitchFamily="34" charset="-122"/>
                <a:cs typeface="Arial" pitchFamily="34" charset="-120"/>
              </a:rPr>
              <a:t>Los Riesgos a que se encuentra expuesto quien realiza la Actividad Vulnerable</a:t>
            </a:r>
            <a:endParaRPr lang="en-US" sz="1350" dirty="0"/>
          </a:p>
        </p:txBody>
      </p:sp>
      <p:sp>
        <p:nvSpPr>
          <p:cNvPr id="14" name="Text 12"/>
          <p:cNvSpPr txBox="1"/>
          <p:nvPr/>
        </p:nvSpPr>
        <p:spPr>
          <a:xfrm>
            <a:off x="566928" y="3639312"/>
            <a:ext cx="603504" cy="402336"/>
          </a:xfrm>
          <a:prstGeom prst="rect">
            <a:avLst/>
          </a:prstGeom>
          <a:noFill/>
          <a:ln/>
        </p:spPr>
        <p:txBody>
          <a:bodyPr wrap="square" lIns="0" tIns="0" rIns="0" bIns="0" rtlCol="0" anchor="ctr"/>
          <a:lstStyle/>
          <a:p>
            <a:pPr algn="ctr" indent="0" marL="0">
              <a:buNone/>
            </a:pPr>
            <a:r>
              <a:rPr lang="en-US" sz="1300" b="1" dirty="0">
                <a:solidFill>
                  <a:srgbClr val="F2A541"/>
                </a:solidFill>
                <a:latin typeface="Cambria" pitchFamily="34" charset="0"/>
                <a:ea typeface="Cambria" pitchFamily="34" charset="-122"/>
                <a:cs typeface="Cambria" pitchFamily="34" charset="-120"/>
              </a:rPr>
              <a:t>fr. II</a:t>
            </a:r>
            <a:endParaRPr lang="en-US" sz="1300" dirty="0"/>
          </a:p>
        </p:txBody>
      </p:sp>
      <p:sp>
        <p:nvSpPr>
          <p:cNvPr id="15" name="Text 13"/>
          <p:cNvSpPr txBox="1"/>
          <p:nvPr/>
        </p:nvSpPr>
        <p:spPr>
          <a:xfrm>
            <a:off x="1280160" y="3639312"/>
            <a:ext cx="7296912" cy="402336"/>
          </a:xfrm>
          <a:prstGeom prst="rect">
            <a:avLst/>
          </a:prstGeom>
          <a:noFill/>
          <a:ln/>
        </p:spPr>
        <p:txBody>
          <a:bodyPr wrap="square" lIns="0" tIns="0" rIns="0" bIns="0" rtlCol="0" anchor="ctr"/>
          <a:lstStyle/>
          <a:p>
            <a:pPr indent="0" marL="0">
              <a:lnSpc>
                <a:spcPts val="1700"/>
              </a:lnSpc>
              <a:buNone/>
            </a:pPr>
            <a:r>
              <a:rPr lang="en-US" sz="1350" dirty="0">
                <a:solidFill>
                  <a:srgbClr val="1F2937"/>
                </a:solidFill>
                <a:latin typeface="Arial" pitchFamily="34" charset="0"/>
                <a:ea typeface="Arial" pitchFamily="34" charset="-122"/>
                <a:cs typeface="Arial" pitchFamily="34" charset="-120"/>
              </a:rPr>
              <a:t>Técnicas, métodos y tendencias para prevenir y detectar operaciones del CPF 400 Bis y delitos relacionados</a:t>
            </a:r>
            <a:endParaRPr lang="en-US" sz="1350" dirty="0"/>
          </a:p>
        </p:txBody>
      </p:sp>
      <p:sp>
        <p:nvSpPr>
          <p:cNvPr id="16" name="Shape 14"/>
          <p:cNvSpPr/>
          <p:nvPr/>
        </p:nvSpPr>
        <p:spPr>
          <a:xfrm>
            <a:off x="566928" y="4114800"/>
            <a:ext cx="8010144" cy="512064"/>
          </a:xfrm>
          <a:prstGeom prst="roundRect">
            <a:avLst>
              <a:gd name="adj" fmla="val 10714"/>
            </a:avLst>
          </a:prstGeom>
          <a:solidFill>
            <a:srgbClr val="FDF3E3"/>
          </a:solidFill>
          <a:ln w="12700">
            <a:solidFill>
              <a:srgbClr val="F2A541"/>
            </a:solidFill>
            <a:prstDash val="solid"/>
          </a:ln>
        </p:spPr>
      </p:sp>
      <p:sp>
        <p:nvSpPr>
          <p:cNvPr id="17" name="Text 15"/>
          <p:cNvSpPr txBox="1"/>
          <p:nvPr/>
        </p:nvSpPr>
        <p:spPr>
          <a:xfrm>
            <a:off x="786384" y="4114800"/>
            <a:ext cx="7571232" cy="512064"/>
          </a:xfrm>
          <a:prstGeom prst="rect">
            <a:avLst/>
          </a:prstGeom>
          <a:noFill/>
          <a:ln/>
        </p:spPr>
        <p:txBody>
          <a:bodyPr wrap="square" lIns="0" tIns="0" rIns="0" bIns="0" rtlCol="0" anchor="ctr"/>
          <a:lstStyle/>
          <a:p>
            <a:pPr indent="0" marL="0">
              <a:buNone/>
            </a:pPr>
            <a:r>
              <a:rPr lang="en-US" sz="1300" b="1" dirty="0">
                <a:solidFill>
                  <a:srgbClr val="92400E"/>
                </a:solidFill>
                <a:latin typeface="Arial" pitchFamily="34" charset="0"/>
                <a:ea typeface="Arial" pitchFamily="34" charset="-122"/>
                <a:cs typeface="Arial" pitchFamily="34" charset="-120"/>
              </a:rPr>
              <a:t>Y el remate: los temas deben ser COHERENTES con los resultados de la metodología del Capítulo II Quáter.</a:t>
            </a:r>
            <a:endParaRPr lang="en-US" sz="1300" dirty="0"/>
          </a:p>
        </p:txBody>
      </p:sp>
      <p:sp>
        <p:nvSpPr>
          <p:cNvPr id="18" name="Text 16"/>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9" name="Text 17"/>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Quién puede impartirla</a:t>
            </a:r>
            <a:endParaRPr lang="en-US" sz="2800" dirty="0"/>
          </a:p>
        </p:txBody>
      </p:sp>
      <p:sp>
        <p:nvSpPr>
          <p:cNvPr id="3" name="Text 1"/>
          <p:cNvSpPr txBox="1"/>
          <p:nvPr/>
        </p:nvSpPr>
        <p:spPr>
          <a:xfrm>
            <a:off x="566928" y="1152144"/>
            <a:ext cx="134965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39 Bis fr. III</a:t>
            </a:r>
            <a:endParaRPr lang="en-US" sz="1000" dirty="0"/>
          </a:p>
        </p:txBody>
      </p:sp>
      <p:sp>
        <p:nvSpPr>
          <p:cNvPr id="4" name="Text 2"/>
          <p:cNvSpPr txBox="1"/>
          <p:nvPr/>
        </p:nvSpPr>
        <p:spPr>
          <a:xfrm>
            <a:off x="566928" y="1554480"/>
            <a:ext cx="1554480" cy="1097280"/>
          </a:xfrm>
          <a:prstGeom prst="rect">
            <a:avLst/>
          </a:prstGeom>
          <a:noFill/>
          <a:ln/>
        </p:spPr>
        <p:txBody>
          <a:bodyPr wrap="square" lIns="0" tIns="0" rIns="0" bIns="0" rtlCol="0" anchor="ctr"/>
          <a:lstStyle/>
          <a:p>
            <a:pPr algn="ctr" indent="0" marL="0">
              <a:buNone/>
            </a:pPr>
            <a:r>
              <a:rPr lang="en-US" sz="7600" b="1" dirty="0">
                <a:solidFill>
                  <a:srgbClr val="F2A541"/>
                </a:solidFill>
                <a:latin typeface="Cambria" pitchFamily="34" charset="0"/>
                <a:ea typeface="Cambria" pitchFamily="34" charset="-122"/>
                <a:cs typeface="Cambria" pitchFamily="34" charset="-120"/>
              </a:rPr>
              <a:t>5</a:t>
            </a:r>
            <a:endParaRPr lang="en-US" sz="7600" dirty="0"/>
          </a:p>
        </p:txBody>
      </p:sp>
      <p:sp>
        <p:nvSpPr>
          <p:cNvPr id="5" name="Text 3"/>
          <p:cNvSpPr txBox="1"/>
          <p:nvPr/>
        </p:nvSpPr>
        <p:spPr>
          <a:xfrm>
            <a:off x="566928" y="2651760"/>
            <a:ext cx="1554480" cy="548640"/>
          </a:xfrm>
          <a:prstGeom prst="rect">
            <a:avLst/>
          </a:prstGeom>
          <a:noFill/>
          <a:ln/>
        </p:spPr>
        <p:txBody>
          <a:bodyPr wrap="square" lIns="0" tIns="0" rIns="0" bIns="0" rtlCol="0" anchor="t"/>
          <a:lstStyle/>
          <a:p>
            <a:pPr algn="ctr" indent="0" marL="0">
              <a:lnSpc>
                <a:spcPts val="1500"/>
              </a:lnSpc>
              <a:buNone/>
            </a:pPr>
            <a:r>
              <a:rPr lang="en-US" sz="1150" dirty="0">
                <a:solidFill>
                  <a:srgbClr val="6B7280"/>
                </a:solidFill>
                <a:latin typeface="Arial" pitchFamily="34" charset="0"/>
                <a:ea typeface="Arial" pitchFamily="34" charset="-122"/>
                <a:cs typeface="Arial" pitchFamily="34" charset="-120"/>
              </a:rPr>
              <a:t>años de experiencia, acreditados</a:t>
            </a:r>
            <a:endParaRPr lang="en-US" sz="1150" dirty="0"/>
          </a:p>
        </p:txBody>
      </p:sp>
      <p:sp>
        <p:nvSpPr>
          <p:cNvPr id="6" name="Text 4"/>
          <p:cNvSpPr txBox="1"/>
          <p:nvPr/>
        </p:nvSpPr>
        <p:spPr>
          <a:xfrm>
            <a:off x="2377440" y="1554480"/>
            <a:ext cx="6199632" cy="749808"/>
          </a:xfrm>
          <a:prstGeom prst="rect">
            <a:avLst/>
          </a:prstGeom>
          <a:noFill/>
          <a:ln/>
        </p:spPr>
        <p:txBody>
          <a:bodyPr wrap="square" lIns="0" tIns="0" rIns="0" bIns="0" rtlCol="0" anchor="t"/>
          <a:lstStyle/>
          <a:p>
            <a:pPr indent="0" marL="0">
              <a:lnSpc>
                <a:spcPts val="1800"/>
              </a:lnSpc>
              <a:buNone/>
            </a:pPr>
            <a:r>
              <a:rPr lang="en-US" sz="1300" i="1" dirty="0">
                <a:solidFill>
                  <a:srgbClr val="1F2937"/>
                </a:solidFill>
                <a:latin typeface="Arial" pitchFamily="34" charset="0"/>
                <a:ea typeface="Arial" pitchFamily="34" charset="-122"/>
                <a:cs typeface="Arial" pitchFamily="34" charset="-120"/>
              </a:rPr>
              <a:t>«…quienes impartan la capacitación deberán contar y acreditar experiencia de por lo menos cinco años en materia de prevención de lavado de dinero y delitos relacionados a los que se refieren estas reglas.»</a:t>
            </a:r>
            <a:endParaRPr lang="en-US" sz="1300" dirty="0"/>
          </a:p>
        </p:txBody>
      </p:sp>
      <p:sp>
        <p:nvSpPr>
          <p:cNvPr id="7" name="Text 5"/>
          <p:cNvSpPr txBox="1"/>
          <p:nvPr/>
        </p:nvSpPr>
        <p:spPr>
          <a:xfrm>
            <a:off x="2377440" y="2359152"/>
            <a:ext cx="6199632" cy="1554480"/>
          </a:xfrm>
          <a:prstGeom prst="rect">
            <a:avLst/>
          </a:prstGeom>
          <a:noFill/>
          <a:ln/>
        </p:spPr>
        <p:txBody>
          <a:bodyPr wrap="square" lIns="0" tIns="0" rIns="0" bIns="0" rtlCol="0" anchor="t"/>
          <a:lstStyle/>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Contar Y acreditar. La experiencia no se declara: se documenta, y ese documento se guarda con el expediente del programa.</a:t>
            </a:r>
            <a:endParaRPr lang="en-US" sz="1250" dirty="0"/>
          </a:p>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Aplica también al capacitador interno. Si quien capacita en su empresa es la RECC, hay que poder acreditar sus cinco años.</a:t>
            </a:r>
            <a:endParaRPr lang="en-US" sz="1250" dirty="0"/>
          </a:p>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Y aplica al proveedor que contraten. Es una pregunta legítima que hacerle antes de firmar.</a:t>
            </a:r>
            <a:endParaRPr lang="en-US" sz="1250" dirty="0"/>
          </a:p>
        </p:txBody>
      </p:sp>
      <p:sp>
        <p:nvSpPr>
          <p:cNvPr id="8" name="Shape 6"/>
          <p:cNvSpPr/>
          <p:nvPr/>
        </p:nvSpPr>
        <p:spPr>
          <a:xfrm>
            <a:off x="566928" y="3968496"/>
            <a:ext cx="8010144" cy="621792"/>
          </a:xfrm>
          <a:prstGeom prst="roundRect">
            <a:avLst>
              <a:gd name="adj" fmla="val 8824"/>
            </a:avLst>
          </a:prstGeom>
          <a:solidFill>
            <a:srgbClr val="F5F6F9"/>
          </a:solidFill>
          <a:ln w="12700">
            <a:solidFill>
              <a:srgbClr val="E5E7EB"/>
            </a:solidFill>
            <a:prstDash val="solid"/>
          </a:ln>
        </p:spPr>
      </p:sp>
      <p:sp>
        <p:nvSpPr>
          <p:cNvPr id="9" name="Text 7"/>
          <p:cNvSpPr txBox="1"/>
          <p:nvPr/>
        </p:nvSpPr>
        <p:spPr>
          <a:xfrm>
            <a:off x="786384" y="3968496"/>
            <a:ext cx="7571232" cy="621792"/>
          </a:xfrm>
          <a:prstGeom prst="rect">
            <a:avLst/>
          </a:prstGeom>
          <a:noFill/>
          <a:ln/>
        </p:spPr>
        <p:txBody>
          <a:bodyPr wrap="square" lIns="0" tIns="0" rIns="0" bIns="0" rtlCol="0" anchor="ctr"/>
          <a:lstStyle/>
          <a:p>
            <a:pPr indent="0" marL="0">
              <a:lnSpc>
                <a:spcPts val="1500"/>
              </a:lnSpc>
              <a:buNone/>
            </a:pPr>
            <a:r>
              <a:rPr lang="en-US" sz="1200" dirty="0">
                <a:solidFill>
                  <a:srgbClr val="1F2937"/>
                </a:solidFill>
                <a:latin typeface="Arial" pitchFamily="34" charset="0"/>
                <a:ea typeface="Arial" pitchFamily="34" charset="-122"/>
                <a:cs typeface="Arial" pitchFamily="34" charset="-120"/>
              </a:rPr>
              <a:t>Enlaza con la auditoría: el RCG 44 exige que el área de auditoría interna cuente con al menos una acreditación de un programa de capacitación anual. Sin capacitación documentada, no hay auditoría interna válida.</a:t>
            </a:r>
            <a:endParaRPr lang="en-US" sz="1200" dirty="0"/>
          </a:p>
        </p:txBody>
      </p:sp>
      <p:sp>
        <p:nvSpPr>
          <p:cNvPr id="10" name="Text 8"/>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1" name="Text 9"/>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La constancia sin evaluación no cumple</a:t>
            </a:r>
            <a:endParaRPr lang="en-US" sz="2800" dirty="0"/>
          </a:p>
        </p:txBody>
      </p:sp>
      <p:sp>
        <p:nvSpPr>
          <p:cNvPr id="3" name="Text 1"/>
          <p:cNvSpPr txBox="1"/>
          <p:nvPr/>
        </p:nvSpPr>
        <p:spPr>
          <a:xfrm>
            <a:off x="566928" y="1133856"/>
            <a:ext cx="95463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39 Bis 1</a:t>
            </a:r>
            <a:endParaRPr lang="en-US" sz="1000" dirty="0"/>
          </a:p>
        </p:txBody>
      </p:sp>
      <p:sp>
        <p:nvSpPr>
          <p:cNvPr id="4" name="Shape 2"/>
          <p:cNvSpPr/>
          <p:nvPr/>
        </p:nvSpPr>
        <p:spPr>
          <a:xfrm>
            <a:off x="566928" y="1463040"/>
            <a:ext cx="8010144" cy="950976"/>
          </a:xfrm>
          <a:prstGeom prst="roundRect">
            <a:avLst>
              <a:gd name="adj" fmla="val 5769"/>
            </a:avLst>
          </a:prstGeom>
          <a:solidFill>
            <a:srgbClr val="FDF3E3"/>
          </a:solidFill>
          <a:ln w="12700">
            <a:solidFill>
              <a:srgbClr val="F2A541"/>
            </a:solidFill>
            <a:prstDash val="solid"/>
          </a:ln>
        </p:spPr>
      </p:sp>
      <p:sp>
        <p:nvSpPr>
          <p:cNvPr id="5" name="Text 3"/>
          <p:cNvSpPr txBox="1"/>
          <p:nvPr/>
        </p:nvSpPr>
        <p:spPr>
          <a:xfrm>
            <a:off x="822960" y="1517904"/>
            <a:ext cx="7498080" cy="859536"/>
          </a:xfrm>
          <a:prstGeom prst="rect">
            <a:avLst/>
          </a:prstGeom>
          <a:noFill/>
          <a:ln/>
        </p:spPr>
        <p:txBody>
          <a:bodyPr wrap="square" lIns="0" tIns="0" rIns="0" bIns="0" rtlCol="0" anchor="t"/>
          <a:lstStyle/>
          <a:p>
            <a:pPr indent="0" marL="0">
              <a:lnSpc>
                <a:spcPts val="1700"/>
              </a:lnSpc>
              <a:buNone/>
            </a:pPr>
            <a:r>
              <a:rPr lang="en-US" sz="1300" i="1" dirty="0">
                <a:solidFill>
                  <a:srgbClr val="1F2937"/>
                </a:solidFill>
                <a:latin typeface="Arial" pitchFamily="34" charset="0"/>
                <a:ea typeface="Arial" pitchFamily="34" charset="-122"/>
                <a:cs typeface="Arial" pitchFamily="34" charset="-120"/>
              </a:rPr>
              <a:t>«Para expedir las constancias que acrediten la participación… deberán practicarles a las participantes evaluaciones sobre los conocimientos adquiridos, estableciendo en el Manual de Políticas Internas las medidas que se adoptarán respecto de aquellos que no obtengan resultados satisfactorios.»</a:t>
            </a:r>
            <a:endParaRPr lang="en-US" sz="1300" dirty="0"/>
          </a:p>
        </p:txBody>
      </p:sp>
      <p:sp>
        <p:nvSpPr>
          <p:cNvPr id="6" name="Text 4"/>
          <p:cNvSpPr txBox="1"/>
          <p:nvPr/>
        </p:nvSpPr>
        <p:spPr>
          <a:xfrm>
            <a:off x="566928" y="2468880"/>
            <a:ext cx="8010144" cy="274320"/>
          </a:xfrm>
          <a:prstGeom prst="rect">
            <a:avLst/>
          </a:prstGeom>
          <a:noFill/>
          <a:ln/>
        </p:spPr>
        <p:txBody>
          <a:bodyPr wrap="square" lIns="0" tIns="0" rIns="0" bIns="0" rtlCol="0" anchor="ctr"/>
          <a:lstStyle/>
          <a:p>
            <a:pPr indent="0" marL="0">
              <a:buNone/>
            </a:pPr>
            <a:r>
              <a:rPr lang="en-US" sz="1350" b="1" dirty="0">
                <a:solidFill>
                  <a:srgbClr val="12224A"/>
                </a:solidFill>
                <a:latin typeface="Arial" pitchFamily="34" charset="0"/>
                <a:ea typeface="Arial" pitchFamily="34" charset="-122"/>
                <a:cs typeface="Arial" pitchFamily="34" charset="-120"/>
              </a:rPr>
              <a:t>Los siete documentos que hay que conservar diez años</a:t>
            </a:r>
            <a:endParaRPr lang="en-US" sz="1350" dirty="0"/>
          </a:p>
        </p:txBody>
      </p:sp>
      <p:sp>
        <p:nvSpPr>
          <p:cNvPr id="7" name="Shape 5"/>
          <p:cNvSpPr/>
          <p:nvPr/>
        </p:nvSpPr>
        <p:spPr>
          <a:xfrm>
            <a:off x="566928" y="2798064"/>
            <a:ext cx="786384" cy="402336"/>
          </a:xfrm>
          <a:prstGeom prst="roundRect">
            <a:avLst>
              <a:gd name="adj" fmla="val 11364"/>
            </a:avLst>
          </a:prstGeom>
          <a:solidFill>
            <a:srgbClr val="F5F6F9"/>
          </a:solidFill>
          <a:ln w="12700">
            <a:solidFill>
              <a:srgbClr val="D1D5DB"/>
            </a:solidFill>
            <a:prstDash val="solid"/>
          </a:ln>
        </p:spPr>
      </p:sp>
      <p:sp>
        <p:nvSpPr>
          <p:cNvPr id="8" name="Text 6"/>
          <p:cNvSpPr txBox="1"/>
          <p:nvPr/>
        </p:nvSpPr>
        <p:spPr>
          <a:xfrm>
            <a:off x="566928" y="2798064"/>
            <a:ext cx="786384" cy="402336"/>
          </a:xfrm>
          <a:prstGeom prst="rect">
            <a:avLst/>
          </a:prstGeom>
          <a:noFill/>
          <a:ln/>
        </p:spPr>
        <p:txBody>
          <a:bodyPr wrap="square" lIns="0" tIns="0" rIns="0" bIns="0" rtlCol="0" anchor="ctr"/>
          <a:lstStyle/>
          <a:p>
            <a:pPr algn="ctr" indent="0" marL="0">
              <a:buNone/>
            </a:pPr>
            <a:r>
              <a:rPr lang="en-US" sz="1000" dirty="0">
                <a:solidFill>
                  <a:srgbClr val="12224A"/>
                </a:solidFill>
                <a:latin typeface="Arial" pitchFamily="34" charset="0"/>
                <a:ea typeface="Arial" pitchFamily="34" charset="-122"/>
                <a:cs typeface="Arial" pitchFamily="34" charset="-120"/>
              </a:rPr>
              <a:t>Programas</a:t>
            </a:r>
            <a:endParaRPr lang="en-US" sz="1000" dirty="0"/>
          </a:p>
        </p:txBody>
      </p:sp>
      <p:sp>
        <p:nvSpPr>
          <p:cNvPr id="9" name="Shape 7"/>
          <p:cNvSpPr/>
          <p:nvPr/>
        </p:nvSpPr>
        <p:spPr>
          <a:xfrm>
            <a:off x="1426464" y="2798064"/>
            <a:ext cx="786384" cy="402336"/>
          </a:xfrm>
          <a:prstGeom prst="roundRect">
            <a:avLst>
              <a:gd name="adj" fmla="val 11364"/>
            </a:avLst>
          </a:prstGeom>
          <a:solidFill>
            <a:srgbClr val="F5F6F9"/>
          </a:solidFill>
          <a:ln w="12700">
            <a:solidFill>
              <a:srgbClr val="D1D5DB"/>
            </a:solidFill>
            <a:prstDash val="solid"/>
          </a:ln>
        </p:spPr>
      </p:sp>
      <p:sp>
        <p:nvSpPr>
          <p:cNvPr id="10" name="Text 8"/>
          <p:cNvSpPr txBox="1"/>
          <p:nvPr/>
        </p:nvSpPr>
        <p:spPr>
          <a:xfrm>
            <a:off x="1426464" y="2798064"/>
            <a:ext cx="786384" cy="402336"/>
          </a:xfrm>
          <a:prstGeom prst="rect">
            <a:avLst/>
          </a:prstGeom>
          <a:noFill/>
          <a:ln/>
        </p:spPr>
        <p:txBody>
          <a:bodyPr wrap="square" lIns="0" tIns="0" rIns="0" bIns="0" rtlCol="0" anchor="ctr"/>
          <a:lstStyle/>
          <a:p>
            <a:pPr algn="ctr" indent="0" marL="0">
              <a:buNone/>
            </a:pPr>
            <a:r>
              <a:rPr lang="en-US" sz="1000" dirty="0">
                <a:solidFill>
                  <a:srgbClr val="12224A"/>
                </a:solidFill>
                <a:latin typeface="Arial" pitchFamily="34" charset="0"/>
                <a:ea typeface="Arial" pitchFamily="34" charset="-122"/>
                <a:cs typeface="Arial" pitchFamily="34" charset="-120"/>
              </a:rPr>
              <a:t>Talleres</a:t>
            </a:r>
            <a:endParaRPr lang="en-US" sz="1000" dirty="0"/>
          </a:p>
        </p:txBody>
      </p:sp>
      <p:sp>
        <p:nvSpPr>
          <p:cNvPr id="11" name="Shape 9"/>
          <p:cNvSpPr/>
          <p:nvPr/>
        </p:nvSpPr>
        <p:spPr>
          <a:xfrm>
            <a:off x="2286000" y="2798064"/>
            <a:ext cx="822960" cy="402336"/>
          </a:xfrm>
          <a:prstGeom prst="roundRect">
            <a:avLst>
              <a:gd name="adj" fmla="val 11364"/>
            </a:avLst>
          </a:prstGeom>
          <a:solidFill>
            <a:srgbClr val="F5F6F9"/>
          </a:solidFill>
          <a:ln w="12700">
            <a:solidFill>
              <a:srgbClr val="D1D5DB"/>
            </a:solidFill>
            <a:prstDash val="solid"/>
          </a:ln>
        </p:spPr>
      </p:sp>
      <p:sp>
        <p:nvSpPr>
          <p:cNvPr id="12" name="Text 10"/>
          <p:cNvSpPr txBox="1"/>
          <p:nvPr/>
        </p:nvSpPr>
        <p:spPr>
          <a:xfrm>
            <a:off x="2286000" y="2798064"/>
            <a:ext cx="822960" cy="402336"/>
          </a:xfrm>
          <a:prstGeom prst="rect">
            <a:avLst/>
          </a:prstGeom>
          <a:noFill/>
          <a:ln/>
        </p:spPr>
        <p:txBody>
          <a:bodyPr wrap="square" lIns="0" tIns="0" rIns="0" bIns="0" rtlCol="0" anchor="ctr"/>
          <a:lstStyle/>
          <a:p>
            <a:pPr algn="ctr" indent="0" marL="0">
              <a:buNone/>
            </a:pPr>
            <a:r>
              <a:rPr lang="en-US" sz="1000" dirty="0">
                <a:solidFill>
                  <a:srgbClr val="12224A"/>
                </a:solidFill>
                <a:latin typeface="Arial" pitchFamily="34" charset="0"/>
                <a:ea typeface="Arial" pitchFamily="34" charset="-122"/>
                <a:cs typeface="Arial" pitchFamily="34" charset="-120"/>
              </a:rPr>
              <a:t>Materiales</a:t>
            </a:r>
            <a:endParaRPr lang="en-US" sz="1000" dirty="0"/>
          </a:p>
        </p:txBody>
      </p:sp>
      <p:sp>
        <p:nvSpPr>
          <p:cNvPr id="13" name="Shape 11"/>
          <p:cNvSpPr/>
          <p:nvPr/>
        </p:nvSpPr>
        <p:spPr>
          <a:xfrm>
            <a:off x="3182112" y="2798064"/>
            <a:ext cx="1426464" cy="402336"/>
          </a:xfrm>
          <a:prstGeom prst="roundRect">
            <a:avLst>
              <a:gd name="adj" fmla="val 11364"/>
            </a:avLst>
          </a:prstGeom>
          <a:solidFill>
            <a:srgbClr val="F5F6F9"/>
          </a:solidFill>
          <a:ln w="12700">
            <a:solidFill>
              <a:srgbClr val="D1D5DB"/>
            </a:solidFill>
            <a:prstDash val="solid"/>
          </a:ln>
        </p:spPr>
      </p:sp>
      <p:sp>
        <p:nvSpPr>
          <p:cNvPr id="14" name="Text 12"/>
          <p:cNvSpPr txBox="1"/>
          <p:nvPr/>
        </p:nvSpPr>
        <p:spPr>
          <a:xfrm>
            <a:off x="3182112" y="2798064"/>
            <a:ext cx="1426464" cy="402336"/>
          </a:xfrm>
          <a:prstGeom prst="rect">
            <a:avLst/>
          </a:prstGeom>
          <a:noFill/>
          <a:ln/>
        </p:spPr>
        <p:txBody>
          <a:bodyPr wrap="square" lIns="0" tIns="0" rIns="0" bIns="0" rtlCol="0" anchor="ctr"/>
          <a:lstStyle/>
          <a:p>
            <a:pPr algn="ctr" indent="0" marL="0">
              <a:buNone/>
            </a:pPr>
            <a:r>
              <a:rPr lang="en-US" sz="1000" dirty="0">
                <a:solidFill>
                  <a:srgbClr val="12224A"/>
                </a:solidFill>
                <a:latin typeface="Arial" pitchFamily="34" charset="0"/>
                <a:ea typeface="Arial" pitchFamily="34" charset="-122"/>
                <a:cs typeface="Arial" pitchFamily="34" charset="-120"/>
              </a:rPr>
              <a:t>Listas de asistencia</a:t>
            </a:r>
            <a:endParaRPr lang="en-US" sz="1000" dirty="0"/>
          </a:p>
        </p:txBody>
      </p:sp>
      <p:sp>
        <p:nvSpPr>
          <p:cNvPr id="15" name="Shape 13"/>
          <p:cNvSpPr/>
          <p:nvPr/>
        </p:nvSpPr>
        <p:spPr>
          <a:xfrm>
            <a:off x="4681728" y="2798064"/>
            <a:ext cx="943661" cy="402336"/>
          </a:xfrm>
          <a:prstGeom prst="roundRect">
            <a:avLst>
              <a:gd name="adj" fmla="val 11364"/>
            </a:avLst>
          </a:prstGeom>
          <a:solidFill>
            <a:srgbClr val="F5F6F9"/>
          </a:solidFill>
          <a:ln w="12700">
            <a:solidFill>
              <a:srgbClr val="D1D5DB"/>
            </a:solidFill>
            <a:prstDash val="solid"/>
          </a:ln>
        </p:spPr>
      </p:sp>
      <p:sp>
        <p:nvSpPr>
          <p:cNvPr id="16" name="Text 14"/>
          <p:cNvSpPr txBox="1"/>
          <p:nvPr/>
        </p:nvSpPr>
        <p:spPr>
          <a:xfrm>
            <a:off x="4681728" y="2798064"/>
            <a:ext cx="943661" cy="402336"/>
          </a:xfrm>
          <a:prstGeom prst="rect">
            <a:avLst/>
          </a:prstGeom>
          <a:noFill/>
          <a:ln/>
        </p:spPr>
        <p:txBody>
          <a:bodyPr wrap="square" lIns="0" tIns="0" rIns="0" bIns="0" rtlCol="0" anchor="ctr"/>
          <a:lstStyle/>
          <a:p>
            <a:pPr algn="ctr" indent="0" marL="0">
              <a:buNone/>
            </a:pPr>
            <a:r>
              <a:rPr lang="en-US" sz="1000" dirty="0">
                <a:solidFill>
                  <a:srgbClr val="12224A"/>
                </a:solidFill>
                <a:latin typeface="Arial" pitchFamily="34" charset="0"/>
                <a:ea typeface="Arial" pitchFamily="34" charset="-122"/>
                <a:cs typeface="Arial" pitchFamily="34" charset="-120"/>
              </a:rPr>
              <a:t>Evaluaciones</a:t>
            </a:r>
            <a:endParaRPr lang="en-US" sz="1000" dirty="0"/>
          </a:p>
        </p:txBody>
      </p:sp>
      <p:sp>
        <p:nvSpPr>
          <p:cNvPr id="17" name="Shape 15"/>
          <p:cNvSpPr/>
          <p:nvPr/>
        </p:nvSpPr>
        <p:spPr>
          <a:xfrm>
            <a:off x="5698541" y="2798064"/>
            <a:ext cx="883310" cy="402336"/>
          </a:xfrm>
          <a:prstGeom prst="roundRect">
            <a:avLst>
              <a:gd name="adj" fmla="val 11364"/>
            </a:avLst>
          </a:prstGeom>
          <a:solidFill>
            <a:srgbClr val="F5F6F9"/>
          </a:solidFill>
          <a:ln w="12700">
            <a:solidFill>
              <a:srgbClr val="D1D5DB"/>
            </a:solidFill>
            <a:prstDash val="solid"/>
          </a:ln>
        </p:spPr>
      </p:sp>
      <p:sp>
        <p:nvSpPr>
          <p:cNvPr id="18" name="Text 16"/>
          <p:cNvSpPr txBox="1"/>
          <p:nvPr/>
        </p:nvSpPr>
        <p:spPr>
          <a:xfrm>
            <a:off x="5698541" y="2798064"/>
            <a:ext cx="883310" cy="402336"/>
          </a:xfrm>
          <a:prstGeom prst="rect">
            <a:avLst/>
          </a:prstGeom>
          <a:noFill/>
          <a:ln/>
        </p:spPr>
        <p:txBody>
          <a:bodyPr wrap="square" lIns="0" tIns="0" rIns="0" bIns="0" rtlCol="0" anchor="ctr"/>
          <a:lstStyle/>
          <a:p>
            <a:pPr algn="ctr" indent="0" marL="0">
              <a:buNone/>
            </a:pPr>
            <a:r>
              <a:rPr lang="en-US" sz="1000" dirty="0">
                <a:solidFill>
                  <a:srgbClr val="12224A"/>
                </a:solidFill>
                <a:latin typeface="Arial" pitchFamily="34" charset="0"/>
                <a:ea typeface="Arial" pitchFamily="34" charset="-122"/>
                <a:cs typeface="Arial" pitchFamily="34" charset="-120"/>
              </a:rPr>
              <a:t>Constancias</a:t>
            </a:r>
            <a:endParaRPr lang="en-US" sz="1000" dirty="0"/>
          </a:p>
        </p:txBody>
      </p:sp>
      <p:sp>
        <p:nvSpPr>
          <p:cNvPr id="19" name="Shape 17"/>
          <p:cNvSpPr/>
          <p:nvPr/>
        </p:nvSpPr>
        <p:spPr>
          <a:xfrm>
            <a:off x="6655003" y="2798064"/>
            <a:ext cx="1909267" cy="402336"/>
          </a:xfrm>
          <a:prstGeom prst="roundRect">
            <a:avLst>
              <a:gd name="adj" fmla="val 11364"/>
            </a:avLst>
          </a:prstGeom>
          <a:solidFill>
            <a:srgbClr val="F5F6F9"/>
          </a:solidFill>
          <a:ln w="12700">
            <a:solidFill>
              <a:srgbClr val="D1D5DB"/>
            </a:solidFill>
            <a:prstDash val="solid"/>
          </a:ln>
        </p:spPr>
      </p:sp>
      <p:sp>
        <p:nvSpPr>
          <p:cNvPr id="20" name="Text 18"/>
          <p:cNvSpPr txBox="1"/>
          <p:nvPr/>
        </p:nvSpPr>
        <p:spPr>
          <a:xfrm>
            <a:off x="6655003" y="2798064"/>
            <a:ext cx="1909267" cy="402336"/>
          </a:xfrm>
          <a:prstGeom prst="rect">
            <a:avLst/>
          </a:prstGeom>
          <a:noFill/>
          <a:ln/>
        </p:spPr>
        <p:txBody>
          <a:bodyPr wrap="square" lIns="0" tIns="0" rIns="0" bIns="0" rtlCol="0" anchor="ctr"/>
          <a:lstStyle/>
          <a:p>
            <a:pPr algn="ctr" indent="0" marL="0">
              <a:buNone/>
            </a:pPr>
            <a:r>
              <a:rPr lang="en-US" sz="1000" dirty="0">
                <a:solidFill>
                  <a:srgbClr val="12224A"/>
                </a:solidFill>
                <a:latin typeface="Arial" pitchFamily="34" charset="0"/>
                <a:ea typeface="Arial" pitchFamily="34" charset="-122"/>
                <a:cs typeface="Arial" pitchFamily="34" charset="-120"/>
              </a:rPr>
              <a:t>Cualquier otro que compruebe</a:t>
            </a:r>
            <a:endParaRPr lang="en-US" sz="1000" dirty="0"/>
          </a:p>
        </p:txBody>
      </p:sp>
      <p:sp>
        <p:nvSpPr>
          <p:cNvPr id="21" name="Text 19"/>
          <p:cNvSpPr txBox="1"/>
          <p:nvPr/>
        </p:nvSpPr>
        <p:spPr>
          <a:xfrm>
            <a:off x="566928" y="3310128"/>
            <a:ext cx="8010144" cy="1316736"/>
          </a:xfrm>
          <a:prstGeom prst="rect">
            <a:avLst/>
          </a:prstGeom>
          <a:noFill/>
          <a:ln/>
        </p:spPr>
        <p:txBody>
          <a:bodyPr wrap="square" lIns="0" tIns="0" rIns="0" bIns="0" rtlCol="0" anchor="t"/>
          <a:lstStyle/>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Sin evaluación no hay constancia. Es condición, no recomendación.</a:t>
            </a:r>
            <a:endParaRPr lang="en-US" sz="1250" dirty="0"/>
          </a:p>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Y el Manual tiene que decir qué pasa con quien reprueba. Si su manual no lo dice, ese apartado está incompleto — es el apartado 12 de la plantilla.</a:t>
            </a:r>
            <a:endParaRPr lang="en-US" sz="1250" dirty="0"/>
          </a:p>
          <a:p>
            <a:pPr marL="342900" indent="-342900">
              <a:lnSpc>
                <a:spcPts val="1750"/>
              </a:lnSpc>
              <a:spcAft>
                <a:spcPts val="600"/>
              </a:spcAft>
              <a:buSzPct val="100000"/>
              <a:buChar char="•"/>
            </a:pPr>
            <a:r>
              <a:rPr lang="en-US" sz="1250" dirty="0">
                <a:solidFill>
                  <a:srgbClr val="1F2937"/>
                </a:solidFill>
                <a:latin typeface="Arial" pitchFamily="34" charset="0"/>
                <a:ea typeface="Arial" pitchFamily="34" charset="-122"/>
                <a:cs typeface="Arial" pitchFamily="34" charset="-120"/>
              </a:rPr>
              <a:t>Capacitación previa o simultánea al ingreso para quien vaya a atender público o a administrar recursos.</a:t>
            </a:r>
            <a:endParaRPr lang="en-US" sz="1250" dirty="0"/>
          </a:p>
        </p:txBody>
      </p:sp>
      <p:sp>
        <p:nvSpPr>
          <p:cNvPr id="22" name="Text 20"/>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23" name="Text 21"/>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La otra mitad de la fracción IX</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Selección de personal. Es la obligación que casi nadie tiene.</a:t>
            </a:r>
            <a:endParaRPr lang="en-US" sz="1300" dirty="0"/>
          </a:p>
        </p:txBody>
      </p:sp>
      <p:sp>
        <p:nvSpPr>
          <p:cNvPr id="4" name="Text 2"/>
          <p:cNvSpPr txBox="1"/>
          <p:nvPr/>
        </p:nvSpPr>
        <p:spPr>
          <a:xfrm>
            <a:off x="566928" y="1188720"/>
            <a:ext cx="888797"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18 fr. IX</a:t>
            </a:r>
            <a:endParaRPr lang="en-US" sz="1000" dirty="0"/>
          </a:p>
        </p:txBody>
      </p:sp>
      <p:sp>
        <p:nvSpPr>
          <p:cNvPr id="5" name="Text 3"/>
          <p:cNvSpPr txBox="1"/>
          <p:nvPr/>
        </p:nvSpPr>
        <p:spPr>
          <a:xfrm>
            <a:off x="1565453" y="1188720"/>
            <a:ext cx="95463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39 Bis 2</a:t>
            </a:r>
            <a:endParaRPr lang="en-US" sz="1000" dirty="0"/>
          </a:p>
        </p:txBody>
      </p:sp>
      <p:sp>
        <p:nvSpPr>
          <p:cNvPr id="6" name="Text 4"/>
          <p:cNvSpPr txBox="1"/>
          <p:nvPr/>
        </p:nvSpPr>
        <p:spPr>
          <a:xfrm>
            <a:off x="2629814" y="1188720"/>
            <a:ext cx="1217981"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Trans. Sexto</a:t>
            </a:r>
            <a:endParaRPr lang="en-US" sz="1000" dirty="0"/>
          </a:p>
        </p:txBody>
      </p:sp>
      <p:sp>
        <p:nvSpPr>
          <p:cNvPr id="7" name="Text 5"/>
          <p:cNvSpPr txBox="1"/>
          <p:nvPr/>
        </p:nvSpPr>
        <p:spPr>
          <a:xfrm>
            <a:off x="566928" y="1645920"/>
            <a:ext cx="8010144" cy="292608"/>
          </a:xfrm>
          <a:prstGeom prst="rect">
            <a:avLst/>
          </a:prstGeom>
          <a:noFill/>
          <a:ln/>
        </p:spPr>
        <p:txBody>
          <a:bodyPr wrap="square" lIns="0" tIns="0" rIns="0" bIns="0" rtlCol="0" anchor="ctr"/>
          <a:lstStyle/>
          <a:p>
            <a:pPr indent="0" marL="0">
              <a:buNone/>
            </a:pPr>
            <a:r>
              <a:rPr lang="en-US" sz="1400" dirty="0">
                <a:solidFill>
                  <a:srgbClr val="1F2937"/>
                </a:solidFill>
                <a:latin typeface="Arial" pitchFamily="34" charset="0"/>
                <a:ea typeface="Arial" pitchFamily="34" charset="-122"/>
                <a:cs typeface="Arial" pitchFamily="34" charset="-120"/>
              </a:rPr>
              <a:t>De cada persona funcionaria o empleada hay que obtener una declaración FIRMADA en la que al menos conste:</a:t>
            </a:r>
            <a:endParaRPr lang="en-US" sz="1400" dirty="0"/>
          </a:p>
        </p:txBody>
      </p:sp>
      <p:sp>
        <p:nvSpPr>
          <p:cNvPr id="8" name="Shape 6"/>
          <p:cNvSpPr/>
          <p:nvPr/>
        </p:nvSpPr>
        <p:spPr>
          <a:xfrm>
            <a:off x="566928" y="2048256"/>
            <a:ext cx="3931920" cy="1517904"/>
          </a:xfrm>
          <a:prstGeom prst="roundRect">
            <a:avLst>
              <a:gd name="adj" fmla="val 3614"/>
            </a:avLst>
          </a:prstGeom>
          <a:solidFill>
            <a:srgbClr val="F5F6F9"/>
          </a:solidFill>
          <a:ln w="12700">
            <a:solidFill>
              <a:srgbClr val="E5E7EB"/>
            </a:solidFill>
            <a:prstDash val="solid"/>
          </a:ln>
        </p:spPr>
      </p:sp>
      <p:sp>
        <p:nvSpPr>
          <p:cNvPr id="9" name="Text 7"/>
          <p:cNvSpPr txBox="1"/>
          <p:nvPr/>
        </p:nvSpPr>
        <p:spPr>
          <a:xfrm>
            <a:off x="786384" y="2194560"/>
            <a:ext cx="365760" cy="310896"/>
          </a:xfrm>
          <a:prstGeom prst="rect">
            <a:avLst/>
          </a:prstGeom>
          <a:noFill/>
          <a:ln/>
        </p:spPr>
        <p:txBody>
          <a:bodyPr wrap="square" lIns="0" tIns="0" rIns="0" bIns="0" rtlCol="0" anchor="ctr"/>
          <a:lstStyle/>
          <a:p>
            <a:pPr indent="0" marL="0">
              <a:buNone/>
            </a:pPr>
            <a:r>
              <a:rPr lang="en-US" sz="1400" b="1" dirty="0">
                <a:solidFill>
                  <a:srgbClr val="F2A541"/>
                </a:solidFill>
                <a:latin typeface="Cambria" pitchFamily="34" charset="0"/>
                <a:ea typeface="Cambria" pitchFamily="34" charset="-122"/>
                <a:cs typeface="Cambria" pitchFamily="34" charset="-120"/>
              </a:rPr>
              <a:t>I</a:t>
            </a:r>
            <a:endParaRPr lang="en-US" sz="1400" dirty="0"/>
          </a:p>
        </p:txBody>
      </p:sp>
      <p:sp>
        <p:nvSpPr>
          <p:cNvPr id="10" name="Text 8"/>
          <p:cNvSpPr txBox="1"/>
          <p:nvPr/>
        </p:nvSpPr>
        <p:spPr>
          <a:xfrm>
            <a:off x="786384" y="2542032"/>
            <a:ext cx="3493008" cy="896112"/>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En su caso, la información de cualquier otro sector en el que haya laborado previamente y que estuviera sujeto al cumplimiento de las obligaciones de la Ley.</a:t>
            </a:r>
            <a:endParaRPr lang="en-US" sz="1250" dirty="0"/>
          </a:p>
        </p:txBody>
      </p:sp>
      <p:sp>
        <p:nvSpPr>
          <p:cNvPr id="11" name="Shape 9"/>
          <p:cNvSpPr/>
          <p:nvPr/>
        </p:nvSpPr>
        <p:spPr>
          <a:xfrm>
            <a:off x="4645152" y="2048256"/>
            <a:ext cx="3931920" cy="1517904"/>
          </a:xfrm>
          <a:prstGeom prst="roundRect">
            <a:avLst>
              <a:gd name="adj" fmla="val 3614"/>
            </a:avLst>
          </a:prstGeom>
          <a:solidFill>
            <a:srgbClr val="F5F6F9"/>
          </a:solidFill>
          <a:ln w="12700">
            <a:solidFill>
              <a:srgbClr val="E5E7EB"/>
            </a:solidFill>
            <a:prstDash val="solid"/>
          </a:ln>
        </p:spPr>
      </p:sp>
      <p:sp>
        <p:nvSpPr>
          <p:cNvPr id="12" name="Text 10"/>
          <p:cNvSpPr txBox="1"/>
          <p:nvPr/>
        </p:nvSpPr>
        <p:spPr>
          <a:xfrm>
            <a:off x="4864608" y="2194560"/>
            <a:ext cx="365760" cy="310896"/>
          </a:xfrm>
          <a:prstGeom prst="rect">
            <a:avLst/>
          </a:prstGeom>
          <a:noFill/>
          <a:ln/>
        </p:spPr>
        <p:txBody>
          <a:bodyPr wrap="square" lIns="0" tIns="0" rIns="0" bIns="0" rtlCol="0" anchor="ctr"/>
          <a:lstStyle/>
          <a:p>
            <a:pPr indent="0" marL="0">
              <a:buNone/>
            </a:pPr>
            <a:r>
              <a:rPr lang="en-US" sz="1400" b="1" dirty="0">
                <a:solidFill>
                  <a:srgbClr val="F2A541"/>
                </a:solidFill>
                <a:latin typeface="Cambria" pitchFamily="34" charset="0"/>
                <a:ea typeface="Cambria" pitchFamily="34" charset="-122"/>
                <a:cs typeface="Cambria" pitchFamily="34" charset="-120"/>
              </a:rPr>
              <a:t>II</a:t>
            </a:r>
            <a:endParaRPr lang="en-US" sz="1400" dirty="0"/>
          </a:p>
        </p:txBody>
      </p:sp>
      <p:sp>
        <p:nvSpPr>
          <p:cNvPr id="13" name="Text 11"/>
          <p:cNvSpPr txBox="1"/>
          <p:nvPr/>
        </p:nvSpPr>
        <p:spPr>
          <a:xfrm>
            <a:off x="4864608" y="2542032"/>
            <a:ext cx="3493008" cy="896112"/>
          </a:xfrm>
          <a:prstGeom prst="rect">
            <a:avLst/>
          </a:prstGeom>
          <a:noFill/>
          <a:ln/>
        </p:spPr>
        <p:txBody>
          <a:bodyPr wrap="square" lIns="0" tIns="0" rIns="0" bIns="0" rtlCol="0" anchor="t"/>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Que no ha sido sentenciada por delitos patrimoniales, ni inhabilitada para ejercer el comercio, ni para desempeñar empleo, cargo o comisión en el servicio público o en el sistema financiero mexicano.</a:t>
            </a:r>
            <a:endParaRPr lang="en-US" sz="1250" dirty="0"/>
          </a:p>
        </p:txBody>
      </p:sp>
      <p:sp>
        <p:nvSpPr>
          <p:cNvPr id="14" name="Shape 12"/>
          <p:cNvSpPr/>
          <p:nvPr/>
        </p:nvSpPr>
        <p:spPr>
          <a:xfrm>
            <a:off x="566928" y="3730752"/>
            <a:ext cx="8010144" cy="859536"/>
          </a:xfrm>
          <a:prstGeom prst="roundRect">
            <a:avLst>
              <a:gd name="adj" fmla="val 6383"/>
            </a:avLst>
          </a:prstGeom>
          <a:solidFill>
            <a:srgbClr val="FDF3E3"/>
          </a:solidFill>
          <a:ln w="12700">
            <a:solidFill>
              <a:srgbClr val="F2A541"/>
            </a:solidFill>
            <a:prstDash val="solid"/>
          </a:ln>
        </p:spPr>
      </p:sp>
      <p:sp>
        <p:nvSpPr>
          <p:cNvPr id="15" name="Text 13"/>
          <p:cNvSpPr txBox="1"/>
          <p:nvPr/>
        </p:nvSpPr>
        <p:spPr>
          <a:xfrm>
            <a:off x="786384" y="3730752"/>
            <a:ext cx="7571232" cy="859536"/>
          </a:xfrm>
          <a:prstGeom prst="rect">
            <a:avLst/>
          </a:prstGeom>
          <a:noFill/>
          <a:ln/>
        </p:spPr>
        <p:txBody>
          <a:bodyPr wrap="square" lIns="0" tIns="0" rIns="0" bIns="0" rtlCol="0" anchor="ctr"/>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Aplica a las NUEVAS contrataciones realizadas a partir del 1 de marzo de 2027. No hay que pedirle la declaración a quien ya trabaja con ustedes — pero el procedimiento y las medidas para quien deje de tener calidad técnica u honorabilidad sí van en el Manual desde ahora.</a:t>
            </a:r>
            <a:endParaRPr lang="en-US" sz="1250" dirty="0"/>
          </a:p>
        </p:txBody>
      </p:sp>
      <p:sp>
        <p:nvSpPr>
          <p:cNvPr id="16" name="Text 14"/>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7" name="Text 15"/>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2224A"/>
        </a:solidFill>
      </p:bgPr>
    </p:bg>
    <p:spTree>
      <p:nvGrpSpPr>
        <p:cNvPr id="1" name=""/>
        <p:cNvGrpSpPr/>
        <p:nvPr/>
      </p:nvGrpSpPr>
      <p:grpSpPr>
        <a:xfrm>
          <a:off x="0" y="0"/>
          <a:ext cx="0" cy="0"/>
          <a:chOff x="0" y="0"/>
          <a:chExt cx="0" cy="0"/>
        </a:xfrm>
      </p:grpSpPr>
      <p:sp>
        <p:nvSpPr>
          <p:cNvPr id="2" name="Shape 0"/>
          <p:cNvSpPr/>
          <p:nvPr/>
        </p:nvSpPr>
        <p:spPr>
          <a:xfrm>
            <a:off x="0" y="1225296"/>
            <a:ext cx="822960" cy="45720"/>
          </a:xfrm>
          <a:prstGeom prst="rect">
            <a:avLst/>
          </a:prstGeom>
          <a:solidFill>
            <a:srgbClr val="F2A541"/>
          </a:solidFill>
          <a:ln w="12700">
            <a:solidFill>
              <a:srgbClr val="333333"/>
            </a:solidFill>
            <a:prstDash val="solid"/>
          </a:ln>
        </p:spPr>
      </p:sp>
      <p:sp>
        <p:nvSpPr>
          <p:cNvPr id="3" name="Text 1"/>
          <p:cNvSpPr txBox="1"/>
          <p:nvPr/>
        </p:nvSpPr>
        <p:spPr>
          <a:xfrm>
            <a:off x="685800" y="877824"/>
            <a:ext cx="7772400" cy="274320"/>
          </a:xfrm>
          <a:prstGeom prst="rect">
            <a:avLst/>
          </a:prstGeom>
          <a:noFill/>
          <a:ln/>
        </p:spPr>
        <p:txBody>
          <a:bodyPr wrap="square" lIns="0" tIns="0" rIns="0" bIns="0" rtlCol="0" anchor="ctr"/>
          <a:lstStyle/>
          <a:p>
            <a:pPr indent="0" marL="0">
              <a:buNone/>
            </a:pPr>
            <a:r>
              <a:rPr lang="en-US" sz="1200" b="1" spc="160" kern="0" dirty="0">
                <a:solidFill>
                  <a:srgbClr val="F2A541"/>
                </a:solidFill>
                <a:latin typeface="Arial" pitchFamily="34" charset="0"/>
                <a:ea typeface="Arial" pitchFamily="34" charset="-122"/>
                <a:cs typeface="Arial" pitchFamily="34" charset="-120"/>
              </a:rPr>
              <a:t>TALLER · 20 MINUTOS</a:t>
            </a:r>
            <a:endParaRPr lang="en-US" sz="1200" dirty="0"/>
          </a:p>
        </p:txBody>
      </p:sp>
      <p:sp>
        <p:nvSpPr>
          <p:cNvPr id="4" name="Text 2"/>
          <p:cNvSpPr txBox="1"/>
          <p:nvPr/>
        </p:nvSpPr>
        <p:spPr>
          <a:xfrm>
            <a:off x="685800" y="1389888"/>
            <a:ext cx="7772400" cy="47548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Su programa anual de capacitación</a:t>
            </a:r>
            <a:endParaRPr lang="en-US" sz="3000" dirty="0"/>
          </a:p>
        </p:txBody>
      </p:sp>
      <p:sp>
        <p:nvSpPr>
          <p:cNvPr id="5" name="Text 3"/>
          <p:cNvSpPr txBox="1"/>
          <p:nvPr/>
        </p:nvSpPr>
        <p:spPr>
          <a:xfrm>
            <a:off x="685800" y="2139696"/>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1133856" y="2103120"/>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Hoja «Personal obligado»: capturen a su gente y marquen las casillas. La hoja les dice sola quién queda dentro.</a:t>
            </a:r>
            <a:endParaRPr lang="en-US" sz="1350" dirty="0"/>
          </a:p>
        </p:txBody>
      </p:sp>
      <p:sp>
        <p:nvSpPr>
          <p:cNvPr id="7" name="Text 5"/>
          <p:cNvSpPr txBox="1"/>
          <p:nvPr/>
        </p:nvSpPr>
        <p:spPr>
          <a:xfrm>
            <a:off x="685800" y="2706624"/>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133856" y="2670048"/>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Hoja «Programa anual»: ya trae cinco renglones que cubren los cuatro incisos y la fracción II. Ajústenlos a su giro.</a:t>
            </a:r>
            <a:endParaRPr lang="en-US" sz="1350" dirty="0"/>
          </a:p>
        </p:txBody>
      </p:sp>
      <p:sp>
        <p:nvSpPr>
          <p:cNvPr id="9" name="Text 7"/>
          <p:cNvSpPr txBox="1"/>
          <p:nvPr/>
        </p:nvSpPr>
        <p:spPr>
          <a:xfrm>
            <a:off x="685800" y="3273552"/>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3</a:t>
            </a:r>
            <a:endParaRPr lang="en-US" sz="1400" dirty="0"/>
          </a:p>
        </p:txBody>
      </p:sp>
      <p:sp>
        <p:nvSpPr>
          <p:cNvPr id="10" name="Text 8"/>
          <p:cNvSpPr txBox="1"/>
          <p:nvPr/>
        </p:nvSpPr>
        <p:spPr>
          <a:xfrm>
            <a:off x="1133856" y="3236976"/>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Miren el semáforo de arriba. Si algún contenido mínimo dice FALTA, les falta un curso.</a:t>
            </a:r>
            <a:endParaRPr lang="en-US" sz="1350" dirty="0"/>
          </a:p>
        </p:txBody>
      </p:sp>
      <p:sp>
        <p:nvSpPr>
          <p:cNvPr id="11" name="Text 9"/>
          <p:cNvSpPr txBox="1"/>
          <p:nvPr/>
        </p:nvSpPr>
        <p:spPr>
          <a:xfrm>
            <a:off x="685800" y="3840480"/>
            <a:ext cx="310896" cy="310896"/>
          </a:xfrm>
          <a:prstGeom prst="rect">
            <a:avLst/>
          </a:prstGeom>
          <a:solidFill>
            <a:srgbClr val="F2A541"/>
          </a:solidFill>
          <a:ln/>
        </p:spPr>
        <p:txBody>
          <a:bodyPr wrap="square" lIns="0" tIns="0" rIns="0" bIns="0" rtlCol="0" anchor="ctr"/>
          <a:lstStyle/>
          <a:p>
            <a:pPr algn="ctr" indent="0" marL="0">
              <a:buNone/>
            </a:pPr>
            <a:r>
              <a:rPr lang="en-US" sz="1400" b="1" dirty="0">
                <a:solidFill>
                  <a:srgbClr val="12224A"/>
                </a:solidFill>
                <a:latin typeface="Cambria" pitchFamily="34" charset="0"/>
                <a:ea typeface="Cambria" pitchFamily="34" charset="-122"/>
                <a:cs typeface="Cambria" pitchFamily="34" charset="-120"/>
              </a:rPr>
              <a:t>4</a:t>
            </a:r>
            <a:endParaRPr lang="en-US" sz="1400" dirty="0"/>
          </a:p>
        </p:txBody>
      </p:sp>
      <p:sp>
        <p:nvSpPr>
          <p:cNvPr id="12" name="Text 10"/>
          <p:cNvSpPr txBox="1"/>
          <p:nvPr/>
        </p:nvSpPr>
        <p:spPr>
          <a:xfrm>
            <a:off x="1133856" y="3803904"/>
            <a:ext cx="7315200" cy="402336"/>
          </a:xfrm>
          <a:prstGeom prst="rect">
            <a:avLst/>
          </a:prstGeom>
          <a:noFill/>
          <a:ln/>
        </p:spPr>
        <p:txBody>
          <a:bodyPr wrap="square" lIns="0" tIns="0" rIns="0" bIns="0" rtlCol="0" anchor="ctr"/>
          <a:lstStyle/>
          <a:p>
            <a:pPr indent="0" marL="0">
              <a:lnSpc>
                <a:spcPts val="1800"/>
              </a:lnSpc>
              <a:buNone/>
            </a:pPr>
            <a:r>
              <a:rPr lang="en-US" sz="1350" dirty="0">
                <a:solidFill>
                  <a:srgbClr val="E8EBF2"/>
                </a:solidFill>
                <a:latin typeface="Arial" pitchFamily="34" charset="0"/>
                <a:ea typeface="Arial" pitchFamily="34" charset="-122"/>
                <a:cs typeface="Arial" pitchFamily="34" charset="-120"/>
              </a:rPr>
              <a:t>Hoja «Evidencia»: pongan la fecha de un evento y vean cómo se calcula sola la fecha en que se puede destruir.</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Cómo se prueba que el manual se aplica</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La pregunta que cierra toda visita.</a:t>
            </a:r>
            <a:endParaRPr lang="en-US" sz="1300" dirty="0"/>
          </a:p>
        </p:txBody>
      </p:sp>
      <p:sp>
        <p:nvSpPr>
          <p:cNvPr id="4" name="Text 2"/>
          <p:cNvSpPr txBox="1"/>
          <p:nvPr/>
        </p:nvSpPr>
        <p:spPr>
          <a:xfrm>
            <a:off x="566928" y="1298448"/>
            <a:ext cx="8010144" cy="402336"/>
          </a:xfrm>
          <a:prstGeom prst="rect">
            <a:avLst/>
          </a:prstGeom>
          <a:noFill/>
          <a:ln/>
        </p:spPr>
        <p:txBody>
          <a:bodyPr wrap="square" lIns="0" tIns="0" rIns="0" bIns="0" rtlCol="0" anchor="ctr"/>
          <a:lstStyle/>
          <a:p>
            <a:pPr indent="0" marL="0">
              <a:buNone/>
            </a:pPr>
            <a:r>
              <a:rPr lang="en-US" sz="2000" b="1" dirty="0">
                <a:solidFill>
                  <a:srgbClr val="12224A"/>
                </a:solidFill>
                <a:latin typeface="Cambria" pitchFamily="34" charset="0"/>
                <a:ea typeface="Cambria" pitchFamily="34" charset="-122"/>
                <a:cs typeface="Cambria" pitchFamily="34" charset="-120"/>
              </a:rPr>
              <a:t>De todo lo que su manual dice que usted hace, ¿qué documento lo prueba?</a:t>
            </a:r>
            <a:endParaRPr lang="en-US" sz="2000" dirty="0"/>
          </a:p>
        </p:txBody>
      </p:sp>
      <p:sp>
        <p:nvSpPr>
          <p:cNvPr id="5" name="Shape 3"/>
          <p:cNvSpPr/>
          <p:nvPr/>
        </p:nvSpPr>
        <p:spPr>
          <a:xfrm>
            <a:off x="566928" y="1828800"/>
            <a:ext cx="8010144" cy="694944"/>
          </a:xfrm>
          <a:prstGeom prst="roundRect">
            <a:avLst>
              <a:gd name="adj" fmla="val 7895"/>
            </a:avLst>
          </a:prstGeom>
          <a:solidFill>
            <a:srgbClr val="F5F6F9"/>
          </a:solidFill>
          <a:ln w="12700">
            <a:solidFill>
              <a:srgbClr val="E5E7EB"/>
            </a:solidFill>
            <a:prstDash val="solid"/>
          </a:ln>
        </p:spPr>
      </p:sp>
      <p:sp>
        <p:nvSpPr>
          <p:cNvPr id="6" name="Text 4"/>
          <p:cNvSpPr txBox="1"/>
          <p:nvPr/>
        </p:nvSpPr>
        <p:spPr>
          <a:xfrm>
            <a:off x="786384" y="1828800"/>
            <a:ext cx="2286000" cy="694944"/>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Evidencia de existencia</a:t>
            </a:r>
            <a:endParaRPr lang="en-US" sz="1400" dirty="0"/>
          </a:p>
        </p:txBody>
      </p:sp>
      <p:sp>
        <p:nvSpPr>
          <p:cNvPr id="7" name="Text 5"/>
          <p:cNvSpPr txBox="1"/>
          <p:nvPr/>
        </p:nvSpPr>
        <p:spPr>
          <a:xfrm>
            <a:off x="3200400" y="1828800"/>
            <a:ext cx="3840480" cy="694944"/>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El documento, con su versión y su fecha.</a:t>
            </a:r>
            <a:endParaRPr lang="en-US" sz="1250" dirty="0"/>
          </a:p>
        </p:txBody>
      </p:sp>
      <p:sp>
        <p:nvSpPr>
          <p:cNvPr id="8" name="Text 6"/>
          <p:cNvSpPr txBox="1"/>
          <p:nvPr/>
        </p:nvSpPr>
        <p:spPr>
          <a:xfrm>
            <a:off x="7168896" y="1828800"/>
            <a:ext cx="1280160" cy="694944"/>
          </a:xfrm>
          <a:prstGeom prst="rect">
            <a:avLst/>
          </a:prstGeom>
          <a:noFill/>
          <a:ln/>
        </p:spPr>
        <p:txBody>
          <a:bodyPr wrap="square" lIns="0" tIns="0" rIns="0" bIns="0" rtlCol="0" anchor="ctr"/>
          <a:lstStyle/>
          <a:p>
            <a:pPr algn="r" indent="0" marL="0">
              <a:lnSpc>
                <a:spcPts val="1500"/>
              </a:lnSpc>
              <a:buNone/>
            </a:pPr>
            <a:r>
              <a:rPr lang="en-US" sz="1150" i="1" dirty="0">
                <a:solidFill>
                  <a:srgbClr val="6B7280"/>
                </a:solidFill>
                <a:latin typeface="Arial" pitchFamily="34" charset="0"/>
                <a:ea typeface="Arial" pitchFamily="34" charset="-122"/>
                <a:cs typeface="Arial" pitchFamily="34" charset="-120"/>
              </a:rPr>
              <a:t>Casi todos la tienen.</a:t>
            </a:r>
            <a:endParaRPr lang="en-US" sz="1150" dirty="0"/>
          </a:p>
        </p:txBody>
      </p:sp>
      <p:sp>
        <p:nvSpPr>
          <p:cNvPr id="9" name="Shape 7"/>
          <p:cNvSpPr/>
          <p:nvPr/>
        </p:nvSpPr>
        <p:spPr>
          <a:xfrm>
            <a:off x="566928" y="2615184"/>
            <a:ext cx="8010144" cy="694944"/>
          </a:xfrm>
          <a:prstGeom prst="roundRect">
            <a:avLst>
              <a:gd name="adj" fmla="val 7895"/>
            </a:avLst>
          </a:prstGeom>
          <a:solidFill>
            <a:srgbClr val="F5F6F9"/>
          </a:solidFill>
          <a:ln w="12700">
            <a:solidFill>
              <a:srgbClr val="E5E7EB"/>
            </a:solidFill>
            <a:prstDash val="solid"/>
          </a:ln>
        </p:spPr>
      </p:sp>
      <p:sp>
        <p:nvSpPr>
          <p:cNvPr id="10" name="Text 8"/>
          <p:cNvSpPr txBox="1"/>
          <p:nvPr/>
        </p:nvSpPr>
        <p:spPr>
          <a:xfrm>
            <a:off x="786384" y="2615184"/>
            <a:ext cx="2286000" cy="694944"/>
          </a:xfrm>
          <a:prstGeom prst="rect">
            <a:avLst/>
          </a:prstGeom>
          <a:noFill/>
          <a:ln/>
        </p:spPr>
        <p:txBody>
          <a:bodyPr wrap="square" lIns="0" tIns="0" rIns="0" bIns="0" rtlCol="0" anchor="ctr"/>
          <a:lstStyle/>
          <a:p>
            <a:pPr indent="0" marL="0">
              <a:buNone/>
            </a:pPr>
            <a:r>
              <a:rPr lang="en-US" sz="1400" b="1" dirty="0">
                <a:solidFill>
                  <a:srgbClr val="12224A"/>
                </a:solidFill>
                <a:latin typeface="Arial" pitchFamily="34" charset="0"/>
                <a:ea typeface="Arial" pitchFamily="34" charset="-122"/>
                <a:cs typeface="Arial" pitchFamily="34" charset="-120"/>
              </a:rPr>
              <a:t>Evidencia de difusión</a:t>
            </a:r>
            <a:endParaRPr lang="en-US" sz="1400" dirty="0"/>
          </a:p>
        </p:txBody>
      </p:sp>
      <p:sp>
        <p:nvSpPr>
          <p:cNvPr id="11" name="Text 9"/>
          <p:cNvSpPr txBox="1"/>
          <p:nvPr/>
        </p:nvSpPr>
        <p:spPr>
          <a:xfrm>
            <a:off x="3200400" y="2615184"/>
            <a:ext cx="3840480" cy="694944"/>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Los acuses de que el personal obligado lo recibió y lo conoce.</a:t>
            </a:r>
            <a:endParaRPr lang="en-US" sz="1250" dirty="0"/>
          </a:p>
        </p:txBody>
      </p:sp>
      <p:sp>
        <p:nvSpPr>
          <p:cNvPr id="12" name="Text 10"/>
          <p:cNvSpPr txBox="1"/>
          <p:nvPr/>
        </p:nvSpPr>
        <p:spPr>
          <a:xfrm>
            <a:off x="7168896" y="2615184"/>
            <a:ext cx="1280160" cy="694944"/>
          </a:xfrm>
          <a:prstGeom prst="rect">
            <a:avLst/>
          </a:prstGeom>
          <a:noFill/>
          <a:ln/>
        </p:spPr>
        <p:txBody>
          <a:bodyPr wrap="square" lIns="0" tIns="0" rIns="0" bIns="0" rtlCol="0" anchor="ctr"/>
          <a:lstStyle/>
          <a:p>
            <a:pPr algn="r" indent="0" marL="0">
              <a:lnSpc>
                <a:spcPts val="1500"/>
              </a:lnSpc>
              <a:buNone/>
            </a:pPr>
            <a:r>
              <a:rPr lang="en-US" sz="1150" i="1" dirty="0">
                <a:solidFill>
                  <a:srgbClr val="6B7280"/>
                </a:solidFill>
                <a:latin typeface="Arial" pitchFamily="34" charset="0"/>
                <a:ea typeface="Arial" pitchFamily="34" charset="-122"/>
                <a:cs typeface="Arial" pitchFamily="34" charset="-120"/>
              </a:rPr>
              <a:t>Algunos la tienen.</a:t>
            </a:r>
            <a:endParaRPr lang="en-US" sz="1150" dirty="0"/>
          </a:p>
        </p:txBody>
      </p:sp>
      <p:sp>
        <p:nvSpPr>
          <p:cNvPr id="13" name="Shape 11"/>
          <p:cNvSpPr/>
          <p:nvPr/>
        </p:nvSpPr>
        <p:spPr>
          <a:xfrm>
            <a:off x="566928" y="3401568"/>
            <a:ext cx="8010144" cy="694944"/>
          </a:xfrm>
          <a:prstGeom prst="roundRect">
            <a:avLst>
              <a:gd name="adj" fmla="val 7895"/>
            </a:avLst>
          </a:prstGeom>
          <a:solidFill>
            <a:srgbClr val="FDF3E3"/>
          </a:solidFill>
          <a:ln w="12700">
            <a:solidFill>
              <a:srgbClr val="F2A541"/>
            </a:solidFill>
            <a:prstDash val="solid"/>
          </a:ln>
        </p:spPr>
      </p:sp>
      <p:sp>
        <p:nvSpPr>
          <p:cNvPr id="14" name="Text 12"/>
          <p:cNvSpPr txBox="1"/>
          <p:nvPr/>
        </p:nvSpPr>
        <p:spPr>
          <a:xfrm>
            <a:off x="786384" y="3401568"/>
            <a:ext cx="2286000" cy="694944"/>
          </a:xfrm>
          <a:prstGeom prst="rect">
            <a:avLst/>
          </a:prstGeom>
          <a:noFill/>
          <a:ln/>
        </p:spPr>
        <p:txBody>
          <a:bodyPr wrap="square" lIns="0" tIns="0" rIns="0" bIns="0" rtlCol="0" anchor="ctr"/>
          <a:lstStyle/>
          <a:p>
            <a:pPr indent="0" marL="0">
              <a:buNone/>
            </a:pPr>
            <a:r>
              <a:rPr lang="en-US" sz="1400" b="1" dirty="0">
                <a:solidFill>
                  <a:srgbClr val="92400E"/>
                </a:solidFill>
                <a:latin typeface="Arial" pitchFamily="34" charset="0"/>
                <a:ea typeface="Arial" pitchFamily="34" charset="-122"/>
                <a:cs typeface="Arial" pitchFamily="34" charset="-120"/>
              </a:rPr>
              <a:t>Evidencia de aplicación</a:t>
            </a:r>
            <a:endParaRPr lang="en-US" sz="1400" dirty="0"/>
          </a:p>
        </p:txBody>
      </p:sp>
      <p:sp>
        <p:nvSpPr>
          <p:cNvPr id="15" name="Text 13"/>
          <p:cNvSpPr txBox="1"/>
          <p:nvPr/>
        </p:nvSpPr>
        <p:spPr>
          <a:xfrm>
            <a:off x="3200400" y="3401568"/>
            <a:ext cx="3840480" cy="694944"/>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El expediente, la bitácora, la constancia, el acuse: el rastro de haberlo hecho.</a:t>
            </a:r>
            <a:endParaRPr lang="en-US" sz="1250" dirty="0"/>
          </a:p>
        </p:txBody>
      </p:sp>
      <p:sp>
        <p:nvSpPr>
          <p:cNvPr id="16" name="Text 14"/>
          <p:cNvSpPr txBox="1"/>
          <p:nvPr/>
        </p:nvSpPr>
        <p:spPr>
          <a:xfrm>
            <a:off x="7168896" y="3401568"/>
            <a:ext cx="1280160" cy="694944"/>
          </a:xfrm>
          <a:prstGeom prst="rect">
            <a:avLst/>
          </a:prstGeom>
          <a:noFill/>
          <a:ln/>
        </p:spPr>
        <p:txBody>
          <a:bodyPr wrap="square" lIns="0" tIns="0" rIns="0" bIns="0" rtlCol="0" anchor="ctr"/>
          <a:lstStyle/>
          <a:p>
            <a:pPr algn="r" indent="0" marL="0">
              <a:lnSpc>
                <a:spcPts val="1500"/>
              </a:lnSpc>
              <a:buNone/>
            </a:pPr>
            <a:r>
              <a:rPr lang="en-US" sz="1150" i="1" dirty="0">
                <a:solidFill>
                  <a:srgbClr val="6B7280"/>
                </a:solidFill>
                <a:latin typeface="Arial" pitchFamily="34" charset="0"/>
                <a:ea typeface="Arial" pitchFamily="34" charset="-122"/>
                <a:cs typeface="Arial" pitchFamily="34" charset="-120"/>
              </a:rPr>
              <a:t>Casi nadie la tiene.</a:t>
            </a:r>
            <a:endParaRPr lang="en-US" sz="1150" dirty="0"/>
          </a:p>
        </p:txBody>
      </p:sp>
      <p:sp>
        <p:nvSpPr>
          <p:cNvPr id="17" name="Shape 15"/>
          <p:cNvSpPr/>
          <p:nvPr/>
        </p:nvSpPr>
        <p:spPr>
          <a:xfrm>
            <a:off x="566928" y="4169664"/>
            <a:ext cx="8010144" cy="457200"/>
          </a:xfrm>
          <a:prstGeom prst="roundRect">
            <a:avLst>
              <a:gd name="adj" fmla="val 12000"/>
            </a:avLst>
          </a:prstGeom>
          <a:solidFill>
            <a:srgbClr val="F5F6F9"/>
          </a:solidFill>
          <a:ln w="12700">
            <a:solidFill>
              <a:srgbClr val="E5E7EB"/>
            </a:solidFill>
            <a:prstDash val="solid"/>
          </a:ln>
        </p:spPr>
      </p:sp>
      <p:sp>
        <p:nvSpPr>
          <p:cNvPr id="18" name="Text 16"/>
          <p:cNvSpPr txBox="1"/>
          <p:nvPr/>
        </p:nvSpPr>
        <p:spPr>
          <a:xfrm>
            <a:off x="786384" y="4169664"/>
            <a:ext cx="7571232" cy="457200"/>
          </a:xfrm>
          <a:prstGeom prst="rect">
            <a:avLst/>
          </a:prstGeom>
          <a:noFill/>
          <a:ln/>
        </p:spPr>
        <p:txBody>
          <a:bodyPr wrap="square" lIns="0" tIns="0" rIns="0" bIns="0" rtlCol="0" anchor="ctr"/>
          <a:lstStyle/>
          <a:p>
            <a:pPr indent="0" marL="0">
              <a:buNone/>
            </a:pPr>
            <a:r>
              <a:rPr lang="en-US" sz="1250" dirty="0">
                <a:solidFill>
                  <a:srgbClr val="1F2937"/>
                </a:solidFill>
                <a:latin typeface="Arial" pitchFamily="34" charset="0"/>
                <a:ea typeface="Arial" pitchFamily="34" charset="-122"/>
                <a:cs typeface="Arial" pitchFamily="34" charset="-120"/>
              </a:rPr>
              <a:t>Cada apartado de la plantilla que se llevan termina con el bloque «qué evidencia acredita que este apartado se aplica». Ésa es la columna que van a necesitar.</a:t>
            </a:r>
            <a:endParaRPr lang="en-US" sz="1250" dirty="0"/>
          </a:p>
        </p:txBody>
      </p:sp>
      <p:sp>
        <p:nvSpPr>
          <p:cNvPr id="19" name="Text 17"/>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20" name="Text 18"/>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Lo que cuesta no tenerlo</a:t>
            </a:r>
            <a:endParaRPr lang="en-US" sz="2800" dirty="0"/>
          </a:p>
        </p:txBody>
      </p:sp>
      <p:sp>
        <p:nvSpPr>
          <p:cNvPr id="3" name="Text 1"/>
          <p:cNvSpPr txBox="1"/>
          <p:nvPr/>
        </p:nvSpPr>
        <p:spPr>
          <a:xfrm>
            <a:off x="566928" y="1152144"/>
            <a:ext cx="888797"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53 fr. II</a:t>
            </a:r>
            <a:endParaRPr lang="en-US" sz="1000" dirty="0"/>
          </a:p>
        </p:txBody>
      </p:sp>
      <p:sp>
        <p:nvSpPr>
          <p:cNvPr id="4" name="Text 2"/>
          <p:cNvSpPr txBox="1"/>
          <p:nvPr/>
        </p:nvSpPr>
        <p:spPr>
          <a:xfrm>
            <a:off x="1565453" y="1152144"/>
            <a:ext cx="822960" cy="237744"/>
          </a:xfrm>
          <a:prstGeom prst="rect">
            <a:avLst/>
          </a:prstGeom>
          <a:solidFill>
            <a:srgbClr val="1D4ED8"/>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L 54 fr. I</a:t>
            </a:r>
            <a:endParaRPr lang="en-US" sz="1000" dirty="0"/>
          </a:p>
        </p:txBody>
      </p:sp>
      <p:sp>
        <p:nvSpPr>
          <p:cNvPr id="5" name="Shape 3"/>
          <p:cNvSpPr/>
          <p:nvPr/>
        </p:nvSpPr>
        <p:spPr>
          <a:xfrm>
            <a:off x="566928" y="1572768"/>
            <a:ext cx="8010144" cy="731520"/>
          </a:xfrm>
          <a:prstGeom prst="roundRect">
            <a:avLst>
              <a:gd name="adj" fmla="val 7500"/>
            </a:avLst>
          </a:prstGeom>
          <a:solidFill>
            <a:srgbClr val="F5F6F9"/>
          </a:solidFill>
          <a:ln w="12700">
            <a:solidFill>
              <a:srgbClr val="E5E7EB"/>
            </a:solidFill>
            <a:prstDash val="solid"/>
          </a:ln>
        </p:spPr>
      </p:sp>
      <p:sp>
        <p:nvSpPr>
          <p:cNvPr id="6" name="Text 4"/>
          <p:cNvSpPr txBox="1"/>
          <p:nvPr/>
        </p:nvSpPr>
        <p:spPr>
          <a:xfrm>
            <a:off x="822960" y="1572768"/>
            <a:ext cx="7498080" cy="731520"/>
          </a:xfrm>
          <a:prstGeom prst="rect">
            <a:avLst/>
          </a:prstGeom>
          <a:noFill/>
          <a:ln/>
        </p:spPr>
        <p:txBody>
          <a:bodyPr wrap="square" lIns="0" tIns="0" rIns="0" bIns="0" rtlCol="0" anchor="ctr"/>
          <a:lstStyle/>
          <a:p>
            <a:pPr indent="0" marL="0">
              <a:lnSpc>
                <a:spcPts val="1800"/>
              </a:lnSpc>
              <a:buNone/>
            </a:pPr>
            <a:r>
              <a:rPr lang="en-US" sz="1350" dirty="0">
                <a:solidFill>
                  <a:srgbClr val="1F2937"/>
                </a:solidFill>
                <a:latin typeface="Arial" pitchFamily="34" charset="0"/>
                <a:ea typeface="Arial" pitchFamily="34" charset="-122"/>
                <a:cs typeface="Arial" pitchFamily="34" charset="-120"/>
              </a:rPr>
              <a:t>El artículo 53 fracción II sanciona el incumplimiento de CUALQUIERA de las obligaciones del artículo 18 de la Ley. Ahí están la fracción VIII —el Manual— y la fracción IX —capacitación y selección de personal—.</a:t>
            </a:r>
            <a:endParaRPr lang="en-US" sz="1350" dirty="0"/>
          </a:p>
        </p:txBody>
      </p:sp>
      <p:sp>
        <p:nvSpPr>
          <p:cNvPr id="7" name="Shape 5"/>
          <p:cNvSpPr/>
          <p:nvPr/>
        </p:nvSpPr>
        <p:spPr>
          <a:xfrm>
            <a:off x="566928" y="2505456"/>
            <a:ext cx="3931920" cy="1371600"/>
          </a:xfrm>
          <a:prstGeom prst="roundRect">
            <a:avLst>
              <a:gd name="adj" fmla="val 4000"/>
            </a:avLst>
          </a:prstGeom>
          <a:solidFill>
            <a:srgbClr val="FDF3E3"/>
          </a:solidFill>
          <a:ln w="19050">
            <a:solidFill>
              <a:srgbClr val="F2A541"/>
            </a:solidFill>
            <a:prstDash val="solid"/>
          </a:ln>
        </p:spPr>
      </p:sp>
      <p:sp>
        <p:nvSpPr>
          <p:cNvPr id="8" name="Text 6"/>
          <p:cNvSpPr txBox="1"/>
          <p:nvPr/>
        </p:nvSpPr>
        <p:spPr>
          <a:xfrm>
            <a:off x="786384" y="2651760"/>
            <a:ext cx="3493008" cy="512064"/>
          </a:xfrm>
          <a:prstGeom prst="rect">
            <a:avLst/>
          </a:prstGeom>
          <a:noFill/>
          <a:ln/>
        </p:spPr>
        <p:txBody>
          <a:bodyPr wrap="square" lIns="0" tIns="0" rIns="0" bIns="0" rtlCol="0" anchor="ctr"/>
          <a:lstStyle/>
          <a:p>
            <a:pPr algn="ctr" indent="0" marL="0">
              <a:buNone/>
            </a:pPr>
            <a:r>
              <a:rPr lang="en-US" sz="3000" b="1" dirty="0">
                <a:solidFill>
                  <a:srgbClr val="92400E"/>
                </a:solidFill>
                <a:latin typeface="Cambria" pitchFamily="34" charset="0"/>
                <a:ea typeface="Cambria" pitchFamily="34" charset="-122"/>
                <a:cs typeface="Cambria" pitchFamily="34" charset="-120"/>
              </a:rPr>
              <a:t>200 a 2,000</a:t>
            </a:r>
            <a:endParaRPr lang="en-US" sz="3000" dirty="0"/>
          </a:p>
        </p:txBody>
      </p:sp>
      <p:sp>
        <p:nvSpPr>
          <p:cNvPr id="9" name="Text 7"/>
          <p:cNvSpPr txBox="1"/>
          <p:nvPr/>
        </p:nvSpPr>
        <p:spPr>
          <a:xfrm>
            <a:off x="786384" y="3163824"/>
            <a:ext cx="3493008" cy="274320"/>
          </a:xfrm>
          <a:prstGeom prst="rect">
            <a:avLst/>
          </a:prstGeom>
          <a:noFill/>
          <a:ln/>
        </p:spPr>
        <p:txBody>
          <a:bodyPr wrap="square" lIns="0" tIns="0" rIns="0" bIns="0" rtlCol="0" anchor="ctr"/>
          <a:lstStyle/>
          <a:p>
            <a:pPr algn="ctr" indent="0" marL="0">
              <a:buNone/>
            </a:pPr>
            <a:r>
              <a:rPr lang="en-US" sz="1200" dirty="0">
                <a:solidFill>
                  <a:srgbClr val="6B7280"/>
                </a:solidFill>
                <a:latin typeface="Arial" pitchFamily="34" charset="0"/>
                <a:ea typeface="Arial" pitchFamily="34" charset="-122"/>
                <a:cs typeface="Arial" pitchFamily="34" charset="-120"/>
              </a:rPr>
              <a:t>veces el valor diario de la UMA</a:t>
            </a:r>
            <a:endParaRPr lang="en-US" sz="1200" dirty="0"/>
          </a:p>
        </p:txBody>
      </p:sp>
      <p:sp>
        <p:nvSpPr>
          <p:cNvPr id="10" name="Text 8"/>
          <p:cNvSpPr txBox="1"/>
          <p:nvPr/>
        </p:nvSpPr>
        <p:spPr>
          <a:xfrm>
            <a:off x="786384" y="3474720"/>
            <a:ext cx="3493008" cy="274320"/>
          </a:xfrm>
          <a:prstGeom prst="rect">
            <a:avLst/>
          </a:prstGeom>
          <a:noFill/>
          <a:ln/>
        </p:spPr>
        <p:txBody>
          <a:bodyPr wrap="square" lIns="0" tIns="0" rIns="0" bIns="0" rtlCol="0" anchor="ctr"/>
          <a:lstStyle/>
          <a:p>
            <a:pPr algn="ctr" indent="0" marL="0">
              <a:buNone/>
            </a:pPr>
            <a:r>
              <a:rPr lang="en-US" sz="1100" b="1" dirty="0">
                <a:solidFill>
                  <a:srgbClr val="1D4ED8"/>
                </a:solidFill>
                <a:latin typeface="Arial" pitchFamily="34" charset="0"/>
                <a:ea typeface="Arial" pitchFamily="34" charset="-122"/>
                <a:cs typeface="Arial" pitchFamily="34" charset="-120"/>
              </a:rPr>
              <a:t>L 54 fr. I</a:t>
            </a:r>
            <a:endParaRPr lang="en-US" sz="1100" dirty="0"/>
          </a:p>
        </p:txBody>
      </p:sp>
      <p:sp>
        <p:nvSpPr>
          <p:cNvPr id="11" name="Shape 9"/>
          <p:cNvSpPr/>
          <p:nvPr/>
        </p:nvSpPr>
        <p:spPr>
          <a:xfrm>
            <a:off x="4645152" y="2505456"/>
            <a:ext cx="3931920" cy="1371600"/>
          </a:xfrm>
          <a:prstGeom prst="roundRect">
            <a:avLst>
              <a:gd name="adj" fmla="val 4000"/>
            </a:avLst>
          </a:prstGeom>
          <a:solidFill>
            <a:srgbClr val="F5F6F9"/>
          </a:solidFill>
          <a:ln w="12700">
            <a:solidFill>
              <a:srgbClr val="D1D5DB"/>
            </a:solidFill>
            <a:prstDash val="solid"/>
          </a:ln>
        </p:spPr>
      </p:sp>
      <p:sp>
        <p:nvSpPr>
          <p:cNvPr id="12" name="Text 10"/>
          <p:cNvSpPr txBox="1"/>
          <p:nvPr/>
        </p:nvSpPr>
        <p:spPr>
          <a:xfrm>
            <a:off x="4864608" y="2651760"/>
            <a:ext cx="3493008" cy="512064"/>
          </a:xfrm>
          <a:prstGeom prst="rect">
            <a:avLst/>
          </a:prstGeom>
          <a:noFill/>
          <a:ln/>
        </p:spPr>
        <p:txBody>
          <a:bodyPr wrap="square" lIns="0" tIns="0" rIns="0" bIns="0" rtlCol="0" anchor="ctr"/>
          <a:lstStyle/>
          <a:p>
            <a:pPr algn="ctr" indent="0" marL="0">
              <a:buNone/>
            </a:pPr>
            <a:r>
              <a:rPr lang="en-US" sz="2600" b="1" dirty="0">
                <a:solidFill>
                  <a:srgbClr val="12224A"/>
                </a:solidFill>
                <a:latin typeface="Cambria" pitchFamily="34" charset="0"/>
                <a:ea typeface="Cambria" pitchFamily="34" charset="-122"/>
                <a:cs typeface="Cambria" pitchFamily="34" charset="-120"/>
              </a:rPr>
              <a:t>$23,462 a $234,620</a:t>
            </a:r>
            <a:endParaRPr lang="en-US" sz="2600" dirty="0"/>
          </a:p>
        </p:txBody>
      </p:sp>
      <p:sp>
        <p:nvSpPr>
          <p:cNvPr id="13" name="Text 11"/>
          <p:cNvSpPr txBox="1"/>
          <p:nvPr/>
        </p:nvSpPr>
        <p:spPr>
          <a:xfrm>
            <a:off x="4864608" y="3163824"/>
            <a:ext cx="3493008" cy="274320"/>
          </a:xfrm>
          <a:prstGeom prst="rect">
            <a:avLst/>
          </a:prstGeom>
          <a:noFill/>
          <a:ln/>
        </p:spPr>
        <p:txBody>
          <a:bodyPr wrap="square" lIns="0" tIns="0" rIns="0" bIns="0" rtlCol="0" anchor="ctr"/>
          <a:lstStyle/>
          <a:p>
            <a:pPr algn="ctr" indent="0" marL="0">
              <a:buNone/>
            </a:pPr>
            <a:r>
              <a:rPr lang="en-US" sz="1200" dirty="0">
                <a:solidFill>
                  <a:srgbClr val="6B7280"/>
                </a:solidFill>
                <a:latin typeface="Arial" pitchFamily="34" charset="0"/>
                <a:ea typeface="Arial" pitchFamily="34" charset="-122"/>
                <a:cs typeface="Arial" pitchFamily="34" charset="-120"/>
              </a:rPr>
              <a:t>con la UMA diaria de 2026, de $117.31</a:t>
            </a:r>
            <a:endParaRPr lang="en-US" sz="1200" dirty="0"/>
          </a:p>
        </p:txBody>
      </p:sp>
      <p:sp>
        <p:nvSpPr>
          <p:cNvPr id="14" name="Text 12"/>
          <p:cNvSpPr txBox="1"/>
          <p:nvPr/>
        </p:nvSpPr>
        <p:spPr>
          <a:xfrm>
            <a:off x="4864608" y="3474720"/>
            <a:ext cx="3493008" cy="274320"/>
          </a:xfrm>
          <a:prstGeom prst="rect">
            <a:avLst/>
          </a:prstGeom>
          <a:noFill/>
          <a:ln/>
        </p:spPr>
        <p:txBody>
          <a:bodyPr wrap="square" lIns="0" tIns="0" rIns="0" bIns="0" rtlCol="0" anchor="ctr"/>
          <a:lstStyle/>
          <a:p>
            <a:pPr algn="ctr" indent="0" marL="0">
              <a:buNone/>
            </a:pPr>
            <a:r>
              <a:rPr lang="en-US" sz="1100" dirty="0">
                <a:solidFill>
                  <a:srgbClr val="6B7280"/>
                </a:solidFill>
                <a:latin typeface="Arial" pitchFamily="34" charset="0"/>
                <a:ea typeface="Arial" pitchFamily="34" charset="-122"/>
                <a:cs typeface="Arial" pitchFamily="34" charset="-120"/>
              </a:rPr>
              <a:t>INEGI, vigente desde el 1 de febrero de 2026</a:t>
            </a:r>
            <a:endParaRPr lang="en-US" sz="1100" dirty="0"/>
          </a:p>
        </p:txBody>
      </p:sp>
      <p:sp>
        <p:nvSpPr>
          <p:cNvPr id="15" name="Text 13"/>
          <p:cNvSpPr txBox="1"/>
          <p:nvPr/>
        </p:nvSpPr>
        <p:spPr>
          <a:xfrm>
            <a:off x="566928" y="4078224"/>
            <a:ext cx="8010144" cy="292608"/>
          </a:xfrm>
          <a:prstGeom prst="rect">
            <a:avLst/>
          </a:prstGeom>
          <a:noFill/>
          <a:ln/>
        </p:spPr>
        <p:txBody>
          <a:bodyPr wrap="square" lIns="0" tIns="0" rIns="0" bIns="0" rtlCol="0" anchor="ctr"/>
          <a:lstStyle/>
          <a:p>
            <a:pPr indent="0" marL="0">
              <a:buNone/>
            </a:pPr>
            <a:r>
              <a:rPr lang="en-US" sz="1300" b="1" dirty="0">
                <a:solidFill>
                  <a:srgbClr val="12224A"/>
                </a:solidFill>
                <a:latin typeface="Arial" pitchFamily="34" charset="0"/>
                <a:ea typeface="Arial" pitchFamily="34" charset="-122"/>
                <a:cs typeface="Arial" pitchFamily="34" charset="-120"/>
              </a:rPr>
              <a:t>Es multa por obligación incumplida, no por operación. Un manual ausente y un programa de capacitación ausente son dos.</a:t>
            </a:r>
            <a:endParaRPr lang="en-US" sz="1300" dirty="0"/>
          </a:p>
        </p:txBody>
      </p:sp>
      <p:sp>
        <p:nvSpPr>
          <p:cNvPr id="16" name="Text 14"/>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17" name="Text 15"/>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Cuándo hay que volver a tocarlo</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No es «cada año». Es cada vez que pase algo de esto.</a:t>
            </a:r>
            <a:endParaRPr lang="en-US" sz="1300" dirty="0"/>
          </a:p>
        </p:txBody>
      </p:sp>
      <p:sp>
        <p:nvSpPr>
          <p:cNvPr id="4" name="Text 2"/>
          <p:cNvSpPr txBox="1"/>
          <p:nvPr/>
        </p:nvSpPr>
        <p:spPr>
          <a:xfrm>
            <a:off x="566928" y="1170432"/>
            <a:ext cx="134965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 Bis fr. XIV</a:t>
            </a:r>
            <a:endParaRPr lang="en-US" sz="1000" dirty="0"/>
          </a:p>
        </p:txBody>
      </p:sp>
      <p:sp>
        <p:nvSpPr>
          <p:cNvPr id="5" name="Text 3"/>
          <p:cNvSpPr txBox="1"/>
          <p:nvPr/>
        </p:nvSpPr>
        <p:spPr>
          <a:xfrm>
            <a:off x="2026310" y="1170432"/>
            <a:ext cx="954634" cy="237744"/>
          </a:xfrm>
          <a:prstGeom prst="rect">
            <a:avLst/>
          </a:prstGeom>
          <a:solidFill>
            <a:srgbClr val="B45309"/>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RCG 37 Bis 3</a:t>
            </a:r>
            <a:endParaRPr lang="en-US" sz="1000" dirty="0"/>
          </a:p>
        </p:txBody>
      </p:sp>
      <p:sp>
        <p:nvSpPr>
          <p:cNvPr id="6" name="Text 4"/>
          <p:cNvSpPr txBox="1"/>
          <p:nvPr/>
        </p:nvSpPr>
        <p:spPr>
          <a:xfrm>
            <a:off x="566928" y="1609344"/>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7" name="Text 5"/>
          <p:cNvSpPr txBox="1"/>
          <p:nvPr/>
        </p:nvSpPr>
        <p:spPr>
          <a:xfrm>
            <a:off x="768096" y="1609344"/>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Reforma a la Ley, al Reglamento o a las Reglas</a:t>
            </a:r>
            <a:endParaRPr lang="en-US" sz="1250" dirty="0"/>
          </a:p>
        </p:txBody>
      </p:sp>
      <p:sp>
        <p:nvSpPr>
          <p:cNvPr id="8" name="Text 6"/>
          <p:cNvSpPr txBox="1"/>
          <p:nvPr/>
        </p:nvSpPr>
        <p:spPr>
          <a:xfrm>
            <a:off x="4645152" y="1609344"/>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9" name="Text 7"/>
          <p:cNvSpPr txBox="1"/>
          <p:nvPr/>
        </p:nvSpPr>
        <p:spPr>
          <a:xfrm>
            <a:off x="4846320" y="1609344"/>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Publicación o cambio de anexos o formatos oficiales</a:t>
            </a:r>
            <a:endParaRPr lang="en-US" sz="1250" dirty="0"/>
          </a:p>
        </p:txBody>
      </p:sp>
      <p:sp>
        <p:nvSpPr>
          <p:cNvPr id="10" name="Text 8"/>
          <p:cNvSpPr txBox="1"/>
          <p:nvPr/>
        </p:nvSpPr>
        <p:spPr>
          <a:xfrm>
            <a:off x="566928" y="2121408"/>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11" name="Text 9"/>
          <p:cNvSpPr txBox="1"/>
          <p:nvPr/>
        </p:nvSpPr>
        <p:spPr>
          <a:xfrm>
            <a:off x="768096" y="2121408"/>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Cambio en las fracciones del artículo 17 que usted realiza</a:t>
            </a:r>
            <a:endParaRPr lang="en-US" sz="1250" dirty="0"/>
          </a:p>
        </p:txBody>
      </p:sp>
      <p:sp>
        <p:nvSpPr>
          <p:cNvPr id="12" name="Text 10"/>
          <p:cNvSpPr txBox="1"/>
          <p:nvPr/>
        </p:nvSpPr>
        <p:spPr>
          <a:xfrm>
            <a:off x="4645152" y="2121408"/>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13" name="Text 11"/>
          <p:cNvSpPr txBox="1"/>
          <p:nvPr/>
        </p:nvSpPr>
        <p:spPr>
          <a:xfrm>
            <a:off x="4846320" y="2121408"/>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Resultado de la evaluación que mueva su Grado de Riesgo propio</a:t>
            </a:r>
            <a:endParaRPr lang="en-US" sz="1250" dirty="0"/>
          </a:p>
        </p:txBody>
      </p:sp>
      <p:sp>
        <p:nvSpPr>
          <p:cNvPr id="14" name="Text 12"/>
          <p:cNvSpPr txBox="1"/>
          <p:nvPr/>
        </p:nvSpPr>
        <p:spPr>
          <a:xfrm>
            <a:off x="566928" y="2633472"/>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15" name="Text 13"/>
          <p:cNvSpPr txBox="1"/>
          <p:nvPr/>
        </p:nvSpPr>
        <p:spPr>
          <a:xfrm>
            <a:off x="768096" y="2633472"/>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Observación del dictamen de auditoría</a:t>
            </a:r>
            <a:endParaRPr lang="en-US" sz="1250" dirty="0"/>
          </a:p>
        </p:txBody>
      </p:sp>
      <p:sp>
        <p:nvSpPr>
          <p:cNvPr id="16" name="Text 14"/>
          <p:cNvSpPr txBox="1"/>
          <p:nvPr/>
        </p:nvSpPr>
        <p:spPr>
          <a:xfrm>
            <a:off x="4645152" y="2633472"/>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17" name="Text 15"/>
          <p:cNvSpPr txBox="1"/>
          <p:nvPr/>
        </p:nvSpPr>
        <p:spPr>
          <a:xfrm>
            <a:off x="4846320" y="2633472"/>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Cambio de Representante Encargada de Cumplimiento</a:t>
            </a:r>
            <a:endParaRPr lang="en-US" sz="1250" dirty="0"/>
          </a:p>
        </p:txBody>
      </p:sp>
      <p:sp>
        <p:nvSpPr>
          <p:cNvPr id="18" name="Text 16"/>
          <p:cNvSpPr txBox="1"/>
          <p:nvPr/>
        </p:nvSpPr>
        <p:spPr>
          <a:xfrm>
            <a:off x="566928" y="3145536"/>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19" name="Text 17"/>
          <p:cNvSpPr txBox="1"/>
          <p:nvPr/>
        </p:nvSpPr>
        <p:spPr>
          <a:xfrm>
            <a:off x="768096" y="3145536"/>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Decisión de operar bajo un supuesto que había declarado que no realizaba</a:t>
            </a:r>
            <a:endParaRPr lang="en-US" sz="1250" dirty="0"/>
          </a:p>
        </p:txBody>
      </p:sp>
      <p:sp>
        <p:nvSpPr>
          <p:cNvPr id="20" name="Text 18"/>
          <p:cNvSpPr txBox="1"/>
          <p:nvPr/>
        </p:nvSpPr>
        <p:spPr>
          <a:xfrm>
            <a:off x="4645152" y="3145536"/>
            <a:ext cx="182880" cy="457200"/>
          </a:xfrm>
          <a:prstGeom prst="rect">
            <a:avLst/>
          </a:prstGeom>
          <a:noFill/>
          <a:ln/>
        </p:spPr>
        <p:txBody>
          <a:bodyPr wrap="square" lIns="0" tIns="0" rIns="0" bIns="0" rtlCol="0" anchor="ctr"/>
          <a:lstStyle/>
          <a:p>
            <a:pPr indent="0" marL="0">
              <a:buNone/>
            </a:pPr>
            <a:r>
              <a:rPr lang="en-US" sz="1600" b="1" dirty="0">
                <a:solidFill>
                  <a:srgbClr val="F2A541"/>
                </a:solidFill>
                <a:latin typeface="Arial" pitchFamily="34" charset="0"/>
                <a:ea typeface="Arial" pitchFamily="34" charset="-122"/>
                <a:cs typeface="Arial" pitchFamily="34" charset="-120"/>
              </a:rPr>
              <a:t>·</a:t>
            </a:r>
            <a:endParaRPr lang="en-US" sz="1600" dirty="0"/>
          </a:p>
        </p:txBody>
      </p:sp>
      <p:sp>
        <p:nvSpPr>
          <p:cNvPr id="21" name="Text 19"/>
          <p:cNvSpPr txBox="1"/>
          <p:nvPr/>
        </p:nvSpPr>
        <p:spPr>
          <a:xfrm>
            <a:off x="4846320" y="3145536"/>
            <a:ext cx="3749040" cy="457200"/>
          </a:xfrm>
          <a:prstGeom prst="rect">
            <a:avLst/>
          </a:prstGeom>
          <a:noFill/>
          <a:ln/>
        </p:spPr>
        <p:txBody>
          <a:bodyPr wrap="square" lIns="0" tIns="0" rIns="0" bIns="0" rtlCol="0" anchor="ctr"/>
          <a:lstStyle/>
          <a:p>
            <a:pPr indent="0" marL="0">
              <a:lnSpc>
                <a:spcPts val="1600"/>
              </a:lnSpc>
              <a:buNone/>
            </a:pPr>
            <a:r>
              <a:rPr lang="en-US" sz="1250" dirty="0">
                <a:solidFill>
                  <a:srgbClr val="1F2937"/>
                </a:solidFill>
                <a:latin typeface="Arial" pitchFamily="34" charset="0"/>
                <a:ea typeface="Arial" pitchFamily="34" charset="-122"/>
                <a:cs typeface="Arial" pitchFamily="34" charset="-120"/>
              </a:rPr>
              <a:t>Requerimiento del SAT en términos del RCG 37 Bis 3</a:t>
            </a:r>
            <a:endParaRPr lang="en-US" sz="1250" dirty="0"/>
          </a:p>
        </p:txBody>
      </p:sp>
      <p:sp>
        <p:nvSpPr>
          <p:cNvPr id="22" name="Shape 20"/>
          <p:cNvSpPr/>
          <p:nvPr/>
        </p:nvSpPr>
        <p:spPr>
          <a:xfrm>
            <a:off x="566928" y="3785616"/>
            <a:ext cx="8010144" cy="786384"/>
          </a:xfrm>
          <a:prstGeom prst="roundRect">
            <a:avLst>
              <a:gd name="adj" fmla="val 6977"/>
            </a:avLst>
          </a:prstGeom>
          <a:solidFill>
            <a:srgbClr val="FDF3E3"/>
          </a:solidFill>
          <a:ln w="12700">
            <a:solidFill>
              <a:srgbClr val="F2A541"/>
            </a:solidFill>
            <a:prstDash val="solid"/>
          </a:ln>
        </p:spPr>
      </p:sp>
      <p:sp>
        <p:nvSpPr>
          <p:cNvPr id="23" name="Text 21"/>
          <p:cNvSpPr txBox="1"/>
          <p:nvPr/>
        </p:nvSpPr>
        <p:spPr>
          <a:xfrm>
            <a:off x="786384" y="3785616"/>
            <a:ext cx="7571232" cy="786384"/>
          </a:xfrm>
          <a:prstGeom prst="rect">
            <a:avLst/>
          </a:prstGeom>
          <a:noFill/>
          <a:ln/>
        </p:spPr>
        <p:txBody>
          <a:bodyPr wrap="square" lIns="0" tIns="0" rIns="0" bIns="0" rtlCol="0" anchor="ctr"/>
          <a:lstStyle/>
          <a:p>
            <a:pPr indent="0" marL="0">
              <a:lnSpc>
                <a:spcPts val="1700"/>
              </a:lnSpc>
              <a:buNone/>
            </a:pPr>
            <a:r>
              <a:rPr lang="en-US" sz="1250" dirty="0">
                <a:solidFill>
                  <a:srgbClr val="1F2937"/>
                </a:solidFill>
                <a:latin typeface="Arial" pitchFamily="34" charset="0"/>
                <a:ea typeface="Arial" pitchFamily="34" charset="-122"/>
                <a:cs typeface="Arial" pitchFamily="34" charset="-120"/>
              </a:rPr>
              <a:t>Y la bitácora de versiones, que es el apartado 22 de la plantilla. Una bitácora que salta de la versión 1 a la 3 es una pregunta que usted va a tener que contestar. La versión sustituida se conserva los mismos diez años: hay que poder decir qué política estaba vigente el día de una operación de hace dos años.</a:t>
            </a:r>
            <a:endParaRPr lang="en-US" sz="1250" dirty="0"/>
          </a:p>
        </p:txBody>
      </p:sp>
      <p:sp>
        <p:nvSpPr>
          <p:cNvPr id="24" name="Text 22"/>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25" name="Text 23"/>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8046720" cy="566928"/>
          </a:xfrm>
          <a:prstGeom prst="rect">
            <a:avLst/>
          </a:prstGeom>
          <a:noFill/>
          <a:ln/>
        </p:spPr>
        <p:txBody>
          <a:bodyPr wrap="square" lIns="0" tIns="0" rIns="0" bIns="0" rtlCol="0" anchor="b"/>
          <a:lstStyle/>
          <a:p>
            <a:pPr indent="0" marL="0">
              <a:buNone/>
            </a:pPr>
            <a:r>
              <a:rPr lang="en-US" sz="2800" b="1" dirty="0">
                <a:solidFill>
                  <a:srgbClr val="12224A"/>
                </a:solidFill>
                <a:latin typeface="Cambria" pitchFamily="34" charset="0"/>
                <a:ea typeface="Cambria" pitchFamily="34" charset="-122"/>
                <a:cs typeface="Cambria" pitchFamily="34" charset="-120"/>
              </a:rPr>
              <a:t>La lista de esta semana</a:t>
            </a:r>
            <a:endParaRPr lang="en-US" sz="2800" dirty="0"/>
          </a:p>
        </p:txBody>
      </p:sp>
      <p:sp>
        <p:nvSpPr>
          <p:cNvPr id="3" name="Text 1"/>
          <p:cNvSpPr txBox="1"/>
          <p:nvPr/>
        </p:nvSpPr>
        <p:spPr>
          <a:xfrm>
            <a:off x="548640" y="914400"/>
            <a:ext cx="8046720" cy="310896"/>
          </a:xfrm>
          <a:prstGeom prst="rect">
            <a:avLst/>
          </a:prstGeom>
          <a:noFill/>
          <a:ln/>
        </p:spPr>
        <p:txBody>
          <a:bodyPr wrap="square" lIns="0" tIns="0" rIns="0" bIns="0" rtlCol="0" anchor="t"/>
          <a:lstStyle/>
          <a:p>
            <a:pPr indent="0" marL="0">
              <a:buNone/>
            </a:pPr>
            <a:r>
              <a:rPr lang="en-US" sz="1300" dirty="0">
                <a:solidFill>
                  <a:srgbClr val="6B7280"/>
                </a:solidFill>
                <a:latin typeface="Arial" pitchFamily="34" charset="0"/>
                <a:ea typeface="Arial" pitchFamily="34" charset="-122"/>
                <a:cs typeface="Arial" pitchFamily="34" charset="-120"/>
              </a:rPr>
              <a:t>Cuatro cosas. Ninguna depende de nadie más que de ustedes.</a:t>
            </a:r>
            <a:endParaRPr lang="en-US" sz="1300" dirty="0"/>
          </a:p>
        </p:txBody>
      </p:sp>
      <p:sp>
        <p:nvSpPr>
          <p:cNvPr id="4" name="Shape 2"/>
          <p:cNvSpPr/>
          <p:nvPr/>
        </p:nvSpPr>
        <p:spPr>
          <a:xfrm>
            <a:off x="566928" y="1316736"/>
            <a:ext cx="8010144" cy="694944"/>
          </a:xfrm>
          <a:prstGeom prst="roundRect">
            <a:avLst>
              <a:gd name="adj" fmla="val 7895"/>
            </a:avLst>
          </a:prstGeom>
          <a:solidFill>
            <a:srgbClr val="FDF3E3"/>
          </a:solidFill>
          <a:ln w="12700">
            <a:solidFill>
              <a:srgbClr val="F2A541"/>
            </a:solidFill>
            <a:prstDash val="solid"/>
          </a:ln>
        </p:spPr>
      </p:sp>
      <p:sp>
        <p:nvSpPr>
          <p:cNvPr id="5" name="Text 3"/>
          <p:cNvSpPr txBox="1"/>
          <p:nvPr/>
        </p:nvSpPr>
        <p:spPr>
          <a:xfrm>
            <a:off x="786384" y="1316736"/>
            <a:ext cx="329184" cy="694944"/>
          </a:xfrm>
          <a:prstGeom prst="rect">
            <a:avLst/>
          </a:prstGeom>
          <a:noFill/>
          <a:ln/>
        </p:spPr>
        <p:txBody>
          <a:bodyPr wrap="square" lIns="0" tIns="0" rIns="0" bIns="0" rtlCol="0" anchor="ctr"/>
          <a:lstStyle/>
          <a:p>
            <a:pPr algn="ctr" indent="0" marL="0">
              <a:buNone/>
            </a:pPr>
            <a:r>
              <a:rPr lang="en-US" sz="1500" b="1" dirty="0">
                <a:solidFill>
                  <a:srgbClr val="92400E"/>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243584" y="1371600"/>
            <a:ext cx="7132320" cy="292608"/>
          </a:xfrm>
          <a:prstGeom prst="rect">
            <a:avLst/>
          </a:prstGeom>
          <a:noFill/>
          <a:ln/>
        </p:spPr>
        <p:txBody>
          <a:bodyPr wrap="square" lIns="0" tIns="0" rIns="0" bIns="0" rtlCol="0" anchor="ctr"/>
          <a:lstStyle/>
          <a:p>
            <a:pPr indent="0" marL="0">
              <a:buNone/>
            </a:pPr>
            <a:r>
              <a:rPr lang="en-US" sz="1300" b="1" dirty="0">
                <a:solidFill>
                  <a:srgbClr val="12224A"/>
                </a:solidFill>
                <a:latin typeface="Arial" pitchFamily="34" charset="0"/>
                <a:ea typeface="Arial" pitchFamily="34" charset="-122"/>
                <a:cs typeface="Arial" pitchFamily="34" charset="-120"/>
              </a:rPr>
              <a:t>Entren al Portal y verifiquen la fecha de ACEPTACIÓN de su Representante.</a:t>
            </a:r>
            <a:endParaRPr lang="en-US" sz="1300" dirty="0"/>
          </a:p>
        </p:txBody>
      </p:sp>
      <p:sp>
        <p:nvSpPr>
          <p:cNvPr id="7" name="Text 5"/>
          <p:cNvSpPr txBox="1"/>
          <p:nvPr/>
        </p:nvSpPr>
        <p:spPr>
          <a:xfrm>
            <a:off x="1243584" y="1682496"/>
            <a:ext cx="7132320" cy="256032"/>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Veinte minutos. Si no está aceptada, el consejo está respondiendo hoy.</a:t>
            </a:r>
            <a:endParaRPr lang="en-US" sz="1150" dirty="0"/>
          </a:p>
        </p:txBody>
      </p:sp>
      <p:sp>
        <p:nvSpPr>
          <p:cNvPr id="8" name="Shape 6"/>
          <p:cNvSpPr/>
          <p:nvPr/>
        </p:nvSpPr>
        <p:spPr>
          <a:xfrm>
            <a:off x="566928" y="2103120"/>
            <a:ext cx="8010144" cy="694944"/>
          </a:xfrm>
          <a:prstGeom prst="roundRect">
            <a:avLst>
              <a:gd name="adj" fmla="val 7895"/>
            </a:avLst>
          </a:prstGeom>
          <a:solidFill>
            <a:srgbClr val="F5F6F9"/>
          </a:solidFill>
          <a:ln w="12700">
            <a:solidFill>
              <a:srgbClr val="E5E7EB"/>
            </a:solidFill>
            <a:prstDash val="solid"/>
          </a:ln>
        </p:spPr>
      </p:sp>
      <p:sp>
        <p:nvSpPr>
          <p:cNvPr id="9" name="Text 7"/>
          <p:cNvSpPr txBox="1"/>
          <p:nvPr/>
        </p:nvSpPr>
        <p:spPr>
          <a:xfrm>
            <a:off x="786384" y="2103120"/>
            <a:ext cx="329184" cy="694944"/>
          </a:xfrm>
          <a:prstGeom prst="rect">
            <a:avLst/>
          </a:prstGeom>
          <a:noFill/>
          <a:ln/>
        </p:spPr>
        <p:txBody>
          <a:bodyPr wrap="square" lIns="0" tIns="0" rIns="0" bIns="0" rtlCol="0" anchor="ctr"/>
          <a:lstStyle/>
          <a:p>
            <a:pPr algn="ctr" indent="0" marL="0">
              <a:buNone/>
            </a:pPr>
            <a:r>
              <a:rPr lang="en-US" sz="1500" b="1" dirty="0">
                <a:solidFill>
                  <a:srgbClr val="F2A541"/>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243584" y="2157984"/>
            <a:ext cx="7132320" cy="292608"/>
          </a:xfrm>
          <a:prstGeom prst="rect">
            <a:avLst/>
          </a:prstGeom>
          <a:noFill/>
          <a:ln/>
        </p:spPr>
        <p:txBody>
          <a:bodyPr wrap="square" lIns="0" tIns="0" rIns="0" bIns="0" rtlCol="0" anchor="ctr"/>
          <a:lstStyle/>
          <a:p>
            <a:pPr indent="0" marL="0">
              <a:buNone/>
            </a:pPr>
            <a:r>
              <a:rPr lang="en-US" sz="1300" b="1" dirty="0">
                <a:solidFill>
                  <a:srgbClr val="12224A"/>
                </a:solidFill>
                <a:latin typeface="Arial" pitchFamily="34" charset="0"/>
                <a:ea typeface="Arial" pitchFamily="34" charset="-122"/>
                <a:cs typeface="Arial" pitchFamily="34" charset="-120"/>
              </a:rPr>
              <a:t>Llenen la hoja «Personal obligado» con toda su gente.</a:t>
            </a:r>
            <a:endParaRPr lang="en-US" sz="1300" dirty="0"/>
          </a:p>
        </p:txBody>
      </p:sp>
      <p:sp>
        <p:nvSpPr>
          <p:cNvPr id="11" name="Text 9"/>
          <p:cNvSpPr txBox="1"/>
          <p:nvPr/>
        </p:nvSpPr>
        <p:spPr>
          <a:xfrm>
            <a:off x="1243584" y="2468880"/>
            <a:ext cx="7132320" cy="256032"/>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La fórmula les dice quién entra. Traigan el número la próxima sesión.</a:t>
            </a:r>
            <a:endParaRPr lang="en-US" sz="1150" dirty="0"/>
          </a:p>
        </p:txBody>
      </p:sp>
      <p:sp>
        <p:nvSpPr>
          <p:cNvPr id="12" name="Shape 10"/>
          <p:cNvSpPr/>
          <p:nvPr/>
        </p:nvSpPr>
        <p:spPr>
          <a:xfrm>
            <a:off x="566928" y="2889504"/>
            <a:ext cx="8010144" cy="694944"/>
          </a:xfrm>
          <a:prstGeom prst="roundRect">
            <a:avLst>
              <a:gd name="adj" fmla="val 7895"/>
            </a:avLst>
          </a:prstGeom>
          <a:solidFill>
            <a:srgbClr val="F5F6F9"/>
          </a:solidFill>
          <a:ln w="12700">
            <a:solidFill>
              <a:srgbClr val="E5E7EB"/>
            </a:solidFill>
            <a:prstDash val="solid"/>
          </a:ln>
        </p:spPr>
      </p:sp>
      <p:sp>
        <p:nvSpPr>
          <p:cNvPr id="13" name="Text 11"/>
          <p:cNvSpPr txBox="1"/>
          <p:nvPr/>
        </p:nvSpPr>
        <p:spPr>
          <a:xfrm>
            <a:off x="786384" y="2889504"/>
            <a:ext cx="329184" cy="694944"/>
          </a:xfrm>
          <a:prstGeom prst="rect">
            <a:avLst/>
          </a:prstGeom>
          <a:noFill/>
          <a:ln/>
        </p:spPr>
        <p:txBody>
          <a:bodyPr wrap="square" lIns="0" tIns="0" rIns="0" bIns="0" rtlCol="0" anchor="ctr"/>
          <a:lstStyle/>
          <a:p>
            <a:pPr algn="ctr" indent="0" marL="0">
              <a:buNone/>
            </a:pPr>
            <a:r>
              <a:rPr lang="en-US" sz="1500" b="1" dirty="0">
                <a:solidFill>
                  <a:srgbClr val="F2A541"/>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243584" y="2944368"/>
            <a:ext cx="7132320" cy="292608"/>
          </a:xfrm>
          <a:prstGeom prst="rect">
            <a:avLst/>
          </a:prstGeom>
          <a:noFill/>
          <a:ln/>
        </p:spPr>
        <p:txBody>
          <a:bodyPr wrap="square" lIns="0" tIns="0" rIns="0" bIns="0" rtlCol="0" anchor="ctr"/>
          <a:lstStyle/>
          <a:p>
            <a:pPr indent="0" marL="0">
              <a:buNone/>
            </a:pPr>
            <a:r>
              <a:rPr lang="en-US" sz="1300" b="1" dirty="0">
                <a:solidFill>
                  <a:srgbClr val="12224A"/>
                </a:solidFill>
                <a:latin typeface="Arial" pitchFamily="34" charset="0"/>
                <a:ea typeface="Arial" pitchFamily="34" charset="-122"/>
                <a:cs typeface="Arial" pitchFamily="34" charset="-120"/>
              </a:rPr>
              <a:t>Escriban el apartado 18: los supuestos que NO realizan.</a:t>
            </a:r>
            <a:endParaRPr lang="en-US" sz="1300" dirty="0"/>
          </a:p>
        </p:txBody>
      </p:sp>
      <p:sp>
        <p:nvSpPr>
          <p:cNvPr id="15" name="Text 13"/>
          <p:cNvSpPr txBox="1"/>
          <p:nvPr/>
        </p:nvSpPr>
        <p:spPr>
          <a:xfrm>
            <a:off x="1243584" y="3255264"/>
            <a:ext cx="7132320" cy="256032"/>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Es el que más páginas les ahorra y el que nadie tiene.</a:t>
            </a:r>
            <a:endParaRPr lang="en-US" sz="1150" dirty="0"/>
          </a:p>
        </p:txBody>
      </p:sp>
      <p:sp>
        <p:nvSpPr>
          <p:cNvPr id="16" name="Shape 14"/>
          <p:cNvSpPr/>
          <p:nvPr/>
        </p:nvSpPr>
        <p:spPr>
          <a:xfrm>
            <a:off x="566928" y="3675888"/>
            <a:ext cx="8010144" cy="694944"/>
          </a:xfrm>
          <a:prstGeom prst="roundRect">
            <a:avLst>
              <a:gd name="adj" fmla="val 7895"/>
            </a:avLst>
          </a:prstGeom>
          <a:solidFill>
            <a:srgbClr val="F5F6F9"/>
          </a:solidFill>
          <a:ln w="12700">
            <a:solidFill>
              <a:srgbClr val="E5E7EB"/>
            </a:solidFill>
            <a:prstDash val="solid"/>
          </a:ln>
        </p:spPr>
      </p:sp>
      <p:sp>
        <p:nvSpPr>
          <p:cNvPr id="17" name="Text 15"/>
          <p:cNvSpPr txBox="1"/>
          <p:nvPr/>
        </p:nvSpPr>
        <p:spPr>
          <a:xfrm>
            <a:off x="786384" y="3675888"/>
            <a:ext cx="329184" cy="694944"/>
          </a:xfrm>
          <a:prstGeom prst="rect">
            <a:avLst/>
          </a:prstGeom>
          <a:noFill/>
          <a:ln/>
        </p:spPr>
        <p:txBody>
          <a:bodyPr wrap="square" lIns="0" tIns="0" rIns="0" bIns="0" rtlCol="0" anchor="ctr"/>
          <a:lstStyle/>
          <a:p>
            <a:pPr algn="ctr" indent="0" marL="0">
              <a:buNone/>
            </a:pPr>
            <a:r>
              <a:rPr lang="en-US" sz="1500" b="1" dirty="0">
                <a:solidFill>
                  <a:srgbClr val="F2A541"/>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243584" y="3730752"/>
            <a:ext cx="7132320" cy="292608"/>
          </a:xfrm>
          <a:prstGeom prst="rect">
            <a:avLst/>
          </a:prstGeom>
          <a:noFill/>
          <a:ln/>
        </p:spPr>
        <p:txBody>
          <a:bodyPr wrap="square" lIns="0" tIns="0" rIns="0" bIns="0" rtlCol="0" anchor="ctr"/>
          <a:lstStyle/>
          <a:p>
            <a:pPr indent="0" marL="0">
              <a:buNone/>
            </a:pPr>
            <a:r>
              <a:rPr lang="en-US" sz="1300" b="1" dirty="0">
                <a:solidFill>
                  <a:srgbClr val="12224A"/>
                </a:solidFill>
                <a:latin typeface="Arial" pitchFamily="34" charset="0"/>
                <a:ea typeface="Arial" pitchFamily="34" charset="-122"/>
                <a:cs typeface="Arial" pitchFamily="34" charset="-120"/>
              </a:rPr>
              <a:t>Pregunten a su capacitador cómo acredita sus cinco años.</a:t>
            </a:r>
            <a:endParaRPr lang="en-US" sz="1300" dirty="0"/>
          </a:p>
        </p:txBody>
      </p:sp>
      <p:sp>
        <p:nvSpPr>
          <p:cNvPr id="19" name="Text 17"/>
          <p:cNvSpPr txBox="1"/>
          <p:nvPr/>
        </p:nvSpPr>
        <p:spPr>
          <a:xfrm>
            <a:off x="1243584" y="4041648"/>
            <a:ext cx="7132320" cy="256032"/>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Si es interno, junten el documento. Si es externo, pídanlo por escrito.</a:t>
            </a:r>
            <a:endParaRPr lang="en-US" sz="1150" dirty="0"/>
          </a:p>
        </p:txBody>
      </p:sp>
      <p:sp>
        <p:nvSpPr>
          <p:cNvPr id="20" name="Text 18"/>
          <p:cNvSpPr txBox="1"/>
          <p:nvPr/>
        </p:nvSpPr>
        <p:spPr>
          <a:xfrm>
            <a:off x="566928" y="4407408"/>
            <a:ext cx="8010144" cy="256032"/>
          </a:xfrm>
          <a:prstGeom prst="rect">
            <a:avLst/>
          </a:prstGeom>
          <a:noFill/>
          <a:ln/>
        </p:spPr>
        <p:txBody>
          <a:bodyPr wrap="square" lIns="0" tIns="0" rIns="0" bIns="0" rtlCol="0" anchor="ctr"/>
          <a:lstStyle/>
          <a:p>
            <a:pPr indent="0" marL="0">
              <a:buNone/>
            </a:pPr>
            <a:r>
              <a:rPr lang="en-US" sz="1250" i="1" dirty="0">
                <a:solidFill>
                  <a:srgbClr val="92400E"/>
                </a:solidFill>
                <a:latin typeface="Arial" pitchFamily="34" charset="0"/>
                <a:ea typeface="Arial" pitchFamily="34" charset="-122"/>
                <a:cs typeface="Arial" pitchFamily="34" charset="-120"/>
              </a:rPr>
              <a:t>Y para la próxima sesión: traigan identificada una estructura societaria de dos niveles de alguno de sus clientes.</a:t>
            </a:r>
            <a:endParaRPr lang="en-US" sz="1250" dirty="0"/>
          </a:p>
        </p:txBody>
      </p:sp>
      <p:sp>
        <p:nvSpPr>
          <p:cNvPr id="21" name="Text 19"/>
          <p:cNvSpPr txBox="1"/>
          <p:nvPr/>
        </p:nvSpPr>
        <p:spPr>
          <a:xfrm>
            <a:off x="548640" y="4718304"/>
            <a:ext cx="5852160" cy="237744"/>
          </a:xfrm>
          <a:prstGeom prst="rect">
            <a:avLst/>
          </a:prstGeom>
          <a:noFill/>
          <a:ln/>
        </p:spPr>
        <p:txBody>
          <a:bodyPr wrap="square" lIns="0" tIns="0" rIns="0" bIns="0" rtlCol="0" anchor="ctr"/>
          <a:lstStyle/>
          <a:p>
            <a:pPr indent="0" marL="0">
              <a:buNone/>
            </a:pPr>
            <a:r>
              <a:rPr lang="en-US" sz="900" dirty="0">
                <a:solidFill>
                  <a:srgbClr val="9CA3AF"/>
                </a:solidFill>
                <a:latin typeface="Arial" pitchFamily="34" charset="0"/>
                <a:ea typeface="Arial" pitchFamily="34" charset="-122"/>
                <a:cs typeface="Arial" pitchFamily="34" charset="-120"/>
              </a:rPr>
              <a:t>Taller Antilavado 360 · Sesión 3 · 1 de septiembre de 2026</a:t>
            </a:r>
            <a:endParaRPr lang="en-US" sz="900" dirty="0"/>
          </a:p>
        </p:txBody>
      </p:sp>
      <p:sp>
        <p:nvSpPr>
          <p:cNvPr id="22" name="Text 20"/>
          <p:cNvSpPr txBox="1"/>
          <p:nvPr/>
        </p:nvSpPr>
        <p:spPr>
          <a:xfrm>
            <a:off x="8138160" y="4718304"/>
            <a:ext cx="457200" cy="237744"/>
          </a:xfrm>
          <a:prstGeom prst="rect">
            <a:avLst/>
          </a:prstGeom>
          <a:noFill/>
          <a:ln/>
        </p:spPr>
        <p:txBody>
          <a:bodyPr wrap="square" lIns="0" tIns="0" rIns="0" bIns="0" rtlCol="0" anchor="ctr"/>
          <a:lstStyle/>
          <a:p>
            <a:pPr algn="r" indent="0" marL="0">
              <a:buNone/>
            </a:pPr>
            <a:r>
              <a:rPr lang="en-US" sz="900" dirty="0">
                <a:solidFill>
                  <a:srgbClr val="9CA3AF"/>
                </a:solidFill>
                <a:latin typeface="Arial" pitchFamily="34" charset="0"/>
                <a:ea typeface="Arial" pitchFamily="34" charset="-122"/>
                <a:cs typeface="Arial"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2224A"/>
        </a:solidFill>
      </p:bgPr>
    </p:bg>
    <p:spTree>
      <p:nvGrpSpPr>
        <p:cNvPr id="1" name=""/>
        <p:cNvGrpSpPr/>
        <p:nvPr/>
      </p:nvGrpSpPr>
      <p:grpSpPr>
        <a:xfrm>
          <a:off x="0" y="0"/>
          <a:ext cx="0" cy="0"/>
          <a:chOff x="0" y="0"/>
          <a:chExt cx="0" cy="0"/>
        </a:xfrm>
      </p:grpSpPr>
      <p:sp>
        <p:nvSpPr>
          <p:cNvPr id="2" name="Shape 0"/>
          <p:cNvSpPr/>
          <p:nvPr/>
        </p:nvSpPr>
        <p:spPr>
          <a:xfrm>
            <a:off x="0" y="1700784"/>
            <a:ext cx="822960" cy="45720"/>
          </a:xfrm>
          <a:prstGeom prst="rect">
            <a:avLst/>
          </a:prstGeom>
          <a:solidFill>
            <a:srgbClr val="F2A541"/>
          </a:solidFill>
          <a:ln w="12700">
            <a:solidFill>
              <a:srgbClr val="333333"/>
            </a:solidFill>
            <a:prstDash val="solid"/>
          </a:ln>
        </p:spPr>
      </p:sp>
      <p:sp>
        <p:nvSpPr>
          <p:cNvPr id="3" name="Text 1"/>
          <p:cNvSpPr txBox="1"/>
          <p:nvPr/>
        </p:nvSpPr>
        <p:spPr>
          <a:xfrm>
            <a:off x="685800" y="1353312"/>
            <a:ext cx="7772400" cy="274320"/>
          </a:xfrm>
          <a:prstGeom prst="rect">
            <a:avLst/>
          </a:prstGeom>
          <a:noFill/>
          <a:ln/>
        </p:spPr>
        <p:txBody>
          <a:bodyPr wrap="square" lIns="0" tIns="0" rIns="0" bIns="0" rtlCol="0" anchor="ctr"/>
          <a:lstStyle/>
          <a:p>
            <a:pPr indent="0" marL="0">
              <a:buNone/>
            </a:pPr>
            <a:r>
              <a:rPr lang="en-US" sz="1200" b="1" spc="160" kern="0" dirty="0">
                <a:solidFill>
                  <a:srgbClr val="F2A541"/>
                </a:solidFill>
                <a:latin typeface="Arial" pitchFamily="34" charset="0"/>
                <a:ea typeface="Arial" pitchFamily="34" charset="-122"/>
                <a:cs typeface="Arial" pitchFamily="34" charset="-120"/>
              </a:rPr>
              <a:t>LO QUE SE LLEVAN HOY</a:t>
            </a:r>
            <a:endParaRPr lang="en-US" sz="1200" dirty="0"/>
          </a:p>
        </p:txBody>
      </p:sp>
      <p:sp>
        <p:nvSpPr>
          <p:cNvPr id="4" name="Text 2"/>
          <p:cNvSpPr txBox="1"/>
          <p:nvPr/>
        </p:nvSpPr>
        <p:spPr>
          <a:xfrm>
            <a:off x="685800" y="2103120"/>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Manual de Políticas Internas</a:t>
            </a:r>
            <a:endParaRPr lang="en-US" sz="1500" dirty="0"/>
          </a:p>
        </p:txBody>
      </p:sp>
      <p:sp>
        <p:nvSpPr>
          <p:cNvPr id="5" name="Text 3"/>
          <p:cNvSpPr txBox="1"/>
          <p:nvPr/>
        </p:nvSpPr>
        <p:spPr>
          <a:xfrm>
            <a:off x="4846320" y="2103120"/>
            <a:ext cx="3657600" cy="310896"/>
          </a:xfrm>
          <a:prstGeom prst="rect">
            <a:avLst/>
          </a:prstGeom>
          <a:noFill/>
          <a:ln/>
        </p:spPr>
        <p:txBody>
          <a:bodyPr wrap="square" lIns="0" tIns="0" rIns="0" bIns="0" rtlCol="0" anchor="ctr"/>
          <a:lstStyle/>
          <a:p>
            <a:pPr indent="0" marL="0">
              <a:buNone/>
            </a:pPr>
            <a:r>
              <a:rPr lang="en-US" sz="1200" dirty="0">
                <a:solidFill>
                  <a:srgbClr val="9AA5BC"/>
                </a:solidFill>
                <a:latin typeface="Arial" pitchFamily="34" charset="0"/>
                <a:ea typeface="Arial" pitchFamily="34" charset="-122"/>
                <a:cs typeface="Arial" pitchFamily="34" charset="-120"/>
              </a:rPr>
              <a:t>Veintitrés apartados, cada uno con su fundamento y su evidencia</a:t>
            </a:r>
            <a:endParaRPr lang="en-US" sz="1200" dirty="0"/>
          </a:p>
        </p:txBody>
      </p:sp>
      <p:sp>
        <p:nvSpPr>
          <p:cNvPr id="6" name="Text 4"/>
          <p:cNvSpPr txBox="1"/>
          <p:nvPr/>
        </p:nvSpPr>
        <p:spPr>
          <a:xfrm>
            <a:off x="685800" y="2578608"/>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Programa anual de capacitación</a:t>
            </a:r>
            <a:endParaRPr lang="en-US" sz="1500" dirty="0"/>
          </a:p>
        </p:txBody>
      </p:sp>
      <p:sp>
        <p:nvSpPr>
          <p:cNvPr id="7" name="Text 5"/>
          <p:cNvSpPr txBox="1"/>
          <p:nvPr/>
        </p:nvSpPr>
        <p:spPr>
          <a:xfrm>
            <a:off x="4846320" y="2578608"/>
            <a:ext cx="3657600" cy="310896"/>
          </a:xfrm>
          <a:prstGeom prst="rect">
            <a:avLst/>
          </a:prstGeom>
          <a:noFill/>
          <a:ln/>
        </p:spPr>
        <p:txBody>
          <a:bodyPr wrap="square" lIns="0" tIns="0" rIns="0" bIns="0" rtlCol="0" anchor="ctr"/>
          <a:lstStyle/>
          <a:p>
            <a:pPr indent="0" marL="0">
              <a:buNone/>
            </a:pPr>
            <a:r>
              <a:rPr lang="en-US" sz="1200" dirty="0">
                <a:solidFill>
                  <a:srgbClr val="9AA5BC"/>
                </a:solidFill>
                <a:latin typeface="Arial" pitchFamily="34" charset="0"/>
                <a:ea typeface="Arial" pitchFamily="34" charset="-122"/>
                <a:cs typeface="Arial" pitchFamily="34" charset="-120"/>
              </a:rPr>
              <a:t>Siete hojas, con el semáforo de contenidos mínimos</a:t>
            </a:r>
            <a:endParaRPr lang="en-US" sz="1200" dirty="0"/>
          </a:p>
        </p:txBody>
      </p:sp>
      <p:sp>
        <p:nvSpPr>
          <p:cNvPr id="8" name="Text 6"/>
          <p:cNvSpPr txBox="1"/>
          <p:nvPr/>
        </p:nvSpPr>
        <p:spPr>
          <a:xfrm>
            <a:off x="685800" y="3054096"/>
            <a:ext cx="4023360" cy="310896"/>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Formato de aprobación para PEP de Grado alto</a:t>
            </a:r>
            <a:endParaRPr lang="en-US" sz="1500" dirty="0"/>
          </a:p>
        </p:txBody>
      </p:sp>
      <p:sp>
        <p:nvSpPr>
          <p:cNvPr id="9" name="Text 7"/>
          <p:cNvSpPr txBox="1"/>
          <p:nvPr/>
        </p:nvSpPr>
        <p:spPr>
          <a:xfrm>
            <a:off x="4846320" y="3054096"/>
            <a:ext cx="3657600" cy="310896"/>
          </a:xfrm>
          <a:prstGeom prst="rect">
            <a:avLst/>
          </a:prstGeom>
          <a:noFill/>
          <a:ln/>
        </p:spPr>
        <p:txBody>
          <a:bodyPr wrap="square" lIns="0" tIns="0" rIns="0" bIns="0" rtlCol="0" anchor="ctr"/>
          <a:lstStyle/>
          <a:p>
            <a:pPr indent="0" marL="0">
              <a:buNone/>
            </a:pPr>
            <a:r>
              <a:rPr lang="en-US" sz="1200" dirty="0">
                <a:solidFill>
                  <a:srgbClr val="9AA5BC"/>
                </a:solidFill>
                <a:latin typeface="Arial" pitchFamily="34" charset="0"/>
                <a:ea typeface="Arial" pitchFamily="34" charset="-122"/>
                <a:cs typeface="Arial" pitchFamily="34" charset="-120"/>
              </a:rPr>
              <a:t>Las dos variantes: persona moral y persona física</a:t>
            </a:r>
            <a:endParaRPr lang="en-US" sz="1200" dirty="0"/>
          </a:p>
        </p:txBody>
      </p:sp>
      <p:sp>
        <p:nvSpPr>
          <p:cNvPr id="10" name="Text 8"/>
          <p:cNvSpPr txBox="1"/>
          <p:nvPr/>
        </p:nvSpPr>
        <p:spPr>
          <a:xfrm>
            <a:off x="685800" y="3785616"/>
            <a:ext cx="7772400" cy="475488"/>
          </a:xfrm>
          <a:prstGeom prst="rect">
            <a:avLst/>
          </a:prstGeom>
          <a:noFill/>
          <a:ln/>
        </p:spPr>
        <p:txBody>
          <a:bodyPr wrap="square" lIns="0" tIns="0" rIns="0" bIns="0" rtlCol="0" anchor="t"/>
          <a:lstStyle/>
          <a:p>
            <a:pPr indent="0" marL="0">
              <a:lnSpc>
                <a:spcPts val="2000"/>
              </a:lnSpc>
              <a:buNone/>
            </a:pPr>
            <a:r>
              <a:rPr lang="en-US" sz="1500" b="1" dirty="0">
                <a:solidFill>
                  <a:srgbClr val="F2A541"/>
                </a:solidFill>
                <a:latin typeface="Arial" pitchFamily="34" charset="0"/>
                <a:ea typeface="Arial" pitchFamily="34" charset="-122"/>
                <a:cs typeface="Arial" pitchFamily="34" charset="-120"/>
              </a:rPr>
              <a:t>La semana que entra: Beneficiario Controlador, monitoreo, aviso de 24 horas y efectivo.</a:t>
            </a:r>
            <a:endParaRPr lang="en-US" sz="1500" dirty="0"/>
          </a:p>
        </p:txBody>
      </p:sp>
      <p:sp>
        <p:nvSpPr>
          <p:cNvPr id="11" name="Text 9"/>
          <p:cNvSpPr txBox="1"/>
          <p:nvPr/>
        </p:nvSpPr>
        <p:spPr>
          <a:xfrm>
            <a:off x="685800" y="4315968"/>
            <a:ext cx="7772400" cy="420624"/>
          </a:xfrm>
          <a:prstGeom prst="rect">
            <a:avLst/>
          </a:prstGeom>
          <a:noFill/>
          <a:ln/>
        </p:spPr>
        <p:txBody>
          <a:bodyPr wrap="square" lIns="0" tIns="0" rIns="0" bIns="0" rtlCol="0" anchor="t"/>
          <a:lstStyle/>
          <a:p>
            <a:pPr indent="0" marL="0">
              <a:lnSpc>
                <a:spcPts val="1700"/>
              </a:lnSpc>
              <a:buNone/>
            </a:pPr>
            <a:r>
              <a:rPr lang="en-US" sz="1300" dirty="0">
                <a:solidFill>
                  <a:srgbClr val="C7CEDB"/>
                </a:solidFill>
                <a:latin typeface="Arial" pitchFamily="34" charset="0"/>
                <a:ea typeface="Arial" pitchFamily="34" charset="-122"/>
                <a:cs typeface="Arial" pitchFamily="34" charset="-120"/>
              </a:rPr>
              <a:t>Martes 8 de septiembre, 16:00 h. Y ojo: la sesión siguiente a ésa cambia de día — es LUNES 14 de septiembre.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S03 · Manual, Representante y capacitación</dc:title>
  <dc:subject>PptxGenJS Presentation</dc:subject>
  <dc:creator>GMC360 · 360Educa</dc:creator>
  <cp:lastModifiedBy>GMC360 · 360Educa</cp:lastModifiedBy>
  <cp:revision>1</cp:revision>
  <dcterms:created xsi:type="dcterms:W3CDTF">2026-09-01T02:50:53Z</dcterms:created>
  <dcterms:modified xsi:type="dcterms:W3CDTF">2026-09-01T02:50:53Z</dcterms:modified>
</cp:coreProperties>
</file>