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645920"/>
            <a:ext cx="82296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12984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3 · MARTES 1 DE SEPTIEMBRE DE 2026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92224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documento que sí se puede escribir hoy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77977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7C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de Políticas Internas, Representante Encargada de Cumplimiento y capacitación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8770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360: de la Ley a la práctica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15137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· LEXQUO   ·   Imparte: Maribel Vázquez Menchaca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manual de hoy sale todo en «no cumple»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los dije la semana pasada. Hoy escribimos el otro.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8010144" cy="1060704"/>
          </a:xfrm>
          <a:prstGeom prst="roundRect">
            <a:avLst>
              <a:gd name="adj" fmla="val 5172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389888"/>
            <a:ext cx="757123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matriz vimos la hoja donde se califica el manual contra las catorce fracciones del RCG 37 Bis. Y ahí les dije, textual: «¿este qué manual califico, el de ahorita? El de ahorita no va a tener nada de esto, va a salir todo en no cumple. Va a ser el nuevo que tú ya vas a tener desarrollado.»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633472"/>
            <a:ext cx="2578608" cy="1792224"/>
          </a:xfrm>
          <a:prstGeom prst="roundRect">
            <a:avLst>
              <a:gd name="adj" fmla="val 3061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27432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HOJA PIDE TRES COSAS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305409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Numeral, evidencia y resguardo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547872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ninguna de las tres se contesta con el texto de la ley. Las tres se contestan con su propio documento.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82696" y="2633472"/>
            <a:ext cx="2578608" cy="1792224"/>
          </a:xfrm>
          <a:prstGeom prst="roundRect">
            <a:avLst>
              <a:gd name="adj" fmla="val 3061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83864" y="27432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ESO NO ERA TAREA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305409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había qué calificar todavía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3547872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y metodología se construyen en paralelo, y los dos vencen el 1 de marzo de 2027.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98464" y="2633472"/>
            <a:ext cx="2578608" cy="1792224"/>
          </a:xfrm>
          <a:prstGeom prst="roundRect">
            <a:avLst>
              <a:gd name="adj" fmla="val 3061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99632" y="27432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SE LLEVAN HOY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199632" y="305409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apartado escrito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199632" y="3547872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su fundamento, su cláusula modelo, su evidencia — y el método para escribir los trece restantes.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el manual viene después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orden no es de temario. Es de norma.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914400" cy="566928"/>
          </a:xfrm>
          <a:prstGeom prst="roundRect">
            <a:avLst>
              <a:gd name="adj" fmla="val 9677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48132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64208" y="15179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metodología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822192" y="1499616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Identifica, mide y mitiga el Riesgo. Es el insumo.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249424"/>
            <a:ext cx="914400" cy="566928"/>
          </a:xfrm>
          <a:prstGeom prst="roundRect">
            <a:avLst>
              <a:gd name="adj" fmla="val 9677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24942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S03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22860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Manual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822192" y="2267712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la política que gestiona ESE riesgo, no uno genérico.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017520"/>
            <a:ext cx="914400" cy="566928"/>
          </a:xfrm>
          <a:prstGeom prst="roundRect">
            <a:avLst>
              <a:gd name="adj" fmla="val 9677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01752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664208" y="30540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capacitación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822192" y="3035808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Enseña ESE manual y ESOS riesgos. Coherente con los dos anteriores.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913632"/>
            <a:ext cx="8010144" cy="658368"/>
          </a:xfrm>
          <a:prstGeom prst="roundRect">
            <a:avLst>
              <a:gd name="adj" fmla="val 8333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986784"/>
            <a:ext cx="7571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palabra aparece tres veces en las Reglas: 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coherente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 modelo de cliente coherente con la metodología (RCG 23 Bis). El manual conforme a los resultados de la metodología (RCG 37). Y los temas de capacitación coherentes con la metodología (RCG 39 Bis).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se les viene encima, en orden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dónde cae lo de hoy.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0817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nov 2026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157984" y="14081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en vigor el ACUERDO 115/2026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260336" y="14081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Primero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1947672"/>
            <a:ext cx="8010144" cy="512064"/>
          </a:xfrm>
          <a:prstGeom prst="roundRect">
            <a:avLst>
              <a:gd name="adj" fmla="val 892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97510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mar 2027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57984" y="197510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Manual, CON la metodología incluida, a disposición previo requerimiento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260336" y="1975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Tercero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5420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mar 2027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57984" y="25420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de personal, para nuevas contrataciones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260336" y="25420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Sexto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jun 2027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157984" y="3108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Mecanismos automatizados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260336" y="31089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Noveno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3648456"/>
            <a:ext cx="8010144" cy="512064"/>
          </a:xfrm>
          <a:prstGeom prst="roundRect">
            <a:avLst>
              <a:gd name="adj" fmla="val 892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36758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dic 2027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157984" y="36758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Cierra el PRIMER periodo anual de capacitación (arranca el 1 de enero)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260336" y="36758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Séptimo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42428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dic 2028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157984" y="424281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Cierra el primer periodo de revisión de auditoría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260336" y="424281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Octavo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obligaciones en una sola fracción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020470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18 fr. VIII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54480"/>
            <a:ext cx="80101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«Elaborar </a:t>
            </a:r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observar</a:t>
            </a:r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 Manual de Políticas Internas que contenga los criterios, medidas y procedimientos necesarios para cumplir con las obligaciones previstas en la presente Ley, incluyendo las que les permitan identificar y dar seguimiento a los actos u operaciones que lleven a cabo con Personas Políticamente Expuestas…»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944368"/>
            <a:ext cx="3931920" cy="1316736"/>
          </a:xfrm>
          <a:prstGeom prst="roundRect">
            <a:avLst>
              <a:gd name="adj" fmla="val 4167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45152" y="2944368"/>
            <a:ext cx="3931920" cy="1316736"/>
          </a:xfrm>
          <a:prstGeom prst="roundRect">
            <a:avLst>
              <a:gd name="adj" fmla="val 4167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30723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36499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acredita con el documento. Es lo que casi todo el mercado tiene.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64608" y="30723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336499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acredita con la evidencia de que se aplicó. Es lo que casi nadie tiene, y el SAT puede pedir las dos.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plazo no es un año. Son noventa días naturales.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68580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362456" y="1170432"/>
            <a:ext cx="134965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Tercero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72768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786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 naturales contados del alta y registro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615184" y="1591056"/>
            <a:ext cx="5961888" cy="3003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88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plazo del RCG 37 corre desde el alta y registro del RCG 4, no desde la entrada en vigor de las Reglas.</a:t>
            </a:r>
            <a:endParaRPr lang="en-US" sz="1400" dirty="0"/>
          </a:p>
          <a:p>
            <a:pPr marL="342900" indent="-342900">
              <a:lnSpc>
                <a:spcPts val="1988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todos los de esta sala ya están de alta desde hace años. Para ustedes ese plazo ya venció: no tienen noventa días por delante, tienen una fecha.</a:t>
            </a:r>
            <a:endParaRPr lang="en-US" sz="1400" dirty="0"/>
          </a:p>
          <a:p>
            <a:pPr marL="342900" indent="-342900">
              <a:lnSpc>
                <a:spcPts val="1988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fecha es el 1 de marzo de 2027: el Manual completo, CON la metodología incorporada, y a disposición de la autoridad previo requerimiento.</a:t>
            </a:r>
            <a:endParaRPr lang="en-US" sz="1400" dirty="0"/>
          </a:p>
          <a:p>
            <a:pPr marL="342900" indent="-342900">
              <a:lnSpc>
                <a:spcPts val="1988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se dé de alta a partir de ahora sí cuenta noventa días desde su acuse.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contenido mínimo: catorce fracciones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Lámina de foto. No la voy a leer.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33856"/>
            <a:ext cx="82296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Bis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1463040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463040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 y conocimiento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463040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01568" y="1463040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95344" y="1463040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Clasificación de Riesgo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16752" y="1463040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1463040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20256" y="1463040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Debida diligencia por grado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048256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" y="2048256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70432" y="2048256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PEP: identificación y seguimiento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2048256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01568" y="2048256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895344" y="2048256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Fuera del perfil transaccional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048256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26480" y="2048256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620256" y="2048256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e Informes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633472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2633472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70432" y="263347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Conservación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91840" y="2633472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01568" y="2633472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VIII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895344" y="263347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Acumulación para umbrales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16752" y="2633472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26480" y="2633472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620256" y="263347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3218688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76656" y="3218688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170432" y="3218688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Funciones de la RECC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91840" y="3218688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401568" y="3218688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3895344" y="3218688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de capacitación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016752" y="3218688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26480" y="3218688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620256" y="3218688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interno y auditoría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03904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76656" y="3803904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XIII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170432" y="3803904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Confidencialidad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291840" y="3803904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401568" y="3803904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XIV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3895344" y="3803904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Actualización del Manual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4315968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en ámbar no se pueden escribir sin la matriz de la sesión pasada.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usted no hace, se declara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artículo más útil de este capítulo y el menos conocido.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88720"/>
            <a:ext cx="95463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Bis 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609344"/>
            <a:ext cx="8010144" cy="969264"/>
          </a:xfrm>
          <a:prstGeom prst="roundRect">
            <a:avLst>
              <a:gd name="adj" fmla="val 566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19072"/>
            <a:ext cx="7498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«…estarán exentos de establecer políticas, criterios, medidas o procedimientos para los mismos, siempre que hagan constar dicha circunstancia en el Manual de Políticas Internas.»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61488"/>
            <a:ext cx="8010144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59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usted no recibe efectivo, no tiene que escribir la política de efectivo. Pero tiene que declarar que no lo recibe.</a:t>
            </a:r>
            <a:endParaRPr lang="en-US" sz="1450" dirty="0"/>
          </a:p>
          <a:p>
            <a:pPr marL="342900" indent="-342900">
              <a:lnSpc>
                <a:spcPts val="2059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exención depende de la declaración. El silencio no exenta: obliga.</a:t>
            </a:r>
            <a:endParaRPr lang="en-US" sz="1450" dirty="0"/>
          </a:p>
          <a:p>
            <a:pPr marL="342900" indent="-342900">
              <a:lnSpc>
                <a:spcPts val="2059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tiene fecha de caducidad propia: en el momento en que decida hacer esa operación, la política debe estar escrita ANTES de la primera, no después.</a:t>
            </a:r>
            <a:endParaRPr lang="en-US" sz="1450" dirty="0"/>
          </a:p>
          <a:p>
            <a:pPr marL="342900" indent="-342900">
              <a:lnSpc>
                <a:spcPts val="2059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plantilla es el apartado 18, con su tabla. Es el apartado que más páginas les ahorra.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reglas más que casi nadie aplica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66928" y="1316736"/>
            <a:ext cx="3931920" cy="2962656"/>
          </a:xfrm>
          <a:prstGeom prst="roundRect">
            <a:avLst>
              <a:gd name="adj" fmla="val 1852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81328"/>
            <a:ext cx="1086307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párr. 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847088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Manual puede vivir en varios documentos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450592"/>
            <a:ext cx="349300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admite es que el Manual no los mencione: hay que incluir las referencias.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su procedimiento de conservación vive en la política de archivo, el Manual dice cómo se llama esa política y dónde está.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plantilla es el apartado 21.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45152" y="1316736"/>
            <a:ext cx="3931920" cy="2962656"/>
          </a:xfrm>
          <a:prstGeom prst="roundRect">
            <a:avLst>
              <a:gd name="adj" fmla="val 1852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64608" y="1481328"/>
            <a:ext cx="137160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Bis 3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864608" y="1847088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SAT puede ordenarle cambiar su manual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2450592"/>
            <a:ext cx="349300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«…podrá señalar a quienes realicen Actividades Vulnerables que efectúen modificaciones al Manual de Políticas Internas, así como a los demás documentos en él señalados, cuando a su juicio sea necesario.»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 juicio. No hay catálogo de causas. Por eso el manual conviene tenerlo defendible, no bonito.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norma al 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vocabulario no hay que inventarlo. Lo da la norma, y son cuatro escalones.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52144"/>
            <a:ext cx="1020470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18 fr. VIII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697126" y="1152144"/>
            <a:ext cx="1613002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 fr. XI Quinquies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1901952" cy="1572768"/>
          </a:xfrm>
          <a:prstGeom prst="roundRect">
            <a:avLst>
              <a:gd name="adj" fmla="val 3488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4944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94944" y="19202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2311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decisión de la casa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7980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i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decidimos?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615184" y="1554480"/>
            <a:ext cx="1901952" cy="1572768"/>
          </a:xfrm>
          <a:prstGeom prst="roundRect">
            <a:avLst>
              <a:gd name="adj" fmla="val 3488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9202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22311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que resuelve el caso dudoso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7980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i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¿Cuándo? ¿Qué cuenta como qué?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554480"/>
            <a:ext cx="1901952" cy="1572768"/>
          </a:xfrm>
          <a:prstGeom prst="roundRect">
            <a:avLst>
              <a:gd name="adj" fmla="val 3488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91456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791456" y="19202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91456" y="22311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control concreto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91456" y="27980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i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se hace para que se cumpla?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11696" y="1554480"/>
            <a:ext cx="1901952" cy="1572768"/>
          </a:xfrm>
          <a:prstGeom prst="roundRect">
            <a:avLst>
              <a:gd name="adj" fmla="val 3488"/>
            </a:avLst>
          </a:prstGeom>
          <a:solidFill>
            <a:srgbClr val="FDF3E3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39712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839712" y="19202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Procedimiento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39712" y="22311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con responsable, plazo y evidencia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839712" y="27980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i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¿Cómo, y cómo se prueba?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" y="3310128"/>
            <a:ext cx="8010144" cy="566928"/>
          </a:xfrm>
          <a:prstGeom prst="rect">
            <a:avLst/>
          </a:prstGeom>
          <a:solidFill>
            <a:srgbClr val="122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6384" y="3310128"/>
            <a:ext cx="7571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37 Bis dice en cada fracción qué tipo de texto quiere.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 I pide criterios; la III y la XIII, medidas; la IV, VI y XIV, procedimientos; la II, V, VII, VIII, IX y XII, mecanismos.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023360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prueba: si una persona que entró ayer puede ejecutarlo sin preguntar, y al ejecutarlo queda rastro, está bien escrito. Sin responsable, sin plazo y sin evidencia es transcripción, no procedimiento.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225296"/>
            <a:ext cx="82296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8778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15 MINUTOS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898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Escriban UN apartado, completo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39696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1031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Elijan UNA fracción del 37 Bis. No la más fácil: la que peor tengan hoy. En la guía, tabla del apartado 4, viene qué tipo de texto pide.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06624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267004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Escriban los cuatro escalones: política de una frase, criterio que resuelva la discusión que ese tema les provoca, medida que ya exista, y el procedimiento en tabla.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73552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32369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paso del procedimiento lleva responsable, plazo y la evidencia que deja. Sin esos tres, no es un paso.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40480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380390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Pásenlo por la lista de nueve preguntas del apartado 11 de la guía, y escriban en el chat cuáles no pasaron.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política de PEP dentro del manual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fracción IV es la única del 37 Bis que la Ley menciona por su nombre.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020470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18 fr. VIII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697126" y="1207008"/>
            <a:ext cx="1283818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Bis fr. IV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090672" y="1207008"/>
            <a:ext cx="102047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23 Quáter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627632"/>
            <a:ext cx="8010144" cy="296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es PEP: quien desempeña o ha desempeñado funciones públicas, en México o en el extranjero. Jefes de estado, líderes políticos, funcionarios gubernamentales, judiciales o militares de alta jerarquía, altos ejecutivos de empresas estatales, miembros importantes de partidos y de organizaciones internacionales.</a:t>
            </a:r>
            <a:endParaRPr lang="en-US" sz="1350" dirty="0"/>
          </a:p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por asimilación: cónyuge, concubina, concubinario, parentesco por consanguinidad o afinidad hasta segundo grado, y socios o asociados de personas morales con vínculos patrimoniales.</a:t>
            </a:r>
            <a:endParaRPr lang="en-US" sz="1350" dirty="0"/>
          </a:p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del año, que casi nadie tiene: sigue siendo PEP nacional durante el año siguiente a dejar el cargo. Y si lo dejó dentro del año anterior a operar con usted, se cataloga como PEP durante el año siguiente a esa operación.</a:t>
            </a:r>
            <a:endParaRPr lang="en-US" sz="1350" dirty="0"/>
          </a:p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aplicación Consulta PEP 2.0 se entra con e.firma y estará disponible hasta el 30 de agosto de 2027. Hasta entonces, su manual tiene que decir contra qué fuentes verifica.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condiciones, no una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33856"/>
            <a:ext cx="95463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23 Ter 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286000" cy="1133856"/>
          </a:xfrm>
          <a:prstGeom prst="roundRect">
            <a:avLst>
              <a:gd name="adj" fmla="val 4839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70078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PEP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84832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Nacional, extranjera o asimilada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962656" y="1572768"/>
            <a:ext cx="45720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29584" y="1572768"/>
            <a:ext cx="2286000" cy="1133856"/>
          </a:xfrm>
          <a:prstGeom prst="roundRect">
            <a:avLst>
              <a:gd name="adj" fmla="val 4839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75888" y="170078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Grado de Riesgo alto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75888" y="2084832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Según su propio modelo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925312" y="1572768"/>
            <a:ext cx="45720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492240" y="1572768"/>
            <a:ext cx="2084832" cy="1133856"/>
          </a:xfrm>
          <a:prstGeom prst="roundRect">
            <a:avLst>
              <a:gd name="adj" fmla="val 4839"/>
            </a:avLst>
          </a:prstGeom>
          <a:solidFill>
            <a:srgbClr val="FDF3E3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0256" y="1700784"/>
            <a:ext cx="18288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Aprobación de un directivo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871216"/>
            <a:ext cx="8010144" cy="1723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 PEP, por sí solo, NO dispara esta aprobación. Tienen que concurrir las dos condiciones.</a:t>
            </a:r>
            <a:endParaRPr lang="en-US" sz="1350" dirty="0"/>
          </a:p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«previamente o con posterioridad» al acto u operación. El texto lo dice así.</a:t>
            </a:r>
            <a:endParaRPr lang="en-US" sz="1350" dirty="0"/>
          </a:p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remite a «lo que al efecto se establezca en su Manual de Políticas Internas»: sin el apartado escrito, el formato no funciona.</a:t>
            </a:r>
            <a:endParaRPr lang="en-US" sz="1350" dirty="0"/>
          </a:p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física que realiza la Actividad Vulnerable: no hay directivo a quien pedirle. Se subsana con constancia motivada — escrita, no una casilla marcada.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acta que todo el mundo pide y nadie puede fundamentar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66928" y="1298448"/>
            <a:ext cx="8010144" cy="1627632"/>
          </a:xfrm>
          <a:prstGeom prst="roundRect">
            <a:avLst>
              <a:gd name="adj" fmla="val 3371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89888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cotejaron el RCG 37, el 37 Bis, el 37 Bis 1, el 37 Bis 2, el 37 Bis 3, el artículo 18 de la Ley y el Reglamento completo.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4708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disposición exige que el órgano de administración apruebe el Manual.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su consejo lo aprueba por gobierno corporativo, perfecto. Pero no lo cite con artículo, porque no lo hay.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62656"/>
            <a:ext cx="8010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Tampoco para la evaluación: el RCG 10 Septies 3 sólo pide que las revisiones «consten por escrito». Lo que la norma sí manda al órgano de gobierno son dos cosas: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3419856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3511296"/>
            <a:ext cx="137160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23 Ter 5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3803904"/>
            <a:ext cx="3493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aprobación de un directivo para operar con PEP de Grado alto. Es por operación, no por documento.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45152" y="3419856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64608" y="3511296"/>
            <a:ext cx="146304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42 párr. 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3803904"/>
            <a:ext cx="3493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dictamen de auditoría, que sí se presenta al consejo, al administrador único o a la dirección general.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377440"/>
            <a:ext cx="82296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20299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3 · MINUTO 50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Representante Encargada de Cumplimiento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puede serlo, cómo se designa de verdad, y quién responde mientras tanto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tiene que designar, y quién no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33856"/>
            <a:ext cx="685800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20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362456" y="1133856"/>
            <a:ext cx="68580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3931920" cy="1371600"/>
          </a:xfrm>
          <a:prstGeom prst="roundRect">
            <a:avLst>
              <a:gd name="adj" fmla="val 400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700784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 deben designar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011680"/>
            <a:ext cx="34930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personas morales, y quienes actúen a través de fideicomisos o de cualquier otra figura jurídica.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45152" y="1554480"/>
            <a:ext cx="3931920" cy="1371600"/>
          </a:xfrm>
          <a:prstGeom prst="roundRect">
            <a:avLst>
              <a:gd name="adj" fmla="val 400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64608" y="1700784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designan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2011680"/>
            <a:ext cx="34930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personas físicas: cumplen personal y directamente, salvo el supuesto de Entidades Colegiadas.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072384"/>
            <a:ext cx="8010144" cy="1225296"/>
          </a:xfrm>
          <a:prstGeom prst="roundRect">
            <a:avLst>
              <a:gd name="adj" fmla="val 4478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182112"/>
            <a:ext cx="7571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cosas que se pasan por alto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" y="3474720"/>
            <a:ext cx="7571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puede ser persona física.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designación hay que MANTENERLA VIGENTE, no sólo hacerla.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RECC debe recibir capacitación ANUALMENTE, y es una obligación específica del artículo 20 que casi siempre se olvida.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designación no existe hasta que la aceptan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este paso es el que falta en la mitad de los expedientes.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88720"/>
            <a:ext cx="68580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10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329184" cy="329184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42416" y="16093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Usted designa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13632" y="1609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trámite ante la Secretaría.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176272"/>
            <a:ext cx="329184" cy="329184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21579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persona designada entra al Portal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913632" y="21579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SU clave del RFC y SU certificado vigente de e.firma. No la de la empresa.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724912"/>
            <a:ext cx="329184" cy="329184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42416" y="270662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 o rechaza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913632" y="270662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Aquí, y sólo aquí, se completa la designación.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273552"/>
            <a:ext cx="329184" cy="329184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42416" y="3255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SAT le notifica a usted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32552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los diez días hábiles siguientes a recibir la aceptación o el rechazo.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822192"/>
            <a:ext cx="329184" cy="329184"/>
          </a:xfrm>
          <a:prstGeom prst="rect">
            <a:avLst/>
          </a:prstGeom>
          <a:solidFill>
            <a:srgbClr val="92400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" y="38039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rechaza, usted sigue obligado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13632" y="380390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rechazo no libera a quien designó de ninguna obligación.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425696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persona no está inscrita en el RFC, puede inscribirse SIN obligaciones fiscales sólo para tramitar su e.firma.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párrafo que nadie leyó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52144"/>
            <a:ext cx="954634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20 párr. 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8010144" cy="1243584"/>
          </a:xfrm>
          <a:prstGeom prst="roundRect">
            <a:avLst>
              <a:gd name="adj" fmla="val 4412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91056"/>
            <a:ext cx="7498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«En tanto no haya una persona Representante Encargada del Cumplimiento o la designación no sea aceptada, el cumplimiento de las obligaciones que esta Ley señala corresponderá a los integrantes del órgano de administración o a quien funja como administrador único de la persona moral; a la parte fideicomitente o su representante, o la persona que funja como administrador en cualquier otra figura jurídica.»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834640"/>
            <a:ext cx="801014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Mientras la aceptación no ocurra, la obligación no está en el aire: está en el consejo, o en el administrador único.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es sólo la obligación. Es también la sanción, porque el artículo 53 fracción II sanciona el incumplimiento de las obligaciones del artículo 18, sin importar quién debió cumplirlas.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designación firmada y nunca aceptada es peor que no tener designación: da la sensación de que el tema está resuelto.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tarea de esta semana cabe en veinte minutos: entrar al Portal y verificar la fecha de aceptación.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cosas que protegen a quien firma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66928" y="1280160"/>
            <a:ext cx="3931920" cy="3017520"/>
          </a:xfrm>
          <a:prstGeom prst="roundRect">
            <a:avLst>
              <a:gd name="adj" fmla="val 1818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444752"/>
            <a:ext cx="1005840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41 Bis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810512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tiene que ir usted a comparecer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395728"/>
            <a:ext cx="3493008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autoridad judicial o administrativa requiera la comparecencia de la RECC para una diligencia relacionada con sus funciones, la diligencia PUEDE desahogarla la persona representante legal o apoderada.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protección de identidad, y va junto con el resguardo del artículo 38 de la Ley.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45152" y="1280160"/>
            <a:ext cx="3931920" cy="3017520"/>
          </a:xfrm>
          <a:prstGeom prst="roundRect">
            <a:avLst>
              <a:gd name="adj" fmla="val 1818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64608" y="1444752"/>
            <a:ext cx="118872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34 Bis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864608" y="1810512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certificación de la UIF es voluntaria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2395728"/>
            <a:ext cx="3493008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texto dice «podrán obtener». No es requisito para ser RECC ni para que la designación surta efectos.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pueden obtener las personas físicas que realizan Actividades Vulnerables y las RECC que YA aceptaron su designación. Va por convocatoria en el DOF y dura cinco años.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377440"/>
            <a:ext cx="82296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20299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4 · MINUTO 75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Capacitación y selección de personal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obligaciones en una sola fracción, y la segunda casi siempre falta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quién hay que capacitar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lista es más larga de lo que casi todos suponen.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88720"/>
            <a:ext cx="888797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18 fr. IX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565453" y="1188720"/>
            <a:ext cx="82296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39 Bis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627632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2763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Integrantes del consejo de administración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45152" y="1627632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9744" y="162763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persona administradora única o su equivalente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194560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19456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directivas y funcionarias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45152" y="2194560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9744" y="219456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Representante Encargada de Cumplimiento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761488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7614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labore en atención al público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45152" y="2761488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9744" y="27614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participe en identificación o conocimiento del Cliente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328416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32841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envíe Avisos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45152" y="3328416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9744" y="332841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realice actividades de auditoría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4041648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Ocho supuestos. Con que se cumpla uno, esa persona entra al programa.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334256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herramienta que se llevan hoy lo calcula sola: usted marca las casillas y la hoja dice quién queda obligado.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tiene que contener, como mínimo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incisos y una fracción. No se puede escoger.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217981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39 Bis fr.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894637" y="1170432"/>
            <a:ext cx="888797" cy="237744"/>
          </a:xfrm>
          <a:prstGeom prst="rect">
            <a:avLst/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CPF 400 Bis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91056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91056"/>
            <a:ext cx="7296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Ley, el Reglamento, estas Reglas y las Resoluciones de formatos de alta y de Avisos, con sus modificaciones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103120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103120"/>
            <a:ext cx="7296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contenido de su propio Manual de Políticas Internas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615184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615184"/>
            <a:ext cx="7296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actos u operaciones que se llevan a cabo en términos del artículo 17 de la Ley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27248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127248"/>
            <a:ext cx="7296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Riesgos a que se encuentra expuesto quien realiza la Actividad Vulnerable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639312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fr. II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39312"/>
            <a:ext cx="7296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Técnicas, métodos y tendencias para prevenir y detectar operaciones del CPF 400 Bis y delitos relacionados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114800"/>
            <a:ext cx="8010144" cy="512064"/>
          </a:xfrm>
          <a:prstGeom prst="roundRect">
            <a:avLst>
              <a:gd name="adj" fmla="val 10714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114800"/>
            <a:ext cx="7571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remate: los temas deben ser COHERENTES con los resultados de la metodología del Capítulo II Quáter.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puede impartirla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52144"/>
            <a:ext cx="134965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39 Bis fr. III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544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7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651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años de experiencia, acreditados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554480"/>
            <a:ext cx="6199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«…quienes impartan la capacitación deberán contar y acreditar experiencia de por lo menos cinco años en materia de prevención de lavado de dinero y delitos relacionados a los que se refieren estas reglas.»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2359152"/>
            <a:ext cx="61996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Contar Y acreditar. La experiencia no se declara: se documenta, y ese documento se guarda con el expediente del programa.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también al capacitador interno. Si quien capacita en su empresa es la RECC, hay que poder acreditar sus cinco años.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aplica al proveedor que contraten. Es una pregunta legítima que hacerle antes de firmar.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3968496"/>
            <a:ext cx="8010144" cy="621792"/>
          </a:xfrm>
          <a:prstGeom prst="roundRect">
            <a:avLst>
              <a:gd name="adj" fmla="val 8824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3968496"/>
            <a:ext cx="7571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Enlaza con la auditoría: el RCG 44 exige que el área de auditoría interna cuente con al menos una acreditación de un programa de capacitación anual. Sin capacitación documentada, no hay auditoría interna válida.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constancia sin evaluación no cumple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33856"/>
            <a:ext cx="95463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39 Bis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8010144" cy="950976"/>
          </a:xfrm>
          <a:prstGeom prst="roundRect">
            <a:avLst>
              <a:gd name="adj" fmla="val 576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17904"/>
            <a:ext cx="7498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«Para expedir las constancias que acrediten la participación… deberán practicarles a las participantes evaluaciones sobre los conocimientos adquiridos, estableciendo en el Manual de Políticas Internas las medidas que se adoptarán respecto de aquellos que no obtengan resultados satisfactorios.»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68880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siete documentos que hay que conservar diez años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798064"/>
            <a:ext cx="786384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798064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26464" y="2798064"/>
            <a:ext cx="786384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26464" y="2798064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0" y="2798064"/>
            <a:ext cx="822960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7980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182112" y="2798064"/>
            <a:ext cx="1426464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82112" y="2798064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Listas de asistencia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81728" y="2798064"/>
            <a:ext cx="943661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81728" y="2798064"/>
            <a:ext cx="94366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Evaluaciones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8541" y="2798064"/>
            <a:ext cx="883310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98541" y="2798064"/>
            <a:ext cx="8833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Constancias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55003" y="2798064"/>
            <a:ext cx="1909267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55003" y="2798064"/>
            <a:ext cx="1909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otro que compruebe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3310128"/>
            <a:ext cx="80101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evaluación no hay constancia. Es condición, no recomendación.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Manual tiene que decir qué pasa con quien reprueba. Si su manual no lo dice, ese apartado está incompleto — es el apartado 12 de la plantilla.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Capacitación previa o simultánea al ingreso para quien vaya a atender público o a administrar recursos.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otra mitad de la fracción IX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de personal. Es la obligación que casi nadie tiene.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88720"/>
            <a:ext cx="888797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18 fr. IX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565453" y="1188720"/>
            <a:ext cx="95463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39 Bis 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629814" y="1188720"/>
            <a:ext cx="1217981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Sexto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645920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cada persona funcionaria o empleada hay que obtener una declaración FIRMADA en la que al menos conste: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3931920" cy="1517904"/>
          </a:xfrm>
          <a:prstGeom prst="roundRect">
            <a:avLst>
              <a:gd name="adj" fmla="val 3614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19456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542032"/>
            <a:ext cx="34930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su caso, la información de cualquier otro sector en el que haya laborado previamente y que estuviera sujeto al cumplimiento de las obligaciones de la Ley.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45152" y="2048256"/>
            <a:ext cx="3931920" cy="1517904"/>
          </a:xfrm>
          <a:prstGeom prst="roundRect">
            <a:avLst>
              <a:gd name="adj" fmla="val 3614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64608" y="219456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2542032"/>
            <a:ext cx="34930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 ha sido sentenciada por delitos patrimoniales, ni inhabilitada para ejercer el comercio, ni para desempeñar empleo, cargo o comisión en el servicio público o en el sistema financiero mexicano.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730752"/>
            <a:ext cx="8010144" cy="859536"/>
          </a:xfrm>
          <a:prstGeom prst="roundRect">
            <a:avLst>
              <a:gd name="adj" fmla="val 6383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3730752"/>
            <a:ext cx="75712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a las NUEVAS contrataciones realizadas a partir del 1 de marzo de 2027. No hay que pedirle la declaración a quien ya trabaja con ustedes — pero el procedimiento y las medidas para quien deje de tener calidad técnica u honorabilidad sí van en el Manual desde ahora.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225296"/>
            <a:ext cx="82296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8778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· 20 MINUTOS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898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programa anual de capacitación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39696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1031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«Personal obligado»: capturen a su gente y marquen las casillas. La hoja les dice sola quién queda dentro.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06624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267004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«Programa anual»: ya trae cinco renglones que cubren los cuatro incisos y la fracción II. Ajústenlos a su giro.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73552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32369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Miren el semáforo de arriba. Si algún contenido mínimo dice FALTA, les falta un curso.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40480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380390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«Evidencia»: pongan la fecha de un evento y vean cómo se calcula sola la fecha en que se puede destruir.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prueba que el manual se aplica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pregunta que cierra toda visita.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8010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todo lo que su manual dice que usted hace, ¿qué documento lo prueba?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828800"/>
            <a:ext cx="2286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de existencia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828800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documento, con su versión y su fecha.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68896" y="1828800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todos la tienen.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15184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" y="2615184"/>
            <a:ext cx="2286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de difusión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615184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acuses de que el personal obligado lo recibió y lo conoce.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168896" y="2615184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Algunos la tienen.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01568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3401568"/>
            <a:ext cx="2286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de aplicación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401568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expediente, la bitácora, la constancia, el acuse: el rastro de haberlo hecho.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168896" y="3401568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nadie la tiene.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169664"/>
            <a:ext cx="8010144" cy="457200"/>
          </a:xfrm>
          <a:prstGeom prst="roundRect">
            <a:avLst>
              <a:gd name="adj" fmla="val 1200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4169664"/>
            <a:ext cx="7571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apartado de la plantilla que se llevan termina con el bloque «qué evidencia acredita que este apartado se aplica». Ésa es la columna que van a necesitar.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cuesta no tenerlo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52144"/>
            <a:ext cx="888797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53 fr. II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565453" y="1152144"/>
            <a:ext cx="822960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54 fr.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8010144" cy="731520"/>
          </a:xfrm>
          <a:prstGeom prst="roundRect">
            <a:avLst>
              <a:gd name="adj" fmla="val 750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72768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artículo 53 fracción II sanciona el incumplimiento de CUALQUIERA de las obligaciones del artículo 18 de la Ley. Ahí están la fracción VIII —el Manual— y la fracción IX —capacitación y selección de personal—.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505456"/>
            <a:ext cx="3931920" cy="137160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651760"/>
            <a:ext cx="3493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a 2,000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3163824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veces el valor diario de la UMA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347472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54 fr. 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45152" y="2505456"/>
            <a:ext cx="3931920" cy="1371600"/>
          </a:xfrm>
          <a:prstGeom prst="roundRect">
            <a:avLst>
              <a:gd name="adj" fmla="val 4000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64608" y="2651760"/>
            <a:ext cx="3493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$23,462 a $234,620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3163824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 UMA diaria de 2026, de $117.31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347472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INEGI, vigente desde el 1 de febrero de 2026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78224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multa por obligación incumplida, no por operación. Un manual ausente y un programa de capacitación ausente son dos.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Cuándo hay que volver a tocarlo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«cada año». Es cada vez que pase algo de esto.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34965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Bis fr. XIV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026310" y="1170432"/>
            <a:ext cx="95463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Bis 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609344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60934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Reforma a la Ley, al Reglamento o a las Reglas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645152" y="1609344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60934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Publicación o cambio de anexos o formatos oficiales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121408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1214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en las fracciones del artículo 17 que usted realiza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45152" y="2121408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1214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de la evaluación que mueva su Grado de Riesgo propio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633472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26334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 del dictamen de auditoría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645152" y="2633472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6334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de Representante Encargada de Cumplimiento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145536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314553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de operar bajo un supuesto que había declarado que no realizaba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645152" y="3145536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314553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 del SAT en términos del RCG 37 Bis 3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3785616"/>
            <a:ext cx="8010144" cy="786384"/>
          </a:xfrm>
          <a:prstGeom prst="roundRect">
            <a:avLst>
              <a:gd name="adj" fmla="val 6977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3785616"/>
            <a:ext cx="75712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la bitácora de versiones, que es el apartado 22 de la plantilla. Una bitácora que salta de la versión 1 a la 3 es una pregunta que usted va a tener que contestar. La versión sustituida se conserva los mismos diez años: hay que poder decir qué política estaba vigente el día de una operación de hace dos años.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de esta semana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cosas. Ninguna depende de nadie más que de ustedes.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316736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316736"/>
            <a:ext cx="3291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43584" y="137160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Entren al Portal y verifiquen la fecha de ACEPTACIÓN de su Representante.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43584" y="1682496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Veinte minutos. Si no está aceptada, el consejo está respondiendo hoy.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103120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103120"/>
            <a:ext cx="3291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15798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Llenen la hoja «Personal obligado» con toda su gente.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43584" y="246888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fórmula les dice quién entra. Traigan el número la próxima sesión.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889504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89504"/>
            <a:ext cx="3291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43584" y="29443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Escriban el apartado 18: los supuestos que NO realizan.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43584" y="325526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el que más páginas les ahorra y el que nadie tiene.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75888"/>
            <a:ext cx="3291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43584" y="373075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Pregunten a su capacitador cómo acredita sus cinco años.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43584" y="404164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es interno, junten el documento. Si es externo, pídanlo por escrito.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40740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para la próxima sesión: traigan identificada una estructura societaria de dos niveles de alguno de sus clientes.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00784"/>
            <a:ext cx="82296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13533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SE LLEVAN HOY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de Políticas Internas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21031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Veintitrés apartados, cada uno con su fundamento y su evidencia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7860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anual de capacitación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25786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Siete hojas, con el semáforo de contenidos mínimos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5409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de aprobación para PEP de Grado alto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305409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variantes: persona moral y persona física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785616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semana que entra: Beneficiario Controlador, monitoreo, aviso de 24 horas y efectivo.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31596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7C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Martes 8 de septiembre, 16:00 h. Y ojo: la sesión siguiente a ésa cambia de día — es LUNES 14 de septiembre.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S03 · Manual, Representante y capacitación</dc:title>
  <dc:subject>PptxGenJS Presentation</dc:subject>
  <dc:creator>GMC360 · 360Educa</dc:creator>
  <cp:lastModifiedBy>GMC360 · 360Educa</cp:lastModifiedBy>
  <cp:revision>1</cp:revision>
  <dcterms:created xsi:type="dcterms:W3CDTF">2026-09-01T04:10:11Z</dcterms:created>
  <dcterms:modified xsi:type="dcterms:W3CDTF">2026-09-01T04:10:11Z</dcterms:modified>
</cp:coreProperties>
</file>