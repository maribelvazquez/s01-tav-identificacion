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1887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250" kern="0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Antilavado 360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85800" y="1645920"/>
            <a:ext cx="7772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Metodología de riesgos</a:t>
            </a:r>
            <a:endParaRPr lang="en-US" sz="40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 grado de riesgo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85800" y="32461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C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Sesión 02  ·  martes 25 de agosto de 2026  ·  16:00 a 18:00 h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42062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20" kern="0" dirty="0">
                <a:solidFill>
                  <a:srgbClr val="7D8D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ASONOC  ·  GMC360  ·  360Educa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85800" y="3611880"/>
            <a:ext cx="169164" cy="237744"/>
          </a:xfrm>
          <a:prstGeom prst="roundRect">
            <a:avLst>
              <a:gd name="adj" fmla="val 21622"/>
            </a:avLst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3611880"/>
            <a:ext cx="1691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54964" y="3611880"/>
            <a:ext cx="713232" cy="237744"/>
          </a:xfrm>
          <a:prstGeom prst="roundRect">
            <a:avLst>
              <a:gd name="adj" fmla="val 15385"/>
            </a:avLst>
          </a:prstGeom>
          <a:solidFill>
            <a:srgbClr val="1B2E5C"/>
          </a:solidFill>
          <a:ln w="12700">
            <a:solidFill>
              <a:srgbClr val="2C427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4964" y="3611880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D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fr. VII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659636" y="3611880"/>
            <a:ext cx="324612" cy="237744"/>
          </a:xfrm>
          <a:prstGeom prst="roundRect">
            <a:avLst>
              <a:gd name="adj" fmla="val 15385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659636" y="3611880"/>
            <a:ext cx="3246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A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984248" y="3611880"/>
            <a:ext cx="940003" cy="237744"/>
          </a:xfrm>
          <a:prstGeom prst="roundRect">
            <a:avLst>
              <a:gd name="adj" fmla="val 15385"/>
            </a:avLst>
          </a:prstGeom>
          <a:solidFill>
            <a:srgbClr val="1B2E5C"/>
          </a:solidFill>
          <a:ln w="12700">
            <a:solidFill>
              <a:srgbClr val="2C427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84248" y="3611880"/>
            <a:ext cx="9400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D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Cap. II Quáter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015691" y="3611880"/>
            <a:ext cx="324612" cy="237744"/>
          </a:xfrm>
          <a:prstGeom prst="roundRect">
            <a:avLst>
              <a:gd name="adj" fmla="val 15385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15691" y="3611880"/>
            <a:ext cx="3246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A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340303" y="3611880"/>
            <a:ext cx="826618" cy="237744"/>
          </a:xfrm>
          <a:prstGeom prst="roundRect">
            <a:avLst>
              <a:gd name="adj" fmla="val 15385"/>
            </a:avLst>
          </a:prstGeom>
          <a:solidFill>
            <a:srgbClr val="1B2E5C"/>
          </a:solidFill>
          <a:ln w="12700">
            <a:solidFill>
              <a:srgbClr val="2C427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40303" y="3611880"/>
            <a:ext cx="8266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D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Cap. III Bis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258361" y="3611880"/>
            <a:ext cx="169164" cy="237744"/>
          </a:xfrm>
          <a:prstGeom prst="roundRect">
            <a:avLst>
              <a:gd name="adj" fmla="val 21622"/>
            </a:avLst>
          </a:prstGeom>
          <a:solidFill>
            <a:srgbClr val="1E7A4C"/>
          </a:solidFill>
          <a:ln w="12700">
            <a:solidFill>
              <a:srgbClr val="1E7A4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258361" y="3611880"/>
            <a:ext cx="1691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427525" y="3611880"/>
            <a:ext cx="259690" cy="237744"/>
          </a:xfrm>
          <a:prstGeom prst="roundRect">
            <a:avLst>
              <a:gd name="adj" fmla="val 15385"/>
            </a:avLst>
          </a:prstGeom>
          <a:solidFill>
            <a:srgbClr val="1B2E5C"/>
          </a:solidFill>
          <a:ln w="12700">
            <a:solidFill>
              <a:srgbClr val="2C427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27525" y="3611880"/>
            <a:ext cx="2596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D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Dónde estamos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Siete sesiones. Hoy es la segunda.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088136" cy="1783080"/>
          </a:xfrm>
          <a:prstGeom prst="roundRect">
            <a:avLst>
              <a:gd name="adj" fmla="val 5042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783080"/>
            <a:ext cx="1088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S00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30936" y="2148840"/>
            <a:ext cx="9235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abierta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48640" y="301752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hecha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709928" y="1600200"/>
            <a:ext cx="1088136" cy="1783080"/>
          </a:xfrm>
          <a:prstGeom prst="roundRect">
            <a:avLst>
              <a:gd name="adj" fmla="val 5042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09928" y="1783080"/>
            <a:ext cx="1088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S01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792224" y="2148840"/>
            <a:ext cx="9235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Identificación y expediente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709928" y="301752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hecha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2871216" y="1600200"/>
            <a:ext cx="1088136" cy="1783080"/>
          </a:xfrm>
          <a:prstGeom prst="roundRect">
            <a:avLst>
              <a:gd name="adj" fmla="val 5042"/>
            </a:avLst>
          </a:prstGeom>
          <a:solidFill>
            <a:srgbClr val="12224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71216" y="1783080"/>
            <a:ext cx="1088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S02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953512" y="2148840"/>
            <a:ext cx="9235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Metodología de riesgos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871216" y="301752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032504" y="1600200"/>
            <a:ext cx="1088136" cy="1783080"/>
          </a:xfrm>
          <a:prstGeom prst="roundRect">
            <a:avLst>
              <a:gd name="adj" fmla="val 5042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32504" y="1783080"/>
            <a:ext cx="1088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S03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114800" y="2148840"/>
            <a:ext cx="9235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Avisos y umbrales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032504" y="301752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5193792" y="1600200"/>
            <a:ext cx="1088136" cy="1783080"/>
          </a:xfrm>
          <a:prstGeom prst="roundRect">
            <a:avLst>
              <a:gd name="adj" fmla="val 5042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193792" y="1783080"/>
            <a:ext cx="1088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S04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276088" y="2148840"/>
            <a:ext cx="9235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Beneficiario Controlador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193792" y="301752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355080" y="1600200"/>
            <a:ext cx="1088136" cy="1783080"/>
          </a:xfrm>
          <a:prstGeom prst="roundRect">
            <a:avLst>
              <a:gd name="adj" fmla="val 5042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55080" y="1783080"/>
            <a:ext cx="1088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S05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6437376" y="2148840"/>
            <a:ext cx="9235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actividad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355080" y="301752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516368" y="1600200"/>
            <a:ext cx="1088136" cy="1783080"/>
          </a:xfrm>
          <a:prstGeom prst="roundRect">
            <a:avLst>
              <a:gd name="adj" fmla="val 5042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516368" y="1783080"/>
            <a:ext cx="1088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S06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7598664" y="2148840"/>
            <a:ext cx="92354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Auditoría y sanciones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7516368" y="301752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48640" y="471830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sectorial se ve en S05. Hoy el método sirve para cualquiera de las quince fracciones del artículo 17.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 que te llevas hoy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66928" y="1664208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16642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70432" y="1609344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Matriz de riesgo con su metodología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1170432" y="1920240"/>
            <a:ext cx="7406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archivo completo, con la guía de uso. No una plantilla vacía: una herramienta con el método adentro.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2670048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26700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70432" y="2615184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caso resuelto al cien por ciento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1170432" y="2926080"/>
            <a:ext cx="7406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matriz completa con una inmobiliaria de ejemplo: las quince hojas llenas, no una plantilla vacía.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675888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3675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70432" y="3621024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guía de las quince pestañas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1170432" y="3931920"/>
            <a:ext cx="7406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se hace en cada hoja, qué no, cómo sabes que terminaste y qué trae el ejemplo.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48640" y="471830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Formación continua. Este taller no otorga certificación alguna.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60920" y="274320"/>
            <a:ext cx="1234440" cy="274320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60920" y="27432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– 10 min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Empecemos por tu tarea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93268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clientes en el Instrumento de expediente: uno fácil y uno difícil.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913632" cy="2331720"/>
          </a:xfrm>
          <a:prstGeom prst="roundRect">
            <a:avLst>
              <a:gd name="adj" fmla="val 2353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8745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fácil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240280"/>
            <a:ext cx="3383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física, mexicana, residente, una sola operación, pago bancarizado.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llenaste en diez minutos.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¿Eso lo vuelve de riesgo bajo?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81728" y="1691640"/>
            <a:ext cx="3913632" cy="2331720"/>
          </a:xfrm>
          <a:prstGeom prst="roundRect">
            <a:avLst>
              <a:gd name="adj" fmla="val 2353"/>
            </a:avLst>
          </a:prstGeom>
          <a:solidFill>
            <a:srgbClr val="12224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56048" y="18745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difícil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956048" y="2240280"/>
            <a:ext cx="3383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DCE4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moral de reciente constitución, socios que no aparecen, pago fraccionado.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DCE4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Ahí te trabaste.</a:t>
            </a:r>
            <a:endParaRPr lang="en-US" sz="12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DCE4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¿Y eso lo vuelve de riesgo alto?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471830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Ninguna de las dos preguntas se contesta con intuición. Se contestan con un modelo escrito. Eso es lo de hoy.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2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58368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entrar al método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reloj ya está corriendo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DCE4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metodología debe estar a disposición de la autoridad desde el 1 de marzo de 2027,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DCE4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información del año inmediato anterior.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2560320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F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no cuentas con el año completo, con la información disponible desde el inicio de la Actividad Vulnerable.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3063240"/>
            <a:ext cx="7863840" cy="960120"/>
          </a:xfrm>
          <a:prstGeom prst="roundRect">
            <a:avLst>
              <a:gd name="adj" fmla="val 5714"/>
            </a:avLst>
          </a:prstGeom>
          <a:solidFill>
            <a:srgbClr val="1B2E5C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324612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Los doce meses que vas a tener que enseñar son los que estás operando hoy.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40080" y="4224528"/>
            <a:ext cx="324612" cy="237744"/>
          </a:xfrm>
          <a:prstGeom prst="roundRect">
            <a:avLst>
              <a:gd name="adj" fmla="val 15385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4224528"/>
            <a:ext cx="3246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A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64692" y="4224528"/>
            <a:ext cx="1223467" cy="237744"/>
          </a:xfrm>
          <a:prstGeom prst="roundRect">
            <a:avLst>
              <a:gd name="adj" fmla="val 15385"/>
            </a:avLst>
          </a:prstGeom>
          <a:solidFill>
            <a:srgbClr val="1B2E5C"/>
          </a:solidFill>
          <a:ln w="12700">
            <a:solidFill>
              <a:srgbClr val="2C427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4692" y="4224528"/>
            <a:ext cx="12234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D4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Transitorio Segundo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Dos evaluaciones que se confunden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Están en el mismo archivo. No son la misma obligación ni miden lo mismo.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3913632" cy="2606040"/>
          </a:xfrm>
          <a:prstGeom prst="roundRect">
            <a:avLst>
              <a:gd name="adj" fmla="val 2105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72768"/>
            <a:ext cx="3913632" cy="566928"/>
          </a:xfrm>
          <a:prstGeom prst="roundRect">
            <a:avLst>
              <a:gd name="adj" fmla="val 9677"/>
            </a:avLst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572768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entidad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04672" y="228600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mide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04672" y="2478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tan expuesto está tu negocio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04672" y="290779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cuándo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04672" y="309981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vez al año, sobre 12 meses de operación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04672" y="3529584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produce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04672" y="372160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Riesgo inherente y residual del negocio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4672" y="4261104"/>
            <a:ext cx="324612" cy="237744"/>
          </a:xfrm>
          <a:prstGeom prst="roundRect">
            <a:avLst>
              <a:gd name="adj" fmla="val 15385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4672" y="4261104"/>
            <a:ext cx="3246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A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129284" y="4261104"/>
            <a:ext cx="940003" cy="237744"/>
          </a:xfrm>
          <a:prstGeom prst="roundRect">
            <a:avLst>
              <a:gd name="adj" fmla="val 15385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29284" y="4261104"/>
            <a:ext cx="9400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Cap. II Quáter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681728" y="1572768"/>
            <a:ext cx="3913632" cy="2606040"/>
          </a:xfrm>
          <a:prstGeom prst="roundRect">
            <a:avLst>
              <a:gd name="adj" fmla="val 2105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81728" y="1572768"/>
            <a:ext cx="3913632" cy="566928"/>
          </a:xfrm>
          <a:prstGeom prst="roundRect">
            <a:avLst>
              <a:gd name="adj" fmla="val 9677"/>
            </a:avLst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37760" y="1572768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cliente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4937760" y="228600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mide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937760" y="2478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tanto riesgo representa esta persona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937760" y="290779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cuándo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937760" y="3099816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alta y al menos cada seis meses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937760" y="3529584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produce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937760" y="372160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Grado de riesgo: bajo, medio o alto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937760" y="4261104"/>
            <a:ext cx="324612" cy="237744"/>
          </a:xfrm>
          <a:prstGeom prst="roundRect">
            <a:avLst>
              <a:gd name="adj" fmla="val 15385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937760" y="4261104"/>
            <a:ext cx="3246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A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262372" y="4261104"/>
            <a:ext cx="826618" cy="237744"/>
          </a:xfrm>
          <a:prstGeom prst="roundRect">
            <a:avLst>
              <a:gd name="adj" fmla="val 15385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262372" y="4261104"/>
            <a:ext cx="8266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Cap. III Bis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48640" y="471830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 se llena en vivo la del cliente. La de la entidad se recorre completa y se lleva de tarea con datos propios.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60920" y="274320"/>
            <a:ext cx="1234440" cy="274320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60920" y="27432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– 25 min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Qué es el enfoque basado en riesgos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93268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Ley lo pide en once palabras. Todo lo demás está en las Reglas.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8046720" cy="1024128"/>
          </a:xfrm>
          <a:prstGeom prst="roundRect">
            <a:avLst>
              <a:gd name="adj" fmla="val 5357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755648"/>
            <a:ext cx="7406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i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«Llevar a cabo una evaluación con un enfoque basado en Riesgos […] que les permita identificar, analizar, entender y mitigar sus Riesgos, así como los de las personas Clientes o Usuarias»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761488"/>
            <a:ext cx="169164" cy="237744"/>
          </a:xfrm>
          <a:prstGeom prst="roundRect">
            <a:avLst>
              <a:gd name="adj" fmla="val 21622"/>
            </a:avLst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761488"/>
            <a:ext cx="1691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17804" y="2761488"/>
            <a:ext cx="713232" cy="237744"/>
          </a:xfrm>
          <a:prstGeom prst="roundRect">
            <a:avLst>
              <a:gd name="adj" fmla="val 15385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7804" y="2761488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fr. VII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48640" y="3182112"/>
            <a:ext cx="1929384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4944" y="3291840"/>
            <a:ext cx="1636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Identificar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94944" y="3584448"/>
            <a:ext cx="16367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te expone, con nombre propio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587752" y="3182112"/>
            <a:ext cx="1929384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34056" y="3291840"/>
            <a:ext cx="1636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Analizar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734056" y="3584448"/>
            <a:ext cx="16367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Cuánto pesa cada cosa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26864" y="3182112"/>
            <a:ext cx="1929384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73168" y="3291840"/>
            <a:ext cx="1636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Entender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773168" y="3584448"/>
            <a:ext cx="16367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pesa lo que pesa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665976" y="3182112"/>
            <a:ext cx="1929384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12280" y="3291840"/>
            <a:ext cx="1636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Mitigar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812280" y="3584448"/>
            <a:ext cx="16367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haces al respecto y cómo lo pruebas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8640" y="471830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cuatro verbos son del texto de la Ley. La metodología es el documento que demuestra que los ejecutaste.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 qué no 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confusiones que salen caras.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8046720" cy="932688"/>
          </a:xfrm>
          <a:prstGeom prst="roundRect">
            <a:avLst>
              <a:gd name="adj" fmla="val 5882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6459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es una lista de verificación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41248" y="1938528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lista se contesta igual para todos. El EBR produce resultados distintos para negocios distintos, y por eso te obliga a justificar los tuyos.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2615184"/>
            <a:ext cx="8046720" cy="932688"/>
          </a:xfrm>
          <a:prstGeom prst="roundRect">
            <a:avLst>
              <a:gd name="adj" fmla="val 5882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2706624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es impacto por probabilidad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41248" y="2999232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 modelo viene de GAFILAT, de la ISO 31000 y de la guía de la CNBV. Son referencias respetables, pero las Reglas no piden ni impacto ni probabilidad ni severidad.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3675888"/>
            <a:ext cx="8046720" cy="932688"/>
          </a:xfrm>
          <a:prstGeom prst="roundRect">
            <a:avLst>
              <a:gd name="adj" fmla="val 5882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376732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es un documento que se archiva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41248" y="4059936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norma no pide tenerlo: pide que los resultados cambien tus políticas, y en un plazo de doce meses contados desde que los tuviste.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4626864"/>
            <a:ext cx="324612" cy="237744"/>
          </a:xfrm>
          <a:prstGeom prst="roundRect">
            <a:avLst>
              <a:gd name="adj" fmla="val 15385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4626864"/>
            <a:ext cx="3246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A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73252" y="4626864"/>
            <a:ext cx="1620317" cy="237744"/>
          </a:xfrm>
          <a:prstGeom prst="roundRect">
            <a:avLst>
              <a:gd name="adj" fmla="val 15385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3252" y="4626864"/>
            <a:ext cx="162031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Septies 2, último párr.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Separar la norma de la buena práctica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la distinción que más tranquiliza a una sala, y la que menos se enseña.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913632" cy="2788920"/>
          </a:xfrm>
          <a:prstGeom prst="roundRect">
            <a:avLst>
              <a:gd name="adj" fmla="val 1967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00200"/>
            <a:ext cx="3913632" cy="502920"/>
          </a:xfrm>
          <a:prstGeom prst="roundRect">
            <a:avLst>
              <a:gd name="adj" fmla="val 10909"/>
            </a:avLst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60020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las Reglas sí exigen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212848"/>
            <a:ext cx="3383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Cuatro elementos de riesgo, con sus indicadores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valor a cada indicador y a cada elemento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mitigantes del Manual y su efectiva aplicación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 de 139 Quáter y 400 Bis en cada elemento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menos doce meses de información real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Evaluación Nacional de Riesgos como insumo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81728" y="1600200"/>
            <a:ext cx="3913632" cy="2788920"/>
          </a:xfrm>
          <a:prstGeom prst="roundRect">
            <a:avLst>
              <a:gd name="adj" fmla="val 1967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81728" y="1600200"/>
            <a:ext cx="3913632" cy="502920"/>
          </a:xfrm>
          <a:prstGeom prst="roundRect">
            <a:avLst>
              <a:gd name="adj" fmla="val 10909"/>
            </a:avLst>
          </a:prstGeom>
          <a:solidFill>
            <a:srgbClr val="E9ECF1"/>
          </a:solidFill>
          <a:ln w="12700">
            <a:solidFill>
              <a:srgbClr val="E9ECF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56048" y="160020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es buena práctica, no norma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956048" y="2212848"/>
            <a:ext cx="3383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Impacto, probabilidad y severidad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Mapas de calor de 5 × 5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Apetito de riesgo expresado en número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Escalas de 1 a 5 y sus umbrales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cuatro factores de GAFI: cliente, producto, geografía y canal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4498848"/>
            <a:ext cx="324612" cy="237744"/>
          </a:xfrm>
          <a:prstGeom prst="roundRect">
            <a:avLst>
              <a:gd name="adj" fmla="val 15385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4498848"/>
            <a:ext cx="3246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A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73252" y="4498848"/>
            <a:ext cx="826618" cy="237744"/>
          </a:xfrm>
          <a:prstGeom prst="roundRect">
            <a:avLst>
              <a:gd name="adj" fmla="val 15385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3252" y="4498848"/>
            <a:ext cx="8266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Septies 1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791310" y="4498848"/>
            <a:ext cx="324612" cy="237744"/>
          </a:xfrm>
          <a:prstGeom prst="roundRect">
            <a:avLst>
              <a:gd name="adj" fmla="val 15385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791310" y="4498848"/>
            <a:ext cx="3246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A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115922" y="4498848"/>
            <a:ext cx="826618" cy="237744"/>
          </a:xfrm>
          <a:prstGeom prst="roundRect">
            <a:avLst>
              <a:gd name="adj" fmla="val 15385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15922" y="4498848"/>
            <a:ext cx="8266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Septies 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566160" y="4498848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columna derecha no está prohibida y mejora tu modelo. Sólo no la presentes como si fuera la exigencia.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Los cuatro momentos del método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Diseñar no es implementar, y ninguno de los dos es revisar.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929384" cy="2148840"/>
          </a:xfrm>
          <a:prstGeom prst="roundRect">
            <a:avLst>
              <a:gd name="adj" fmla="val 2844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98448" y="1847088"/>
            <a:ext cx="420624" cy="420624"/>
          </a:xfrm>
          <a:prstGeom prst="ellipse">
            <a:avLst/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8448" y="18470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76656" y="2359152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Diseñar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76656" y="2670048"/>
            <a:ext cx="1673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método por escrito, dentro del Manual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76656" y="3474720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Septies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395728" y="246888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587752" y="1691640"/>
            <a:ext cx="1929384" cy="2148840"/>
          </a:xfrm>
          <a:prstGeom prst="roundRect">
            <a:avLst>
              <a:gd name="adj" fmla="val 2844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37560" y="1847088"/>
            <a:ext cx="420624" cy="420624"/>
          </a:xfrm>
          <a:prstGeom prst="ellipse">
            <a:avLst/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37560" y="18470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715768" y="2359152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Implementar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715768" y="2670048"/>
            <a:ext cx="1673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Correrlo con doce meses de datos reales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715768" y="3474720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Septies 2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4434840" y="246888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626864" y="1691640"/>
            <a:ext cx="1929384" cy="2148840"/>
          </a:xfrm>
          <a:prstGeom prst="roundRect">
            <a:avLst>
              <a:gd name="adj" fmla="val 2844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76672" y="1847088"/>
            <a:ext cx="420624" cy="420624"/>
          </a:xfrm>
          <a:prstGeom prst="ellipse">
            <a:avLst/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76672" y="18470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4754880" y="2359152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Revisar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754880" y="2670048"/>
            <a:ext cx="1673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doce meses, o antes si cambia la ENR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754880" y="3474720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Septies 3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6473952" y="246888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665976" y="1691640"/>
            <a:ext cx="1929384" cy="2148840"/>
          </a:xfrm>
          <a:prstGeom prst="roundRect">
            <a:avLst>
              <a:gd name="adj" fmla="val 2844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15784" y="1847088"/>
            <a:ext cx="420624" cy="420624"/>
          </a:xfrm>
          <a:prstGeom prst="ellipse">
            <a:avLst/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15784" y="18470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6793992" y="2359152"/>
            <a:ext cx="1673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Ajustar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793992" y="2670048"/>
            <a:ext cx="1673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Cambiar políticas conforme al resultado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793992" y="3474720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Septies 2, últ. párr.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48640" y="3986784"/>
            <a:ext cx="8046720" cy="658368"/>
          </a:xfrm>
          <a:prstGeom prst="roundRect">
            <a:avLst>
              <a:gd name="adj" fmla="val 8333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8680" y="3986784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dos plazos de doce meses no son el mismo: uno es revisar la evaluación, el otro es modificar las políticas. Corren en paralelo.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60920" y="274320"/>
            <a:ext cx="1234440" cy="274320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60920" y="27432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– 40 min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Los cuatro elementos de riesgo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93268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los eliges tú: están en el texto, y son el mínimo.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627632"/>
            <a:ext cx="8046720" cy="658368"/>
          </a:xfrm>
          <a:prstGeom prst="roundRect">
            <a:avLst>
              <a:gd name="adj" fmla="val 8333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1746504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746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25296" y="171907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Actos u operaciones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25296" y="1975104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vendes o intermedias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897880" y="17373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peso del elemento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7406640" y="1746504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20 %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2359152"/>
            <a:ext cx="8046720" cy="658368"/>
          </a:xfrm>
          <a:prstGeom prst="roundRect">
            <a:avLst>
              <a:gd name="adj" fmla="val 8333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2478024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24780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25296" y="245059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 de personas Clientes o Usuarias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25296" y="2706624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quién lo haces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897880" y="246888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peso del elemento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406640" y="2478024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30 %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548640" y="3090672"/>
            <a:ext cx="8046720" cy="658368"/>
          </a:xfrm>
          <a:prstGeom prst="roundRect">
            <a:avLst>
              <a:gd name="adj" fmla="val 8333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8368" y="3209544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32095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225296" y="318211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Países y áreas geográficas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225296" y="3438144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Dónde ocurre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897880" y="320040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peso del elemento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406640" y="3209544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15 %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548640" y="3822192"/>
            <a:ext cx="8046720" cy="658368"/>
          </a:xfrm>
          <a:prstGeom prst="roundRect">
            <a:avLst>
              <a:gd name="adj" fmla="val 8333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58368" y="3941064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39410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225296" y="391363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Transacciones y canales de envío o distribución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225296" y="4169664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se paga y por dónde entra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897880" y="393192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peso del elemento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406640" y="3941064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35 %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548640" y="4626864"/>
            <a:ext cx="324612" cy="237744"/>
          </a:xfrm>
          <a:prstGeom prst="roundRect">
            <a:avLst>
              <a:gd name="adj" fmla="val 15385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4626864"/>
            <a:ext cx="3246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A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873252" y="4626864"/>
            <a:ext cx="2130552" cy="237744"/>
          </a:xfrm>
          <a:prstGeom prst="roundRect">
            <a:avLst>
              <a:gd name="adj" fmla="val 15385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73252" y="4626864"/>
            <a:ext cx="2130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Septies 1 fr. I, incisos a) a d)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48640" y="471830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son los cuatro factores de GAFI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parecen lo suficiente como para que casi nadie note la diferencia.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830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A64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Los cuatro de GAFI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3383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Producto o servicio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Geografía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Canal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365760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Buena práctica internacional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681728" y="164592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56048" y="17830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Los cuatro de las Reglas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956048" y="2194560"/>
            <a:ext cx="3383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Actos u operaciones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 de personas Clientes o Usuarias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Países y áreas geográficas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Transacciones y canales de envío o distribución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956048" y="365760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Obligatorios, con este nombre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48640" y="4169664"/>
            <a:ext cx="8046720" cy="566928"/>
          </a:xfrm>
          <a:prstGeom prst="roundRect">
            <a:avLst>
              <a:gd name="adj" fmla="val 9677"/>
            </a:avLst>
          </a:prstGeom>
          <a:solidFill>
            <a:srgbClr val="12224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4169664"/>
            <a:ext cx="7406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«Producto» y «canal» no aparecen como elementos. Lo que la norma llama transacciones y canales es una sola categoría, no dos.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elemento a indicador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elemento dice dónde mirar. El indicador es lo que de verdad mides.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8046720" cy="731520"/>
          </a:xfrm>
          <a:prstGeom prst="roundRect">
            <a:avLst>
              <a:gd name="adj" fmla="val 7500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00784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1664208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Actos u operaciones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1325880" y="1920240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749040" y="1664208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 · liquidez · anonimato · transferencia de valor · exposición a FT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2377440"/>
            <a:ext cx="8046720" cy="731520"/>
          </a:xfrm>
          <a:prstGeom prst="roundRect">
            <a:avLst>
              <a:gd name="adj" fmla="val 7500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505456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325880" y="2468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 o Usuarias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325880" y="2724912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749040" y="246888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 de persona · antigüedad · giro · nacionalidad · residencia · PEP · listas · Beneficiario Controlador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3182112"/>
            <a:ext cx="8046720" cy="731520"/>
          </a:xfrm>
          <a:prstGeom prst="roundRect">
            <a:avLst>
              <a:gd name="adj" fmla="val 7500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3310128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25880" y="327355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Países y áreas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325880" y="3529584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749040" y="3273552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Jurisdicción de la operación · área nacional · vínculo con jurisdicciones sancionadas · congruencia de domicilio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3986784"/>
            <a:ext cx="8046720" cy="731520"/>
          </a:xfrm>
          <a:prstGeom prst="roundRect">
            <a:avLst>
              <a:gd name="adj" fmla="val 7500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4114800"/>
            <a:ext cx="548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325880" y="407822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Transacciones y canales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325880" y="4334256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749040" y="4078224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Instrumento monetario · moneda · monto frente a umbrales · frecuencia · canal · origen · destino · canales idóneos para FT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8640" y="471830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Veinticinco indicadores en el ejemplo. La norma no fija el número: fija que cada elemento tenga los suyos y que expliquen cómo y en qué medida estás expuesto.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Los indicadores que no puedes quitar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única exigencia de contenido específico que trae el artículo.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8046720" cy="841248"/>
          </a:xfrm>
          <a:prstGeom prst="roundRect">
            <a:avLst>
              <a:gd name="adj" fmla="val 6522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627632"/>
            <a:ext cx="7406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i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«Deberán establecer dentro de su metodología indicadores específicos relacionados con los delitos previstos en los artículos 139 Quáter y 400 Bis del Código Penal Federal, para cada uno de los elementos de Riesgo»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2340864"/>
            <a:ext cx="324612" cy="237744"/>
          </a:xfrm>
          <a:prstGeom prst="roundRect">
            <a:avLst>
              <a:gd name="adj" fmla="val 15385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340864"/>
            <a:ext cx="3246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A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73252" y="2340864"/>
            <a:ext cx="1620317" cy="237744"/>
          </a:xfrm>
          <a:prstGeom prst="roundRect">
            <a:avLst>
              <a:gd name="adj" fmla="val 15385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3252" y="2340864"/>
            <a:ext cx="162031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Septies 1, último párr.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585009" y="2340864"/>
            <a:ext cx="324612" cy="237744"/>
          </a:xfrm>
          <a:prstGeom prst="roundRect">
            <a:avLst>
              <a:gd name="adj" fmla="val 15385"/>
            </a:avLst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85009" y="2340864"/>
            <a:ext cx="3246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CPF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909621" y="2340864"/>
            <a:ext cx="713232" cy="237744"/>
          </a:xfrm>
          <a:prstGeom prst="roundRect">
            <a:avLst>
              <a:gd name="adj" fmla="val 15385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09621" y="2340864"/>
            <a:ext cx="713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139 Quáter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714293" y="2340864"/>
            <a:ext cx="324612" cy="237744"/>
          </a:xfrm>
          <a:prstGeom prst="roundRect">
            <a:avLst>
              <a:gd name="adj" fmla="val 15385"/>
            </a:avLst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14293" y="2340864"/>
            <a:ext cx="3246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CPF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038905" y="2340864"/>
            <a:ext cx="543154" cy="237744"/>
          </a:xfrm>
          <a:prstGeom prst="roundRect">
            <a:avLst>
              <a:gd name="adj" fmla="val 15385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038905" y="2340864"/>
            <a:ext cx="54315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 Bis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48640" y="3017520"/>
            <a:ext cx="3913632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4672" y="312724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3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139 Quáter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04672" y="3419856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Financiamiento al terrorismo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681728" y="3017520"/>
            <a:ext cx="3913632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37760" y="312724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3FA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400 Bis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937760" y="3419856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Operaciones con recursos de procedencia ilícita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4023360"/>
            <a:ext cx="8046720" cy="658368"/>
          </a:xfrm>
          <a:prstGeom prst="roundRect">
            <a:avLst>
              <a:gd name="adj" fmla="val 8333"/>
            </a:avLst>
          </a:prstGeom>
          <a:solidFill>
            <a:srgbClr val="12224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8680" y="402336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Dice «para cada uno de los elementos». Son dos indicadores mínimos por elemento, ocho en total. En la matriz vienen bloqueados: no admiten «No aplica».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doble ponderación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pesos que no son el mismo, y sólo uno tiene que sumar 100 %.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3913632" cy="2103120"/>
          </a:xfrm>
          <a:prstGeom prst="roundRect">
            <a:avLst>
              <a:gd name="adj" fmla="val 2609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5564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Peso del indicador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121408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 sólo dentro de su elemento y se normaliza solo. No tiene que sumar nada en particular: lo que importa es la proporción entre ellos.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301752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Ejemplo: instrumento monetario 0.22 · tipo de moneda 0.05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681728" y="1627632"/>
            <a:ext cx="3913632" cy="2103120"/>
          </a:xfrm>
          <a:prstGeom prst="roundRect">
            <a:avLst>
              <a:gd name="adj" fmla="val 2609"/>
            </a:avLst>
          </a:prstGeom>
          <a:solidFill>
            <a:srgbClr val="12224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56048" y="1755648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Peso del elemento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956048" y="21214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CE4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Éste sí debe sumar 100 % entre los cuatro, y es el que mueve el resultado de toda la entidad.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956048" y="301752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F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Ejemplo: 20 % · 30 % · 15 % · 35 %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3858768"/>
            <a:ext cx="8046720" cy="822960"/>
          </a:xfrm>
          <a:prstGeom prst="roundRect">
            <a:avLst>
              <a:gd name="adj" fmla="val 6667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858768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«Asignar un valor a cada uno de ellos de manera consistente en función de su importancia para describir dichos Riesgos.»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903720" y="3401568"/>
            <a:ext cx="324612" cy="237744"/>
          </a:xfrm>
          <a:prstGeom prst="roundRect">
            <a:avLst>
              <a:gd name="adj" fmla="val 15385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03720" y="3401568"/>
            <a:ext cx="3246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A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228332" y="3401568"/>
            <a:ext cx="1223467" cy="237744"/>
          </a:xfrm>
          <a:prstGeom prst="roundRect">
            <a:avLst>
              <a:gd name="adj" fmla="val 15385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28332" y="3401568"/>
            <a:ext cx="12234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Septies 1 fr. II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22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misma operación, dos veces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42416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Mismos porcentajes. Mismos controles. Lo único que cambió fue el peso de los indicadores.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3913632" cy="2011680"/>
          </a:xfrm>
          <a:prstGeom prst="roundRect">
            <a:avLst>
              <a:gd name="adj" fmla="val 2727"/>
            </a:avLst>
          </a:prstGeom>
          <a:solidFill>
            <a:srgbClr val="1B2E5C"/>
          </a:solidFill>
          <a:ln w="12700">
            <a:solidFill>
              <a:srgbClr val="2C427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71907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9F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PESOS PLANOS  ·  0.04 EN LOS 25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14400" y="2029968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9FB0D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8.39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914400" y="283464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MEDIO BAJO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314553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D8D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reparto que nadie calibró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90288" y="1572768"/>
            <a:ext cx="3913632" cy="2011680"/>
          </a:xfrm>
          <a:prstGeom prst="roundRect">
            <a:avLst>
              <a:gd name="adj" fmla="val 2727"/>
            </a:avLst>
          </a:prstGeom>
          <a:solidFill>
            <a:srgbClr val="1B2E5C"/>
          </a:solidFill>
          <a:ln w="12700">
            <a:solidFill>
              <a:srgbClr val="2C427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64608" y="171907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9F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PESOS CALIBRADOS Y JUSTIFICADOS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64608" y="2029968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9.51</a:t>
            </a:r>
            <a:endParaRPr lang="en-US" sz="5200" dirty="0"/>
          </a:p>
        </p:txBody>
      </p:sp>
      <p:sp>
        <p:nvSpPr>
          <p:cNvPr id="12" name="Text 10"/>
          <p:cNvSpPr/>
          <p:nvPr/>
        </p:nvSpPr>
        <p:spPr>
          <a:xfrm>
            <a:off x="4864608" y="283464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864608" y="314553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D8D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mismo negocio, bien medido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40080" y="3730752"/>
            <a:ext cx="7863840" cy="749808"/>
          </a:xfrm>
          <a:prstGeom prst="roundRect">
            <a:avLst>
              <a:gd name="adj" fmla="val 7317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730752"/>
            <a:ext cx="7315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reparto plano no es neutral: subestimó el riesgo un nivel completo.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60920" y="274320"/>
            <a:ext cx="1234440" cy="274320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60920" y="27432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– 55 min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porcentajes a número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93268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Repartes el 100 % de tu operación entre tres perfiles. De ahí salen dos medidas.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804672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75564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Calificación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41248" y="2084832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× %Alto  +  3 × %Medio  +  1 × %Bajo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703320" y="1773936"/>
            <a:ext cx="4709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tan riesgoso es el perfil de tu operación en ese indicador.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2779776"/>
            <a:ext cx="804672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2889504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Concentración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41248" y="3218688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+ 4 × (%Alto + %Medio)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703320" y="2907792"/>
            <a:ext cx="4709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tanto del negocio está expuesto. Criterio conservador: lo medio cuenta como exposición.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931920"/>
            <a:ext cx="8046720" cy="786384"/>
          </a:xfrm>
          <a:prstGeom prst="roundRect">
            <a:avLst>
              <a:gd name="adj" fmla="val 6977"/>
            </a:avLst>
          </a:prstGeom>
          <a:solidFill>
            <a:srgbClr val="12224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931920"/>
            <a:ext cx="74066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Riesgo inherente  =  Calificación × Concentración        ·        rango de 1 a 25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548640" y="471830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Riesgo inherente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hay antes de que tus controles hagan nada.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536192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45920"/>
            <a:ext cx="1536192" cy="310896"/>
          </a:xfrm>
          <a:prstGeom prst="roundRect">
            <a:avLst>
              <a:gd name="adj" fmla="val 14706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645920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BAJO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2029968"/>
            <a:ext cx="1536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– 5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2157984" y="1645920"/>
            <a:ext cx="1536192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157984" y="1645920"/>
            <a:ext cx="1536192" cy="310896"/>
          </a:xfrm>
          <a:prstGeom prst="roundRect">
            <a:avLst>
              <a:gd name="adj" fmla="val 14706"/>
            </a:avLst>
          </a:prstGeom>
          <a:solidFill>
            <a:srgbClr val="6FA36B"/>
          </a:solidFill>
          <a:ln w="12700">
            <a:solidFill>
              <a:srgbClr val="6FA3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57984" y="1645920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MEDIO BAJO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157984" y="2029968"/>
            <a:ext cx="1536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– 9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3767328" y="1645920"/>
            <a:ext cx="1536192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767328" y="1645920"/>
            <a:ext cx="1536192" cy="310896"/>
          </a:xfrm>
          <a:prstGeom prst="roundRect">
            <a:avLst>
              <a:gd name="adj" fmla="val 14706"/>
            </a:avLst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67328" y="1645920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MEDIO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767328" y="2029968"/>
            <a:ext cx="1536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– 12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5376672" y="1645920"/>
            <a:ext cx="1536192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76672" y="1645920"/>
            <a:ext cx="1536192" cy="310896"/>
          </a:xfrm>
          <a:prstGeom prst="roundRect">
            <a:avLst>
              <a:gd name="adj" fmla="val 14706"/>
            </a:avLst>
          </a:prstGeom>
          <a:solidFill>
            <a:srgbClr val="D98324"/>
          </a:solidFill>
          <a:ln w="12700">
            <a:solidFill>
              <a:srgbClr val="D9832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76672" y="1645920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MEDIO ALTO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376672" y="2029968"/>
            <a:ext cx="1536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 – 16</a:t>
            </a:r>
            <a:endParaRPr lang="en-US" sz="1900" dirty="0"/>
          </a:p>
        </p:txBody>
      </p:sp>
      <p:sp>
        <p:nvSpPr>
          <p:cNvPr id="20" name="Shape 18"/>
          <p:cNvSpPr/>
          <p:nvPr/>
        </p:nvSpPr>
        <p:spPr>
          <a:xfrm>
            <a:off x="6986016" y="1645920"/>
            <a:ext cx="1536192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986016" y="1645920"/>
            <a:ext cx="1536192" cy="310896"/>
          </a:xfrm>
          <a:prstGeom prst="roundRect">
            <a:avLst>
              <a:gd name="adj" fmla="val 14706"/>
            </a:avLst>
          </a:prstGeom>
          <a:solidFill>
            <a:srgbClr val="B23B2E"/>
          </a:solidFill>
          <a:ln w="12700">
            <a:solidFill>
              <a:srgbClr val="B23B2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986016" y="1645920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986016" y="2029968"/>
            <a:ext cx="1536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 – 25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548640" y="299923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lee en tres niveles a la vez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3328416"/>
            <a:ext cx="260604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3438144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indicador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31520" y="3712464"/>
            <a:ext cx="2240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saber por dónde empieza el plan de acción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73552" y="3328416"/>
            <a:ext cx="260604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56432" y="3438144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elemento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456432" y="3712464"/>
            <a:ext cx="2240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saber qué parte del negocio te expone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998464" y="3328416"/>
            <a:ext cx="260604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81344" y="3438144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la entidad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181344" y="3712464"/>
            <a:ext cx="2240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número que va al órgano de administración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8640" y="4498848"/>
            <a:ext cx="324612" cy="237744"/>
          </a:xfrm>
          <a:prstGeom prst="roundRect">
            <a:avLst>
              <a:gd name="adj" fmla="val 15385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4498848"/>
            <a:ext cx="3246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A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873252" y="4498848"/>
            <a:ext cx="1450238" cy="237744"/>
          </a:xfrm>
          <a:prstGeom prst="roundRect">
            <a:avLst>
              <a:gd name="adj" fmla="val 15385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73252" y="4498848"/>
            <a:ext cx="145023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Septies 1 fr. I y II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Los mitigantes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parte del modelo donde casi todas las matrices hacen trampa sin querer.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8046720" cy="896112"/>
          </a:xfrm>
          <a:prstGeom prst="roundRect">
            <a:avLst>
              <a:gd name="adj" fmla="val 6122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600200"/>
            <a:ext cx="74066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i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«Identificar los Mitigantes […] debiendo considerar todas las políticas, criterios, medidas y procedimientos internos previstos en el Manual de Políticas Internas, así como su efectiva aplicación»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324612" cy="237744"/>
          </a:xfrm>
          <a:prstGeom prst="roundRect">
            <a:avLst>
              <a:gd name="adj" fmla="val 15385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606040"/>
            <a:ext cx="3246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A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73252" y="2606040"/>
            <a:ext cx="1280160" cy="237744"/>
          </a:xfrm>
          <a:prstGeom prst="roundRect">
            <a:avLst>
              <a:gd name="adj" fmla="val 15385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3252" y="2606040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Septies 1 fr. III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" y="3035808"/>
            <a:ext cx="3913632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14553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tú eliges el denominador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3438144"/>
            <a:ext cx="33832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 menos controles mejora tu resultado. Es un incentivo perverso, y es lo primero que un auditor detecta.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81728" y="3035808"/>
            <a:ext cx="3913632" cy="1417320"/>
          </a:xfrm>
          <a:prstGeom prst="roundRect">
            <a:avLst>
              <a:gd name="adj" fmla="val 3871"/>
            </a:avLst>
          </a:prstGeom>
          <a:solidFill>
            <a:srgbClr val="12224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56048" y="314553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Denominador fijo: las 14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56048" y="3438144"/>
            <a:ext cx="338328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CE4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norma dice «todas las del Manual». El Art. 37 Bis dice cuáles son. No es catálogo de autor: es la lista que el revisor ya trae.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Las catorce obligaciones del Manual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denominador de tu mitigación. Ni una más, ni una menos.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36192"/>
            <a:ext cx="3913632" cy="384048"/>
          </a:xfrm>
          <a:prstGeom prst="roundRect">
            <a:avLst>
              <a:gd name="adj" fmla="val 14286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536192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· Identificación y conocimiento de Clientes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3913632" cy="384048"/>
          </a:xfrm>
          <a:prstGeom prst="roundRect">
            <a:avLst>
              <a:gd name="adj" fmla="val 14286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1965960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 · Mecanismos de clasificación de Riesgo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395728"/>
            <a:ext cx="3913632" cy="384048"/>
          </a:xfrm>
          <a:prstGeom prst="roundRect">
            <a:avLst>
              <a:gd name="adj" fmla="val 14286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395728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III · Debida diligencia según el Grado de Riesgo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2825496"/>
            <a:ext cx="3913632" cy="384048"/>
          </a:xfrm>
          <a:prstGeom prst="roundRect">
            <a:avLst>
              <a:gd name="adj" fmla="val 14286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2825496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 · Seguimiento reforzado de PEP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48640" y="3255264"/>
            <a:ext cx="3913632" cy="384048"/>
          </a:xfrm>
          <a:prstGeom prst="roundRect">
            <a:avLst>
              <a:gd name="adj" fmla="val 14286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3255264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 · Detección de desvíos del Perfil transaccional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3685032"/>
            <a:ext cx="3913632" cy="384048"/>
          </a:xfrm>
          <a:prstGeom prst="roundRect">
            <a:avLst>
              <a:gd name="adj" fmla="val 14286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3685032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 · Presentación de Avisos e Informes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4114800"/>
            <a:ext cx="3913632" cy="384048"/>
          </a:xfrm>
          <a:prstGeom prst="roundRect">
            <a:avLst>
              <a:gd name="adj" fmla="val 14286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4114800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VII · Conservación de información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81728" y="1536192"/>
            <a:ext cx="3913632" cy="384048"/>
          </a:xfrm>
          <a:prstGeom prst="roundRect">
            <a:avLst>
              <a:gd name="adj" fmla="val 14286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46320" y="1536192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VIII · Seguimiento y acumulación frente a umbrales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81728" y="1965960"/>
            <a:ext cx="3913632" cy="384048"/>
          </a:xfrm>
          <a:prstGeom prst="roundRect">
            <a:avLst>
              <a:gd name="adj" fmla="val 14286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1965960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IX · Identificación en listas de autoridades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681728" y="2395728"/>
            <a:ext cx="3913632" cy="384048"/>
          </a:xfrm>
          <a:prstGeom prst="roundRect">
            <a:avLst>
              <a:gd name="adj" fmla="val 14286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46320" y="2395728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 · Funciones de la Representante Encargada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681728" y="2825496"/>
            <a:ext cx="3913632" cy="384048"/>
          </a:xfrm>
          <a:prstGeom prst="roundRect">
            <a:avLst>
              <a:gd name="adj" fmla="val 14286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46320" y="2825496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XI · Programas de capacitación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681728" y="3255264"/>
            <a:ext cx="3913632" cy="384048"/>
          </a:xfrm>
          <a:prstGeom prst="roundRect">
            <a:avLst>
              <a:gd name="adj" fmla="val 14286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846320" y="3255264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XII · Control interno, supervisión y auditoría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81728" y="3685032"/>
            <a:ext cx="3913632" cy="384048"/>
          </a:xfrm>
          <a:prstGeom prst="roundRect">
            <a:avLst>
              <a:gd name="adj" fmla="val 14286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46320" y="3685032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XIII · Confidencialidad de la información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81728" y="4114800"/>
            <a:ext cx="3913632" cy="384048"/>
          </a:xfrm>
          <a:prstGeom prst="roundRect">
            <a:avLst>
              <a:gd name="adj" fmla="val 14286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46320" y="4114800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XIV · Actualización del propio Manual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48640" y="4590288"/>
            <a:ext cx="8046720" cy="384048"/>
          </a:xfrm>
          <a:prstGeom prst="roundRect">
            <a:avLst>
              <a:gd name="adj" fmla="val 14286"/>
            </a:avLst>
          </a:prstGeom>
          <a:solidFill>
            <a:srgbClr val="12224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68680" y="4572000"/>
            <a:ext cx="7406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Sólo V, VIII y X admiten «No aplica», y de forma condicionada. Las once restantes, no.  ·  RCG 37 Bis y 37 Bis 2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Cómo se mide que un control sirve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la misma escala que va a usar el auditor en su dictamen.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709160" cy="484632"/>
          </a:xfrm>
          <a:prstGeom prst="roundRect">
            <a:avLst>
              <a:gd name="adj" fmla="val 11321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700784"/>
            <a:ext cx="164592" cy="283464"/>
          </a:xfrm>
          <a:prstGeom prst="roundRect">
            <a:avLst>
              <a:gd name="adj" fmla="val 16667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32688" y="1600200"/>
            <a:ext cx="26060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Cumple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566160" y="1600200"/>
            <a:ext cx="15544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100 %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148840"/>
            <a:ext cx="4709160" cy="484632"/>
          </a:xfrm>
          <a:prstGeom prst="roundRect">
            <a:avLst>
              <a:gd name="adj" fmla="val 11321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249424"/>
            <a:ext cx="164592" cy="283464"/>
          </a:xfrm>
          <a:prstGeom prst="roundRect">
            <a:avLst>
              <a:gd name="adj" fmla="val 16667"/>
            </a:avLst>
          </a:prstGeom>
          <a:solidFill>
            <a:srgbClr val="6FA36B"/>
          </a:solidFill>
          <a:ln w="12700">
            <a:solidFill>
              <a:srgbClr val="6FA36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2148840"/>
            <a:ext cx="26060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Cumple mayoritariamente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566160" y="2148840"/>
            <a:ext cx="15544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75 %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97480"/>
            <a:ext cx="4709160" cy="484632"/>
          </a:xfrm>
          <a:prstGeom prst="roundRect">
            <a:avLst>
              <a:gd name="adj" fmla="val 11321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2798064"/>
            <a:ext cx="164592" cy="283464"/>
          </a:xfrm>
          <a:prstGeom prst="roundRect">
            <a:avLst>
              <a:gd name="adj" fmla="val 16667"/>
            </a:avLst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" y="2697480"/>
            <a:ext cx="26060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Cumple parcialmente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566160" y="2697480"/>
            <a:ext cx="15544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40 %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246120"/>
            <a:ext cx="4709160" cy="484632"/>
          </a:xfrm>
          <a:prstGeom prst="roundRect">
            <a:avLst>
              <a:gd name="adj" fmla="val 11321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8368" y="3346704"/>
            <a:ext cx="164592" cy="283464"/>
          </a:xfrm>
          <a:prstGeom prst="roundRect">
            <a:avLst>
              <a:gd name="adj" fmla="val 16667"/>
            </a:avLst>
          </a:prstGeom>
          <a:solidFill>
            <a:srgbClr val="B23B2E"/>
          </a:solidFill>
          <a:ln w="12700">
            <a:solidFill>
              <a:srgbClr val="B23B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" y="3246120"/>
            <a:ext cx="26060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cumple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566160" y="3246120"/>
            <a:ext cx="15544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0 %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794760"/>
            <a:ext cx="4709160" cy="484632"/>
          </a:xfrm>
          <a:prstGeom prst="roundRect">
            <a:avLst>
              <a:gd name="adj" fmla="val 11321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8368" y="3895344"/>
            <a:ext cx="164592" cy="283464"/>
          </a:xfrm>
          <a:prstGeom prst="roundRect">
            <a:avLst>
              <a:gd name="adj" fmla="val 16667"/>
            </a:avLst>
          </a:prstGeom>
          <a:solidFill>
            <a:srgbClr val="8A94A6"/>
          </a:solidFill>
          <a:ln w="12700">
            <a:solidFill>
              <a:srgbClr val="8A94A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2688" y="3794760"/>
            <a:ext cx="26060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aplica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566160" y="3794760"/>
            <a:ext cx="15544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fuera del cálculo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68112" y="1600200"/>
            <a:ext cx="3127248" cy="1298448"/>
          </a:xfrm>
          <a:prstGeom prst="roundRect">
            <a:avLst>
              <a:gd name="adj" fmla="val 4225"/>
            </a:avLst>
          </a:prstGeom>
          <a:solidFill>
            <a:srgbClr val="12224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87568" y="1719072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F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Tope de reducción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687568" y="1975104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50 %</a:t>
            </a:r>
            <a:endParaRPr lang="en-US" sz="3800" dirty="0"/>
          </a:p>
        </p:txBody>
      </p:sp>
      <p:sp>
        <p:nvSpPr>
          <p:cNvPr id="27" name="Text 25"/>
          <p:cNvSpPr/>
          <p:nvPr/>
        </p:nvSpPr>
        <p:spPr>
          <a:xfrm>
            <a:off x="5468112" y="3017520"/>
            <a:ext cx="31272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Aunque cumplas las catorce al cien, el riesgo baja a la mitad. Nunca a cero: el control mitiga, no elimina.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4407408"/>
            <a:ext cx="8046720" cy="566928"/>
          </a:xfrm>
          <a:prstGeom prst="roundRect">
            <a:avLst>
              <a:gd name="adj" fmla="val 9677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68680" y="4407408"/>
            <a:ext cx="7406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numeral del Manual y sin evidencia de aplicación efectiva, la obligación computa cero por bien redactada que esté.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22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7863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Riesgo residual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queda después de tus controles. Es el número que tiene consecuencias.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7863840" cy="731520"/>
          </a:xfrm>
          <a:prstGeom prst="roundRect">
            <a:avLst>
              <a:gd name="adj" fmla="val 7500"/>
            </a:avLst>
          </a:prstGeom>
          <a:solidFill>
            <a:srgbClr val="1B2E5C"/>
          </a:solidFill>
          <a:ln w="12700">
            <a:solidFill>
              <a:srgbClr val="2C427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57276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Riesgo residual  =  Riesgo inherente  ×  ( 1 − Reducción aplicada )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40080" y="24871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cambia según dónde caiga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834640"/>
            <a:ext cx="7863840" cy="566928"/>
          </a:xfrm>
          <a:prstGeom prst="roundRect">
            <a:avLst>
              <a:gd name="adj" fmla="val 8065"/>
            </a:avLst>
          </a:prstGeom>
          <a:solidFill>
            <a:srgbClr val="1B2E5C"/>
          </a:solidFill>
          <a:ln w="12700">
            <a:solidFill>
              <a:srgbClr val="2C427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83464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Régimen de auditoría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200400" y="2834640"/>
            <a:ext cx="4160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E4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Bajo o medio: puede dictaminar auditoría interna. Alto: forzosamente auditor externo independiente.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406640" y="2834640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7D8D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 18 fr. XI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40080" y="3474720"/>
            <a:ext cx="7863840" cy="566928"/>
          </a:xfrm>
          <a:prstGeom prst="roundRect">
            <a:avLst>
              <a:gd name="adj" fmla="val 8065"/>
            </a:avLst>
          </a:prstGeom>
          <a:solidFill>
            <a:srgbClr val="1B2E5C"/>
          </a:solidFill>
          <a:ln w="12700">
            <a:solidFill>
              <a:srgbClr val="2C427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47472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Medidas simplificadas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200400" y="3474720"/>
            <a:ext cx="4160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E4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Sólo con riesgo bajo documentado. Con medio o alto, no proceden.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06640" y="3474720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7D8D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 15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40080" y="4114800"/>
            <a:ext cx="7863840" cy="566928"/>
          </a:xfrm>
          <a:prstGeom prst="roundRect">
            <a:avLst>
              <a:gd name="adj" fmla="val 8065"/>
            </a:avLst>
          </a:prstGeom>
          <a:solidFill>
            <a:srgbClr val="1B2E5C"/>
          </a:solidFill>
          <a:ln w="12700">
            <a:solidFill>
              <a:srgbClr val="2C427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411480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Tolerancia y plan de acción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200400" y="4114800"/>
            <a:ext cx="4160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E4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Fuera del máximo que declaró tu órgano de administración, el plan deja de ser opcional.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406640" y="4114800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7D8D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10 Septies 2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2A5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60920" y="274320"/>
            <a:ext cx="1234440" cy="274320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60920" y="27432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 – 75 min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250" kern="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caso resuelto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7863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cliente,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clasificado y sostenido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321868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44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Hoja B CLIENTE de la matriz. Catorce factores, del primero al último, con el resultado escrito.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3703320"/>
            <a:ext cx="7863840" cy="658368"/>
          </a:xfrm>
          <a:prstGeom prst="roundRect">
            <a:avLst>
              <a:gd name="adj" fmla="val 8333"/>
            </a:avLst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703320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recorre completo. Ustedes lo repiten con su propio cliente durante la semana.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Los factores del cliente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familias, y la norma las nombra por separado.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54480"/>
            <a:ext cx="3913632" cy="475488"/>
          </a:xfrm>
          <a:prstGeom prst="roundRect">
            <a:avLst>
              <a:gd name="adj" fmla="val 11538"/>
            </a:avLst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554480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Inherentes  ·  fracción I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139696"/>
            <a:ext cx="3383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 de persona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 de nacimiento o constitución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Actividad, ocupación o giro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Nacionalidad y residencia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Condición PEP y listas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Beneficiario Controlador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Fuente de ingresos · propósito de la relación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681728" y="1554480"/>
            <a:ext cx="3913632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81728" y="1554480"/>
            <a:ext cx="3913632" cy="475488"/>
          </a:xfrm>
          <a:prstGeom prst="roundRect">
            <a:avLst>
              <a:gd name="adj" fmla="val 11538"/>
            </a:avLst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56048" y="1554480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Transaccionales  ·  fracción II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56048" y="2139696"/>
            <a:ext cx="33832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Producto o servicio contratado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Monto frente al perfil y a los umbrales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Frecuencia · volumen · contrapartes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Instrumento monetario y moneda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Origen y destino de los recursos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Canal de la operación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Geografía de la operación y congruencia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4059936"/>
            <a:ext cx="324612" cy="237744"/>
          </a:xfrm>
          <a:prstGeom prst="roundRect">
            <a:avLst>
              <a:gd name="adj" fmla="val 15385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4059936"/>
            <a:ext cx="3246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A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73252" y="4059936"/>
            <a:ext cx="1223467" cy="237744"/>
          </a:xfrm>
          <a:prstGeom prst="roundRect">
            <a:avLst>
              <a:gd name="adj" fmla="val 15385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3252" y="4059936"/>
            <a:ext cx="122346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Bis 2 fr. I y II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188159" y="4059936"/>
            <a:ext cx="324612" cy="237744"/>
          </a:xfrm>
          <a:prstGeom prst="roundRect">
            <a:avLst>
              <a:gd name="adj" fmla="val 15385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88159" y="4059936"/>
            <a:ext cx="3246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A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512771" y="4059936"/>
            <a:ext cx="486461" cy="237744"/>
          </a:xfrm>
          <a:prstGeom prst="roundRect">
            <a:avLst>
              <a:gd name="adj" fmla="val 15385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2771" y="4059936"/>
            <a:ext cx="48646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Bis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48640" y="4443984"/>
            <a:ext cx="8046720" cy="457200"/>
          </a:xfrm>
          <a:prstGeom prst="roundRect">
            <a:avLst>
              <a:gd name="adj" fmla="val 12000"/>
            </a:avLst>
          </a:prstGeom>
          <a:solidFill>
            <a:srgbClr val="12224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8680" y="4443984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Mínimo tres grados: bajo, medio y alto. La lista de la norma dice «pudiendo incluir» y cierra con «entre otros»: es piso, no techo.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cliente habla el idioma de la matriz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es elegancia: el Art. 23 Bis lo exige con esa palabra.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8046720" cy="676656"/>
          </a:xfrm>
          <a:prstGeom prst="roundRect">
            <a:avLst>
              <a:gd name="adj" fmla="val 8108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554480"/>
            <a:ext cx="7406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«Deberán contar con un modelo de evaluación de Riesgos, que deberá ser coherente con la metodología a que se refiere el Capítulo II Quáter de estas reglas»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322576"/>
            <a:ext cx="324612" cy="237744"/>
          </a:xfrm>
          <a:prstGeom prst="roundRect">
            <a:avLst>
              <a:gd name="adj" fmla="val 15385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2322576"/>
            <a:ext cx="3246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A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73252" y="2322576"/>
            <a:ext cx="486461" cy="237744"/>
          </a:xfrm>
          <a:prstGeom prst="roundRect">
            <a:avLst>
              <a:gd name="adj" fmla="val 15385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3252" y="2322576"/>
            <a:ext cx="48646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Bis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451153" y="2322576"/>
            <a:ext cx="324612" cy="237744"/>
          </a:xfrm>
          <a:prstGeom prst="roundRect">
            <a:avLst>
              <a:gd name="adj" fmla="val 15385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451153" y="2322576"/>
            <a:ext cx="3246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A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775765" y="2322576"/>
            <a:ext cx="599846" cy="237744"/>
          </a:xfrm>
          <a:prstGeom prst="roundRect">
            <a:avLst>
              <a:gd name="adj" fmla="val 15385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775765" y="2322576"/>
            <a:ext cx="5998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Bis 2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48640" y="2743200"/>
            <a:ext cx="1929384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4944" y="2834640"/>
            <a:ext cx="1636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misma escala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94944" y="3328416"/>
            <a:ext cx="16367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 5 · Medio 3 · Bajo 1, la calificación de A1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587752" y="2743200"/>
            <a:ext cx="1929384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34056" y="2834640"/>
            <a:ext cx="1636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mismo criterio de peso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734056" y="3328416"/>
            <a:ext cx="16367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Asignado «en función de su importancia», nunca plano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626864" y="2743200"/>
            <a:ext cx="1929384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73168" y="2834640"/>
            <a:ext cx="1636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Agrupado como la norma lo nombra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773168" y="3328416"/>
            <a:ext cx="16367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Características inherentes y transaccionales, no los cuatro elementos: ésos son de la entidad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665976" y="2743200"/>
            <a:ext cx="1929384" cy="1389888"/>
          </a:xfrm>
          <a:prstGeom prst="roundRect">
            <a:avLst>
              <a:gd name="adj" fmla="val 3947"/>
            </a:avLst>
          </a:prstGeom>
          <a:solidFill>
            <a:srgbClr val="12224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12280" y="2834640"/>
            <a:ext cx="1636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único que cambia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812280" y="3328416"/>
            <a:ext cx="16367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DCE4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hay concentración: un cliente no se reparte en porcentajes. Corre de 1 a 5, no de 1 a 25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48640" y="4279392"/>
            <a:ext cx="8046720" cy="512064"/>
          </a:xfrm>
          <a:prstGeom prst="roundRect">
            <a:avLst>
              <a:gd name="adj" fmla="val 10714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8680" y="4279392"/>
            <a:ext cx="7406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cada factor dice de qué anexo sale. Si un factor no tiene dato en el expediente, no es factor: es una corazonada.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Cuándo el grado alto no se discute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supuestos en que el modelo no decide: lo decide la norma.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804672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944" y="1901952"/>
            <a:ext cx="182880" cy="457200"/>
          </a:xfrm>
          <a:prstGeom prst="roundRect">
            <a:avLst>
              <a:gd name="adj" fmla="val 15000"/>
            </a:avLst>
          </a:prstGeom>
          <a:solidFill>
            <a:srgbClr val="B23B2E"/>
          </a:solidFill>
          <a:ln w="12700">
            <a:solidFill>
              <a:srgbClr val="B23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4128" y="1737360"/>
            <a:ext cx="7360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Personas Políticamente Expuestas extranjeras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1024128" y="2249424"/>
            <a:ext cx="7360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importar lo que arroje tu puntaje ponderado.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761488"/>
            <a:ext cx="8046720" cy="1005840"/>
          </a:xfrm>
          <a:prstGeom prst="roundRect">
            <a:avLst>
              <a:gd name="adj" fmla="val 5455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94944" y="3035808"/>
            <a:ext cx="182880" cy="457200"/>
          </a:xfrm>
          <a:prstGeom prst="roundRect">
            <a:avLst>
              <a:gd name="adj" fmla="val 15000"/>
            </a:avLst>
          </a:prstGeom>
          <a:solidFill>
            <a:srgbClr val="B23B2E"/>
          </a:solidFill>
          <a:ln w="12700">
            <a:solidFill>
              <a:srgbClr val="B23B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2871216"/>
            <a:ext cx="7360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residentes en México vinculados o con efectos en jurisdicciones de régimen fiscal preferente, o señaladas por deficiencias en materia de prevención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024128" y="3383280"/>
            <a:ext cx="7360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UIF publica la lista en el Portal en Internet.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3913632"/>
            <a:ext cx="8046720" cy="731520"/>
          </a:xfrm>
          <a:prstGeom prst="roundRect">
            <a:avLst>
              <a:gd name="adj" fmla="val 7500"/>
            </a:avLst>
          </a:prstGeom>
          <a:solidFill>
            <a:srgbClr val="12224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913632"/>
            <a:ext cx="7406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estos casos hay que recabar además las razones por las que celebraron el acto u operación en territorio mexicano.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4736592"/>
            <a:ext cx="324612" cy="237744"/>
          </a:xfrm>
          <a:prstGeom prst="roundRect">
            <a:avLst>
              <a:gd name="adj" fmla="val 15385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4736592"/>
            <a:ext cx="3246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A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73252" y="4736592"/>
            <a:ext cx="599846" cy="237744"/>
          </a:xfrm>
          <a:prstGeom prst="roundRect">
            <a:avLst>
              <a:gd name="adj" fmla="val 15385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73252" y="4736592"/>
            <a:ext cx="5998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Bis 4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60920" y="274320"/>
            <a:ext cx="1234440" cy="274320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60920" y="27432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 – 90 min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 grado sale el expediente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93268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Debida diligencia reforzada: tres artículos escalonados, no una lista suelta.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627632"/>
            <a:ext cx="8046720" cy="932688"/>
          </a:xfrm>
          <a:prstGeom prst="roundRect">
            <a:avLst>
              <a:gd name="adj" fmla="val 5882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4944" y="1828800"/>
            <a:ext cx="1188720" cy="530352"/>
          </a:xfrm>
          <a:prstGeom prst="roundRect">
            <a:avLst>
              <a:gd name="adj" fmla="val 8621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4944" y="1828800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 Ter 3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048256" y="1719072"/>
            <a:ext cx="6355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Mayor información de la actividad preponderante, monitoreo más estricto y cuestionario sobre origen y destino de los recursos. Puede ser remoto, con Firma Electrónica.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670048"/>
            <a:ext cx="8046720" cy="932688"/>
          </a:xfrm>
          <a:prstGeom prst="roundRect">
            <a:avLst>
              <a:gd name="adj" fmla="val 5882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4944" y="2871216"/>
            <a:ext cx="1188720" cy="530352"/>
          </a:xfrm>
          <a:prstGeom prst="roundRect">
            <a:avLst>
              <a:gd name="adj" fmla="val 8621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4944" y="2871216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 Ter 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048256" y="2761488"/>
            <a:ext cx="6355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física: cónyuge, dependientes económicos y vínculos patrimoniales. Persona moral: accionistas o socios, verificados en los registros de la Secretaría de Economía.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712464"/>
            <a:ext cx="8046720" cy="932688"/>
          </a:xfrm>
          <a:prstGeom prst="roundRect">
            <a:avLst>
              <a:gd name="adj" fmla="val 5882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3913632"/>
            <a:ext cx="1188720" cy="530352"/>
          </a:xfrm>
          <a:prstGeom prst="roundRect">
            <a:avLst>
              <a:gd name="adj" fmla="val 8621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4944" y="3913632"/>
            <a:ext cx="1188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23 Ter 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048256" y="3803904"/>
            <a:ext cx="6355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 con grado alto: aprobación previa de un directivo. Si quien realiza la actividad es persona física, se subsana con constancia motivada.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4572000"/>
            <a:ext cx="8046720" cy="384048"/>
          </a:xfrm>
          <a:prstGeom prst="roundRect">
            <a:avLst>
              <a:gd name="adj" fmla="val 14286"/>
            </a:avLst>
          </a:prstGeom>
          <a:solidFill>
            <a:srgbClr val="12224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4572000"/>
            <a:ext cx="7406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el grado se reevalúa al menos cada seis meses, con mayor frecuencia mientras más alto sea  ·  RCG 23 Bis 1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Medidas simplificadas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condiciones distintas, y hacen falta las dos.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373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decide el expediente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22960" y="202996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grado del CLIENTE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2487168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Bajo, medio o alto. De ahí sale el régimen de debida diligencia que le toca a esa persona.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81728" y="1600200"/>
            <a:ext cx="3913632" cy="1920240"/>
          </a:xfrm>
          <a:prstGeom prst="roundRect">
            <a:avLst>
              <a:gd name="adj" fmla="val 2857"/>
            </a:avLst>
          </a:prstGeom>
          <a:solidFill>
            <a:srgbClr val="12224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56048" y="173736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" kern="0" dirty="0">
                <a:solidFill>
                  <a:srgbClr val="9F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decide las simplificadas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956048" y="2029968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A5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riesgo de la ENTIDAD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956048" y="2487168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CE4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Sólo si tu evaluación de entidad quedó en bajo puedes cumplir la identificación con medidas simplificadas.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675888"/>
            <a:ext cx="8046720" cy="841248"/>
          </a:xfrm>
          <a:prstGeom prst="roundRect">
            <a:avLst>
              <a:gd name="adj" fmla="val 6522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675888"/>
            <a:ext cx="7406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i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«Podrán dar cumplimiento a la obligación de identificación […] a través de medidas simplificadas cuando quienes las realicen sean consideradas de bajo riesgo»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4626864"/>
            <a:ext cx="169164" cy="237744"/>
          </a:xfrm>
          <a:prstGeom prst="roundRect">
            <a:avLst>
              <a:gd name="adj" fmla="val 21622"/>
            </a:avLst>
          </a:prstGeom>
          <a:solidFill>
            <a:srgbClr val="1E7A4C"/>
          </a:solidFill>
          <a:ln w="12700">
            <a:solidFill>
              <a:srgbClr val="1E7A4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4626864"/>
            <a:ext cx="1691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17804" y="4626864"/>
            <a:ext cx="259690" cy="237744"/>
          </a:xfrm>
          <a:prstGeom prst="roundRect">
            <a:avLst>
              <a:gd name="adj" fmla="val 15385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7804" y="4626864"/>
            <a:ext cx="2596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068934" y="4626864"/>
            <a:ext cx="169164" cy="237744"/>
          </a:xfrm>
          <a:prstGeom prst="roundRect">
            <a:avLst>
              <a:gd name="adj" fmla="val 21622"/>
            </a:avLst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8934" y="4626864"/>
            <a:ext cx="1691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238098" y="4626864"/>
            <a:ext cx="599846" cy="237744"/>
          </a:xfrm>
          <a:prstGeom prst="roundRect">
            <a:avLst>
              <a:gd name="adj" fmla="val 15385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38098" y="4626864"/>
            <a:ext cx="5998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fr. I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929384" y="4626864"/>
            <a:ext cx="324612" cy="237744"/>
          </a:xfrm>
          <a:prstGeom prst="roundRect">
            <a:avLst>
              <a:gd name="adj" fmla="val 15385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929384" y="4626864"/>
            <a:ext cx="3246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A2A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2253996" y="4626864"/>
            <a:ext cx="486461" cy="237744"/>
          </a:xfrm>
          <a:prstGeom prst="roundRect">
            <a:avLst>
              <a:gd name="adj" fmla="val 15385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253996" y="4626864"/>
            <a:ext cx="48646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Ter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 esto no se queda en papel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mecanismo automatizado tiene que ejecutar el modelo, no sólo guardarlo.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8046720" cy="841248"/>
          </a:xfrm>
          <a:prstGeom prst="roundRect">
            <a:avLst>
              <a:gd name="adj" fmla="val 6522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944" y="1792224"/>
            <a:ext cx="841248" cy="457200"/>
          </a:xfrm>
          <a:prstGeom prst="roundRect">
            <a:avLst>
              <a:gd name="adj" fmla="val 10000"/>
            </a:avLst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1801368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fr. III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700784" y="1673352"/>
            <a:ext cx="6675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Proveer la información que se incluirá en la metodología del Capítulo II Quáter.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2532888"/>
            <a:ext cx="8046720" cy="841248"/>
          </a:xfrm>
          <a:prstGeom prst="roundRect">
            <a:avLst>
              <a:gd name="adj" fmla="val 6522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94944" y="2724912"/>
            <a:ext cx="841248" cy="457200"/>
          </a:xfrm>
          <a:prstGeom prst="roundRect">
            <a:avLst>
              <a:gd name="adj" fmla="val 10000"/>
            </a:avLst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4944" y="2734056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fr. IV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700784" y="2606040"/>
            <a:ext cx="6675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Ejecutar el modelo de grado de riesgo, conservando el histórico de cambios de grado y de perfil transaccional por al menos diez años.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3465576"/>
            <a:ext cx="8046720" cy="841248"/>
          </a:xfrm>
          <a:prstGeom prst="roundRect">
            <a:avLst>
              <a:gd name="adj" fmla="val 6522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94944" y="3657600"/>
            <a:ext cx="841248" cy="457200"/>
          </a:xfrm>
          <a:prstGeom prst="roundRect">
            <a:avLst>
              <a:gd name="adj" fmla="val 10000"/>
            </a:avLst>
          </a:prstGeom>
          <a:solidFill>
            <a:srgbClr val="1E5AA8"/>
          </a:solidFill>
          <a:ln w="12700">
            <a:solidFill>
              <a:srgbClr val="1E5A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4944" y="3666744"/>
            <a:ext cx="841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fr. V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700784" y="3538728"/>
            <a:ext cx="6675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Ejecutar un sistema de alertas para clientes de grado alto, PEP, personas en listas y jurisdicciones señaladas.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4480560"/>
            <a:ext cx="8046720" cy="512064"/>
          </a:xfrm>
          <a:prstGeom prst="roundRect">
            <a:avLst>
              <a:gd name="adj" fmla="val 10714"/>
            </a:avLst>
          </a:prstGeom>
          <a:solidFill>
            <a:srgbClr val="12224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4480560"/>
            <a:ext cx="7406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evaluación no puede tener inconsistencias con lo que arroja este mecanismo.  ·  RCG 41  ·  L 18 fr. X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documento que enseñas a la autoridad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Tener el número no es cumplir. Cumplir es poder mostrar cómo llegaste a él.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8046720" cy="914400"/>
          </a:xfrm>
          <a:prstGeom prst="roundRect">
            <a:avLst>
              <a:gd name="adj" fmla="val 6000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169164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diseño de la metodología va dentro del Manual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41248" y="1965960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Junto con los criterios de apertura, limitación o terminación de relaciones comerciales, que deben ser congruentes con ella.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537960" y="2039112"/>
            <a:ext cx="324612" cy="219456"/>
          </a:xfrm>
          <a:prstGeom prst="roundRect">
            <a:avLst>
              <a:gd name="adj" fmla="val 16667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2039112"/>
            <a:ext cx="324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2A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862572" y="2039112"/>
            <a:ext cx="1053389" cy="219456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62572" y="2039112"/>
            <a:ext cx="105338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37, último párr.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48640" y="2624328"/>
            <a:ext cx="8046720" cy="914400"/>
          </a:xfrm>
          <a:prstGeom prst="roundRect">
            <a:avLst>
              <a:gd name="adj" fmla="val 6000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271576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revisiones y actualizaciones constan por escrito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41248" y="2990088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están a disposición del SAT cuando lo requiera.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537960" y="3063240"/>
            <a:ext cx="324612" cy="219456"/>
          </a:xfrm>
          <a:prstGeom prst="roundRect">
            <a:avLst>
              <a:gd name="adj" fmla="val 16667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37960" y="3063240"/>
            <a:ext cx="324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2A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6862572" y="3063240"/>
            <a:ext cx="826618" cy="219456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2572" y="3063240"/>
            <a:ext cx="8266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Septies 3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548640" y="3648456"/>
            <a:ext cx="8046720" cy="914400"/>
          </a:xfrm>
          <a:prstGeom prst="roundRect">
            <a:avLst>
              <a:gd name="adj" fmla="val 6000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1248" y="3739896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se conserva al menos diez años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41248" y="4014216"/>
            <a:ext cx="5532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se entrega al SAT o a la UIF cuando lo pidan.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537960" y="4087368"/>
            <a:ext cx="324612" cy="219456"/>
          </a:xfrm>
          <a:prstGeom prst="roundRect">
            <a:avLst>
              <a:gd name="adj" fmla="val 16667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37960" y="4087368"/>
            <a:ext cx="324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A2A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862572" y="4087368"/>
            <a:ext cx="1506931" cy="219456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62572" y="4087368"/>
            <a:ext cx="150693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Septies 3, últ. párr.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48640" y="4617720"/>
            <a:ext cx="8046720" cy="384048"/>
          </a:xfrm>
          <a:prstGeom prst="roundRect">
            <a:avLst>
              <a:gd name="adj" fmla="val 14286"/>
            </a:avLst>
          </a:prstGeom>
          <a:solidFill>
            <a:srgbClr val="12224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68680" y="4617720"/>
            <a:ext cx="7406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paquete mínimo ante un requerimiento está en la sección 19 de tu guía de uso.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60920" y="274320"/>
            <a:ext cx="1234440" cy="274320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60920" y="27432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 – 110 min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recorrido: la matriz hoja por hoja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93268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Quince pestañas con el caso resuelto. El orden de las pestañas no es el orden de trabajo.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627632"/>
            <a:ext cx="3913632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700784"/>
            <a:ext cx="402336" cy="292608"/>
          </a:xfrm>
          <a:prstGeom prst="roundRect">
            <a:avLst>
              <a:gd name="adj" fmla="val 12500"/>
            </a:avLst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700784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15568" y="1627632"/>
            <a:ext cx="1335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PARÁMETROS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468880" y="1627632"/>
            <a:ext cx="1901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UMA, tolerancia y tope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48640" y="2112264"/>
            <a:ext cx="3913632" cy="438912"/>
          </a:xfrm>
          <a:prstGeom prst="roundRect">
            <a:avLst>
              <a:gd name="adj" fmla="val 12500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185416"/>
            <a:ext cx="402336" cy="292608"/>
          </a:xfrm>
          <a:prstGeom prst="roundRect">
            <a:avLst>
              <a:gd name="adj" fmla="val 12500"/>
            </a:avLst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185416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15568" y="2112264"/>
            <a:ext cx="1335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INICIO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468880" y="2112264"/>
            <a:ext cx="1901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Actividad y las tres cifras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48640" y="2596896"/>
            <a:ext cx="3913632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2670048"/>
            <a:ext cx="402336" cy="292608"/>
          </a:xfrm>
          <a:prstGeom prst="roundRect">
            <a:avLst>
              <a:gd name="adj" fmla="val 12500"/>
            </a:avLst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670048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15568" y="2596896"/>
            <a:ext cx="1335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A9 §1 y §2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468880" y="2596896"/>
            <a:ext cx="1901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ENR y la conciliación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48640" y="3081528"/>
            <a:ext cx="3913632" cy="438912"/>
          </a:xfrm>
          <a:prstGeom prst="roundRect">
            <a:avLst>
              <a:gd name="adj" fmla="val 12500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154680"/>
            <a:ext cx="402336" cy="292608"/>
          </a:xfrm>
          <a:prstGeom prst="roundRect">
            <a:avLst>
              <a:gd name="adj" fmla="val 12500"/>
            </a:avLst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3154680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15568" y="3081528"/>
            <a:ext cx="1335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468880" y="3081528"/>
            <a:ext cx="1901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25 indicadores y los pesos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548640" y="3566160"/>
            <a:ext cx="3913632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" y="3639312"/>
            <a:ext cx="402336" cy="292608"/>
          </a:xfrm>
          <a:prstGeom prst="roundRect">
            <a:avLst>
              <a:gd name="adj" fmla="val 12500"/>
            </a:avLst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3639312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15568" y="3566160"/>
            <a:ext cx="1335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2468880" y="3566160"/>
            <a:ext cx="1901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pasaría si se materializa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48640" y="4050792"/>
            <a:ext cx="3913632" cy="438912"/>
          </a:xfrm>
          <a:prstGeom prst="roundRect">
            <a:avLst>
              <a:gd name="adj" fmla="val 12500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0080" y="4123944"/>
            <a:ext cx="402336" cy="292608"/>
          </a:xfrm>
          <a:prstGeom prst="roundRect">
            <a:avLst>
              <a:gd name="adj" fmla="val 12500"/>
            </a:avLst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4123944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15568" y="4050792"/>
            <a:ext cx="1335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2468880" y="4050792"/>
            <a:ext cx="1901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riesgo antes de controles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4681728" y="1627632"/>
            <a:ext cx="3913632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73168" y="1700784"/>
            <a:ext cx="402336" cy="292608"/>
          </a:xfrm>
          <a:prstGeom prst="roundRect">
            <a:avLst>
              <a:gd name="adj" fmla="val 12500"/>
            </a:avLst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73168" y="1700784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248656" y="1627632"/>
            <a:ext cx="1335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A4 y A4 BIS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601968" y="1627632"/>
            <a:ext cx="1901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catorce obligaciones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681728" y="2112264"/>
            <a:ext cx="3913632" cy="438912"/>
          </a:xfrm>
          <a:prstGeom prst="roundRect">
            <a:avLst>
              <a:gd name="adj" fmla="val 12500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73168" y="2185416"/>
            <a:ext cx="402336" cy="292608"/>
          </a:xfrm>
          <a:prstGeom prst="roundRect">
            <a:avLst>
              <a:gd name="adj" fmla="val 12500"/>
            </a:avLst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773168" y="2185416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248656" y="2112264"/>
            <a:ext cx="1335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A5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601968" y="2112264"/>
            <a:ext cx="1901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queda después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4681728" y="2596896"/>
            <a:ext cx="3913632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773168" y="2670048"/>
            <a:ext cx="402336" cy="292608"/>
          </a:xfrm>
          <a:prstGeom prst="roundRect">
            <a:avLst>
              <a:gd name="adj" fmla="val 12500"/>
            </a:avLst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773168" y="2670048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248656" y="2596896"/>
            <a:ext cx="1335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A6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6601968" y="2596896"/>
            <a:ext cx="1901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resumen ejecutivo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681728" y="3081528"/>
            <a:ext cx="3913632" cy="438912"/>
          </a:xfrm>
          <a:prstGeom prst="roundRect">
            <a:avLst>
              <a:gd name="adj" fmla="val 12500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773168" y="3154680"/>
            <a:ext cx="402336" cy="292608"/>
          </a:xfrm>
          <a:prstGeom prst="roundRect">
            <a:avLst>
              <a:gd name="adj" fmla="val 12500"/>
            </a:avLst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773168" y="3154680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5248656" y="3081528"/>
            <a:ext cx="1335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A8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6601968" y="3081528"/>
            <a:ext cx="1901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Veredicto y plan de acción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4681728" y="3566160"/>
            <a:ext cx="3913632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773168" y="3639312"/>
            <a:ext cx="402336" cy="292608"/>
          </a:xfrm>
          <a:prstGeom prst="roundRect">
            <a:avLst>
              <a:gd name="adj" fmla="val 12500"/>
            </a:avLst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773168" y="3639312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5248656" y="3566160"/>
            <a:ext cx="1335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A9 §3 a §7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6601968" y="3566160"/>
            <a:ext cx="1901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Aprobación y conservación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4681728" y="4050792"/>
            <a:ext cx="3913632" cy="438912"/>
          </a:xfrm>
          <a:prstGeom prst="roundRect">
            <a:avLst>
              <a:gd name="adj" fmla="val 12500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773168" y="4123944"/>
            <a:ext cx="402336" cy="292608"/>
          </a:xfrm>
          <a:prstGeom prst="roundRect">
            <a:avLst>
              <a:gd name="adj" fmla="val 12500"/>
            </a:avLst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773168" y="4123944"/>
            <a:ext cx="402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5248656" y="4050792"/>
            <a:ext cx="13350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A7 y B CLIENTE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6601968" y="4050792"/>
            <a:ext cx="1901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Fuera de secuencia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548640" y="4590288"/>
            <a:ext cx="8046720" cy="384048"/>
          </a:xfrm>
          <a:prstGeom prst="roundRect">
            <a:avLst>
              <a:gd name="adj" fmla="val 14286"/>
            </a:avLst>
          </a:prstGeom>
          <a:solidFill>
            <a:srgbClr val="12224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868680" y="4590288"/>
            <a:ext cx="7406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hoja tiene su ficha: qué se hace, qué no, cómo sabes que terminaste y qué trae el ejemplo.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22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30352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caso real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77824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modelo que no puede reprobar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F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modelo de grado de riesgo de cliente que circula en el mercado. Once factores, promediados sin ponderar.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640080" y="1847088"/>
            <a:ext cx="7863840" cy="786384"/>
          </a:xfrm>
          <a:prstGeom prst="roundRect">
            <a:avLst>
              <a:gd name="adj" fmla="val 6977"/>
            </a:avLst>
          </a:prstGeom>
          <a:solidFill>
            <a:srgbClr val="1B2E5C"/>
          </a:solidFill>
          <a:ln w="12700">
            <a:solidFill>
              <a:srgbClr val="2C427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93852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4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cliente del ejemplo es un abogado, calificado MUY ALTO en actividad económica.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224942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el resultado final del cliente sale MEDIO BAJO.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724912"/>
            <a:ext cx="7863840" cy="786384"/>
          </a:xfrm>
          <a:prstGeom prst="roundRect">
            <a:avLst>
              <a:gd name="adj" fmla="val 6977"/>
            </a:avLst>
          </a:prstGeom>
          <a:solidFill>
            <a:srgbClr val="1B2E5C"/>
          </a:solidFill>
          <a:ln w="12700">
            <a:solidFill>
              <a:srgbClr val="2C427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81635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4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Once factores promediados sin ponderar, con escalas mezcladas de 1 a 3 y de 1 a 5.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3127248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factor en 5 se diluye entre diez que topan en 3.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3602736"/>
            <a:ext cx="7863840" cy="786384"/>
          </a:xfrm>
          <a:prstGeom prst="roundRect">
            <a:avLst>
              <a:gd name="adj" fmla="val 6977"/>
            </a:avLst>
          </a:prstGeom>
          <a:solidFill>
            <a:srgbClr val="1B2E5C"/>
          </a:solidFill>
          <a:ln w="12700">
            <a:solidFill>
              <a:srgbClr val="2C427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69417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4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peor cliente imaginable, con todo al máximo, da 3.27.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14400" y="400507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Ese modelo no puede producir ALTO ni MUY ALTO para nadie.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4498848"/>
            <a:ext cx="7863840" cy="512064"/>
          </a:xfrm>
          <a:prstGeom prst="roundRect">
            <a:avLst>
              <a:gd name="adj" fmla="val 10714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498848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modelo que estructuralmente no alcanza el grado alto no cumple el Art. 23 Bis, y hace imposible el Art. 23 Bis 4.</a:t>
            </a:r>
            <a:endParaRPr lang="en-US" sz="11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60920" y="274320"/>
            <a:ext cx="1234440" cy="274320"/>
          </a:xfrm>
          <a:prstGeom prst="roundRect">
            <a:avLst>
              <a:gd name="adj" fmla="val 16667"/>
            </a:avLst>
          </a:prstGeom>
          <a:solidFill>
            <a:srgbClr val="F7F8FA"/>
          </a:solidFill>
          <a:ln w="12700">
            <a:solidFill>
              <a:srgbClr val="DDE1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60920" y="27432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110 – 120 min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Los tres errores que tiran una matriz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932688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Ninguno es de cálculo. Los tres son de sustento.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8046720" cy="960120"/>
          </a:xfrm>
          <a:prstGeom prst="roundRect">
            <a:avLst>
              <a:gd name="adj" fmla="val 5714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4944" y="1819656"/>
            <a:ext cx="1417320" cy="512064"/>
          </a:xfrm>
          <a:prstGeom prst="roundRect">
            <a:avLst>
              <a:gd name="adj" fmla="val 8929"/>
            </a:avLst>
          </a:prstGeom>
          <a:solidFill>
            <a:srgbClr val="B23B2E"/>
          </a:solidFill>
          <a:ln w="12700">
            <a:solidFill>
              <a:srgbClr val="B23B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4944" y="1819656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Copiada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267712" y="1691640"/>
            <a:ext cx="6172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matriz de plantilla describe un negocio que no es el tuyo. Se detecta en un minuto: los porcentajes no corresponden a las cifras de doce meses que tú mismo declaraste.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2670048"/>
            <a:ext cx="8046720" cy="960120"/>
          </a:xfrm>
          <a:prstGeom prst="roundRect">
            <a:avLst>
              <a:gd name="adj" fmla="val 5714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4944" y="2889504"/>
            <a:ext cx="1417320" cy="512064"/>
          </a:xfrm>
          <a:prstGeom prst="roundRect">
            <a:avLst>
              <a:gd name="adj" fmla="val 8929"/>
            </a:avLst>
          </a:prstGeom>
          <a:solidFill>
            <a:srgbClr val="B23B2E"/>
          </a:solidFill>
          <a:ln w="12700">
            <a:solidFill>
              <a:srgbClr val="B23B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4944" y="2889504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Sin evidencia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267712" y="2761488"/>
            <a:ext cx="6172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control descrito en el Manual pero sin bitácora, acuse o registro que pruebe que opera, computa cero. Diseñado, implementado y operando son tres estados distintos.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739896"/>
            <a:ext cx="8046720" cy="960120"/>
          </a:xfrm>
          <a:prstGeom prst="roundRect">
            <a:avLst>
              <a:gd name="adj" fmla="val 5714"/>
            </a:avLst>
          </a:prstGeom>
          <a:solidFill>
            <a:srgbClr val="F7F8F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" y="3959352"/>
            <a:ext cx="1417320" cy="512064"/>
          </a:xfrm>
          <a:prstGeom prst="roundRect">
            <a:avLst>
              <a:gd name="adj" fmla="val 8929"/>
            </a:avLst>
          </a:prstGeom>
          <a:solidFill>
            <a:srgbClr val="B23B2E"/>
          </a:solidFill>
          <a:ln w="12700">
            <a:solidFill>
              <a:srgbClr val="B23B2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94944" y="3959352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Sin actualizar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267712" y="3831336"/>
            <a:ext cx="6172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4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evaluación vence a los doce meses, y antes si se actualiza la Evaluación Nacional de Riesgos. Una matriz vencida no es prueba de cumplimiento: es prueba de lo contrario.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4590288"/>
            <a:ext cx="8046720" cy="384048"/>
          </a:xfrm>
          <a:prstGeom prst="roundRect">
            <a:avLst>
              <a:gd name="adj" fmla="val 14286"/>
            </a:avLst>
          </a:prstGeom>
          <a:solidFill>
            <a:srgbClr val="12224A"/>
          </a:solidFill>
          <a:ln w="12700">
            <a:solidFill>
              <a:srgbClr val="E4E8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4590288"/>
            <a:ext cx="7406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diez errores completos están en la sección 18 de tu guía de uso.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22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21792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 la próxima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11556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revisa al abrir S03.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7863840" cy="841248"/>
          </a:xfrm>
          <a:prstGeom prst="roundRect">
            <a:avLst>
              <a:gd name="adj" fmla="val 6522"/>
            </a:avLst>
          </a:prstGeom>
          <a:solidFill>
            <a:srgbClr val="1B2E5C"/>
          </a:solidFill>
          <a:ln w="12700">
            <a:solidFill>
              <a:srgbClr val="2C427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8249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Clasifica dos clientes tuyos en B CLIENTE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1956816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4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Uno que creas de riesgo bajo y uno que creas de riesgo alto. Comprueba si el modelo te da la razón.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40080" y="2523744"/>
            <a:ext cx="7863840" cy="841248"/>
          </a:xfrm>
          <a:prstGeom prst="roundRect">
            <a:avLst>
              <a:gd name="adj" fmla="val 6522"/>
            </a:avLst>
          </a:prstGeom>
          <a:solidFill>
            <a:srgbClr val="1B2E5C"/>
          </a:solidFill>
          <a:ln w="12700">
            <a:solidFill>
              <a:srgbClr val="2C427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633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recorrido de A1 a A9 con tus datos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290779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4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llenar todavía: identifica qué información te falta y de dónde la vas a sacar. Ésa es la lista de trabajo real.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" y="3474720"/>
            <a:ext cx="7863840" cy="841248"/>
          </a:xfrm>
          <a:prstGeom prst="roundRect">
            <a:avLst>
              <a:gd name="adj" fmla="val 6522"/>
            </a:avLst>
          </a:prstGeom>
          <a:solidFill>
            <a:srgbClr val="1B2E5C"/>
          </a:solidFill>
          <a:ln w="12700">
            <a:solidFill>
              <a:srgbClr val="2C427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5844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apartado de metodología de tu Manual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14400" y="38587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4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cuartilla. Qué elementos usas, cómo ponderas y cada cuándo revisas.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40080" y="4498848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S03 · martes 1 de septiembre  ·  Avisos, umbrales y acumulación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4773168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D8D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Formación continua. Este taller no otorga certificación alguna.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Antilavado 360 · S02 · Metodología de riesgos y grado de riesgo</dc:title>
  <dc:subject>PptxGenJS Presentation</dc:subject>
  <dc:creator>360Educa</dc:creator>
  <cp:lastModifiedBy>360Educa</cp:lastModifiedBy>
  <cp:revision>1</cp:revision>
  <dcterms:created xsi:type="dcterms:W3CDTF">2026-09-01T14:58:29Z</dcterms:created>
  <dcterms:modified xsi:type="dcterms:W3CDTF">2026-09-01T14:58:29Z</dcterms:modified>
</cp:coreProperties>
</file>