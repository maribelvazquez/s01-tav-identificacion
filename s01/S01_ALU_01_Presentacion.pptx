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1 · TALLER ANTILAVADO 360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5727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Identificación del cliente y expediente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único del núcleo del cliente que se vuelve exigible en 104 días.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 18 de agosto de 2026 · 16:00 a 18:00 h (CDMX) · Zoom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Maribel Vázquez · GMC360  |  ASONOC  |  360Educa  |  LEXQUO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PRIMERO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calendario definitivo del taller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07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207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 ago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12848" y="1207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del cliente y expediente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55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1755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25 ago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1755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 riesgos y grado de riesgo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04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23042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 sep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12848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Representante y capacitación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529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2852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 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12848" y="2852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Monitoreo, aviso 24 h, BC y efectivo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0156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4015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34015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 14 sep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12848" y="3401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sectores, uno por uno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5020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3950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22 sep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12848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Autoridad, auditoría de efectividad y cierre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207008"/>
            <a:ext cx="2240280" cy="1783080"/>
          </a:xfrm>
          <a:prstGeom prst="roundRect">
            <a:avLst>
              <a:gd name="adj" fmla="val 307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3350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14 DE SEPTIEMBRE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16093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LUNES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6537960" y="212140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único cambio de día de todo el taller. Anótalo hoy.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3127248"/>
            <a:ext cx="2240280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236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37960" y="3474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16:00 a 18:00 h del centro, por Zoom. La liga está en tu plataforma, en la lección de cada sesión.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HORAS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vamos a hacer hoy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y encuadre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es tu cliente, y por qué identificar no es avisar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2037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hay que identificar · primer ejercicio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88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expediente: qué lleva y qué cambió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Padrón, abstención y verificación anual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TALLER: llenas tu expediente con un cliente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expediente al riesgo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123444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LLEVAS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627632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expediente armado con un cliente real, y tu lista de faltantes con nombre y apellido.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BLOQUE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 es tu cliente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identificar hay que saber a quién. Y hay que saber qué obligación se dispara, porque no es una sola.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 · 16:10 a 16:25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DEFINICIÓN QUE ABRE TODO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o Usuaria: los tres que caben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 o extranjera, residente o visitante. El anexo cambia según cuál sea.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56432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Mexicana, extranjera, de derecho público, o con régimen simplificado.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45352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Fideicomiso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Adicionado en 2025. Deja de ser una duda: es cliente, y tiene su propio anexo.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2735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«Cliente o Usuaria: cualquier persona física o moral, así como fideicomisos, que celebren actos u operaciones con quienes realicen Actividades Vulnerables.»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395020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50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9502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3, fracción III Bis · fracción adicionada el 16 de julio de 2025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FRECUENTE DEL GREMIO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 no es avisar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Pedir, verificar y guardar quién es tu cliente.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08483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regla general. El artículo 17 dice que las Actividades Vulnerables son, por tanto, objeto de identificación. El umbral es la excepción que cada fracción fija — y seis fracciones no tienen ninguno.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320040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2004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18, fracción 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3752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al SAT esa operación.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73752" y="208483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cuando se alcanza el umbral de aviso de tu propia fracción, que nunca es el mismo que el de identificación. A más tardar el día 17 del mes siguiente.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73752" y="320040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2004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17 · Artículo 18, fracción VI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221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Puedes tener obligación de identificar sin tener obligación de avisar. Nunca al revés.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BLOQUE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hay que identificar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Directa, verificada y cruzada contra el RFC. Y sabiendo sumar en ventanas de seis meses.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minutos · 16:25 a 16:45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«DE MANERA DIRECTA»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no puedes delegar la identificación sin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72184"/>
            <a:ext cx="384048" cy="38404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389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0432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identificas y conoces al cliente. No un tercero por ti, no el promotor, no la inmobiliaria aliada.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313432"/>
            <a:ext cx="384048" cy="38404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2311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7043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documento oficial vigente, del que recabas copia legible y cotejada contra el original.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80944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54680"/>
            <a:ext cx="384048" cy="38404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072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0432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quedó en el expediente, para efectos de una verificación, no ocurrió.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ADMITEN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Medios electrónicos, ópticos o de cualquier otra tecnología — pero el expediente se integra PREVIAMENTE, no después.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017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39128" y="3017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" y="397764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9776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" y="39776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18, fracción I · reformada el 16 de julio de 2025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VERIFICACIÓN QUE CASI NADIE HACE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cliente dice que hace, contra lo que dice su RFC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89888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«Para los casos en que se establezca una Relación de negocios, se solicitará a la Persona Cliente o Usuaria la información sobre su actividad u ocupación, basándose entre otros, en los avisos de inscripción y actualización de actividades presentados para efectos del Registro Federal de Contribuyentes.»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042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23042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18, fracción II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si hay Relación de negocios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3649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operación aislada no la genera. Y la fe pública queda excluida por definición.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6974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RFC es la vara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33649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cliente dice que vende ropa y su RFC dice servicios de construcción, ahí hay algo que preguntar.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6974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hay que dejar constancia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33649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basta consultarlo: hay que poder demostrar que se consultó, cuándo y qué salió.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 · VEINTE MINUTOS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suma de seis meses: cuándo se dispara la obligación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«La acumulación deberá considerar un periodo de hasta seis meses, debiéndose presentar el Aviso al momento de realizar la última operación con la que se alcance o supere el umbral, aun cuando no se haya agotado el periodo referido.»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201168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4F2EB"/>
          </a:solidFill>
          <a:ln w="12700">
            <a:solidFill>
              <a:srgbClr val="E4F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7 · reformado el 27 de marzo de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esperas al día 180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9077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va cuando se alcanza el umbral, no al cierre del periodo.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487168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suman las que cuentan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29077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acumulan únicamente las operaciones que individualmente caen en supuesto de identificación.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487168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umbral, todo acumula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29077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fracción no fija monto de identificación, todos los actos entran a la suma.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5020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 control es que alguien se acuerde, no tienes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 BLOQUE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expediente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Nueve anexos, ciento once requisitos y cuatro cosas que cambiaron el 7 de agosto.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minutos · 16:45 a 17:12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MADRE DEL EXPEDIENTE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expediente por cliente, y el anexo depende de quién sea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8132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80744" y="148132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 mexicana o residente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0440" y="14813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96596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80744" y="19659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mexicana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4505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II Bis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80744" y="245059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de derecho público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450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4 Bis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935224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93522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III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80744" y="293522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 extranjera visitante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9352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419856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41985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80744" y="341985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extranjera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41985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481328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48132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IV Bis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41264" y="148132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Embajada, consulado, organismo int.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14813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6 Bis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96596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V / V Bis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41264" y="19659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Régimen simplificado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19659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7 / 7 Bis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450592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4505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VI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41264" y="245059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Fideicomiso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450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935224"/>
            <a:ext cx="3977640" cy="402336"/>
          </a:xfrm>
          <a:prstGeom prst="roundRect">
            <a:avLst>
              <a:gd name="adj" fmla="val 13636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93522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fr. VII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41264" y="293522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Beneficiario Controlador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80960" y="29352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3 a 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120700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12070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88" y="1207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12 · exigible el 30 de noviembre de 2026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91363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931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 se integra ANTES o DURANTE la operación. Nunca después.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CAMBIÓ EL 7 DE AGOSTO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cosas, y sólo cuatro, que sí mueven tu operación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399032"/>
            <a:ext cx="292608" cy="29260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62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acabó la cédula profesional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7465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excluida expresamente del catálogo de identificaciones válidas, también para el apoderado.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23865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3, 4, 4 Bis, 5, 6, 6 Bis y 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399032"/>
            <a:ext cx="292608" cy="292608"/>
          </a:xfrm>
          <a:prstGeom prst="ellipse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62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cae la constancia de CURP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17465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se recaba cuando la CURP consta en otra identificación, como la credencial del INE.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23865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3, inciso b) ii)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862072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026664"/>
            <a:ext cx="292608" cy="29260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declarar a identificar el BC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33741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persona moral desaparece la constancia declarativa. Ya no basta preguntar y guardar la respuesta firmada.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40142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4 y 6, inciso b) v)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62072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3026664"/>
            <a:ext cx="292608" cy="29260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fideicomiso también tiene BC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33741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Numeral nuevo: si tu cliente es un fideicomiso, hay que identificar a su Beneficiario Controlador.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40142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8, inciso b) iv)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LECTURA QUE HAY QUE CORREGIR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Beneficiario Controlador no es nuevo. Cambió qué te exige.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920240" cy="2514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17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existía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" y="1874520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define al Beneficiario Controlador, y las Reglas vigentes ya obligan a integrarlo al expediente por la fracción VII del artículo 12.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" y="331012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3, fr. III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9464" y="1298448"/>
            <a:ext cx="1920240" cy="2514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417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jul 2025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15768" y="1874520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veinticinco por ciento del capital, control efectivo en última instancia, y equiparable a beneficiario final y propietario real.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15768" y="331012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3, fr. III reformada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36008" y="1298448"/>
            <a:ext cx="1920240" cy="2514600"/>
          </a:xfrm>
          <a:prstGeom prst="roundRect">
            <a:avLst>
              <a:gd name="adj" fmla="val 285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417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nov 2026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82312" y="1874520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persona moral y fideicomiso deja de bastar que el cliente lo declare: hay que identificarlo.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331012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12 fr. VII · Anexos 4, 6 y 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02552" y="1298448"/>
            <a:ext cx="1920240" cy="2514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417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mar 2027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48856" y="1874520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determina quién es: control efectivo, orden de prelación y cascada en fideicomisos.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48856" y="331012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Cap. III Quinquies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05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cambia no es que exista. Es que la constancia firmada por el cliente ya no te salva.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3342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es parejo: en persona física se conserva la constancia declarativa. El cambio es para persona moral y fideicomiso.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ENTRE HOY Y EL 8 DE SEPTIEMBRE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del Beneficiario Controlador va en tu expediente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datos recabas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y fideicomiso: primer y segundo apellido, nombre, fecha de nacimiento, país de nacionalidad, CURP y RFC. En todos los casos.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física: los datos de su propio anexo, y sólo si declara que existe y cuenta con la información.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456432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56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fr. VII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261872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716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EXCEPCIONES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6093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NO lo recabas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Cliente que cotiza en una bolsa de valores, si te da su clave de pizarra o identificador.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6334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Personas morales de los Anexos 4 Bis, 6 Bis, 7-A y 7 Bis A — derecho público y régimen simplificado.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456432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456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4488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Quinquies 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261872"/>
            <a:ext cx="26060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3716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 DE SEPTIEMBRE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6093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determina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920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niveles de prelación, el control por otros medios, la cadena corporativa y la cascada en fideicomisos.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el registro de tu propio Beneficiario Controlador ante Economía, que es otra obligación distinta.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456432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56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47688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III Quinquies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840480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953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Ojo con el 25%: no es un solo número.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1879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dice MÁS DEL 25% de los derechos de voto (L 3, fr. III). La Regla dice 25% O MÁS de la composición accionaria (RCG 23 Quinquies, fr. I). No se contradicen: miden cosas distintas.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DE PRELACIÓN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escalera: sólo bajas un escalón si el anterior no arrojó nada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2606040" cy="270662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371600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8836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 más de la composición accionaria o parte social. Directa o indirectamente, por cualquier título legal.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2779776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43784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socio con 60%: ahí termina. Cuatro socios con 25% exacto: los cuatro son Beneficiario Controlador, porque dice «o más».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" y="367588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758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6758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Quinquies, fr. 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344168"/>
            <a:ext cx="2606040" cy="270662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1490472"/>
            <a:ext cx="420624" cy="420624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977640" y="1563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200253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controla por otros medios, con funciones ligadas a la estrategia, la toma de decisiones y las principales políticas.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56432" y="289864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962656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socios con 10% cada uno, pero un pacto de accionistas le da a uno el control de la asamblea: ése 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56432" y="379476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37947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86200" y="3794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Quinquies, fr. II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2606040" cy="2706624"/>
          </a:xfrm>
          <a:prstGeom prst="roundRect">
            <a:avLst>
              <a:gd name="adj" fmla="val 2105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1609344"/>
            <a:ext cx="420624" cy="420624"/>
          </a:xfrm>
          <a:prstGeom prst="ellipse">
            <a:avLst/>
          </a:prstGeom>
          <a:solidFill>
            <a:srgbClr val="8A5A12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76656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DIRECCIÓN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5352" y="21214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ocupa la posición de funcionario administrativo de mayor grado o de alta dirección.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5352" y="30175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8152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llega al 25% y no hay pactos ni control demostrable: el director general. Por eso nunca hay «no hay».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5352" y="3913632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3913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3913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Quinquies, fr. III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242816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24281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«Por lo menos el siguiente orden de prelación» — es un mínimo, no un menú. Y hay que documentar el procedimiento, no sólo el resultado.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CASOS QUE ROMPEN EL EXPEDIENTE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Ocho situaciones reales, y dónde está la respuesta de cada una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se niega a dar información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9224" y="166420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664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documento trae tachaduras o enmendaduras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166420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664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1122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actúa por cuenta de otro y no lo dijo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" y="244144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4414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4414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22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1122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lo identificó otra empresa de mi grupo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9744" y="244144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4414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9512" y="24414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283464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28895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 a nombre de los trabajadores del cliente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" y="321868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3218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32186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83464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8895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 a distancia, nunca veo al cliente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9744" y="321868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2186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9512" y="32186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61188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3666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cliente es de bajo o de riesgo medio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" y="399592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39959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39959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17 y 17 Bis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3666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fedatario y no tengo Relación de negocios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9744" y="399592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9959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39512" y="39959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13 y 13 Bis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315968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3159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ocho vienen desarrollados en la hoja «Casos difíciles» del Instrumento que se llevan hoy.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COMPLETA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expediente al acuse: la cadena que reconstruye una operación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344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545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29844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344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19856" y="1545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y RFC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29844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344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8776" y="1545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del acto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195681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0025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" y="2203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195681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20025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856" y="2203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95681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20025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08776" y="2203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26151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6609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Acumulación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26151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26609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19856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y acuse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26151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26609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08776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Resguardo 10 años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3101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3101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pasos 5 y 6 no son norma: son método nuestro. El resto sí tiene artículo, y cada uno está en la hoja «Trazabilidad» del Instrumento.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04164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4041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463040" y="404164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63040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92808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fr. II y IV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0" y="404164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4F2EB"/>
          </a:solidFill>
          <a:ln w="12700">
            <a:solidFill>
              <a:srgbClr val="E4F2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87368" y="4041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10 Bis · 20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39776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falta un eslabón, la operación no se puede reconstruir.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AUTORIDAD YA DA POR CIERTO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CFDI juega en tu contra antes de que abras la boca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«El SAT presumirá como cierta la información contenida en los comprobantes fiscales digitales por internet y en las bases de datos que lleven o tengan en su poder o a las que tengan acceso.»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4F2EB"/>
          </a:solidFill>
          <a:ln w="12700">
            <a:solidFill>
              <a:srgbClr val="E4F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957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23957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10 Bis, párrafo final · adicionado el 27 de marzo de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que probarlo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" y="3456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presume cierto. Quien tiene que desvirtuarlo eres tú.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7889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decirte qué consultó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56432" y="3456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obligado a revelarte qué bases usó, cuando la información la generaste tú mismo.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7889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todo debe cuadrar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3456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monto del CFDI, el del aviso y el del expediente tienen que ser el mismo número.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TIEMPO, DESDE CUÁNDO Y DÓNDE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Diez años, y el detalle que casi nadie leyó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años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plazo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20482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Contados desde la fecha de realización de la Actividad Vulnerable. No desde el cierre del ejercicio, ni desde que terminó la relación.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excepción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56432" y="1801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queda fuera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56432" y="20482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fracción XIV del artículo 17 —comercio exterior— es la única exceptuada de este plazo.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domicilio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5352" y="1801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guarda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45352" y="20482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domicilio registrado ante la Secretaría. Si ése no coincide con el del RFC, tu expediente no está donde debe estar.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7180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«…deberá conservarse de manera física o electrónica, en el domicilio registrado ante la Secretaría para este efecto, excepto para la fracción XIV del artículo 17 de esta Ley, por al menos un plazo de diez años contado a partir de la fecha de la realización de la Actividad Vulnerable.»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18, párrafo posterior a las fracciones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88620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4F2EB"/>
          </a:solidFill>
          <a:ln w="12700">
            <a:solidFill>
              <a:srgbClr val="E4F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8862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36008" y="38862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20 · avisos, soporte y acuses, diez años desde la presentación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CUARTO BLOQUE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Padrón, abstención y verificación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obligaciones cortas que se olvidan justo porque son cortas.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minutos · 17:12 a 17:20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PADRÓN Y LA TRAMPA DE LOS DOS DOMICILIOS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y SPPLD son dos sistemas distintos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registro fiscal. Lo actualizas en el portal del SAT.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éste NO actualiza el otro.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SPPLD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73752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alta, modificación y baja en el Padrón, por el Portal en Internet.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donde te van a buscar primero.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0632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18, fracción IV Bis · fracción adicionada en 2025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478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tarea de esta semana: entra a los dos y compara el domicilio, letra por letra.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de las pocas cosas de todo el taller que se resuelven en veinte minutos y que, si no las haces, te cuestan aunque hayas cumplido todo lo demás.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ARTÍCULOS 21 QUE NO SON EL MISMO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 te manda parar; el otro te manda revisar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21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deber de abstenerse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cliente se niega a darte la información o la documentación que necesitas para cumplir, te abstienes de llevar a cabo el acto u operación.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«Sin responsabilidad alguna.»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que puedas negarte: es que debes, y la Ley te cubre.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3977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41732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4173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5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417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21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verificación anual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73752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menos una vez al año, verificas que los expedientes de tus clientes con Relación de negocios tengan todos los datos y documentos.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es obligatoria.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Instrumento de hoy es, literalmente, el formato con el que se hace.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cada cita lleva su marca. El 21 de la Ley y el 21 de las Reglas no tienen nada que ver.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QUINTO BLOQUE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taller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hora. Ustedes trabajan, yo resuelvo dudas.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minutos · 17:20 a 17:50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LLENA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pasos, treinta minutos, un número al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310896" cy="310896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el Instrumento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0" y="1307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«Instrumento». Es el Excel que descargaste de la plataforma.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tu tipo de cliente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celda amarilla. Es la única que manda: el filtro se acomoda solo.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7860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06624"/>
            <a:ext cx="310896" cy="310896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por «Sí»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26243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trabajas los renglones que te aplican. Los demás se apagan.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36976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64992"/>
            <a:ext cx="310896" cy="310896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 «¿Lo tengo?»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0" y="32826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Parcial, No o No aplica. Y anota dónde está cada cosa.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89534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023360"/>
            <a:ext cx="310896" cy="310896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«Mi brecha»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26080" y="3941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Ahí sale tu número y tu semáforo.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1261872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TRABAJAMOS JUNTOS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moral mexicana — Anexo 4, 20 requisitos con los del BC.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luego la variante: fideicomiso, Anexo 8.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090672"/>
            <a:ext cx="2651760" cy="1298448"/>
          </a:xfrm>
          <a:prstGeom prst="roundRect">
            <a:avLst>
              <a:gd name="adj" fmla="val 4225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218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tu cliente más complicado, no el más fácil. El fácil no te enseña nada.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B3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expediente al riesgo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el instrumento. La semana que entra viene el método que lo sostiene.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 · 17:50 a 18:00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SIGUE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instrumento sin metodología no se defiende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— Sesión 1 · 18 de agosto de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Sabes qué documentos van en el expediente y cuáles te faltan.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sabes que es exigible el 30 de noviembre de 2026, en 104 días.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25 DE AGOSTO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Sabrás por qué ese cliente es de riesgo bajo, medio o alto — y podrás justificarlo.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3752" y="25420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la Matriz de riesgo con su metodología. Instrumento y método el mismo día, a propósito.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tarea: llena el Instrumento con dos clientes más antes del martes. Uno fácil y uno que te dé miedo.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Identifica. Documenta. Demuestra.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 es el primer piso. Si está mal, todo lo que construyas encima se cae.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Quedan 104 días para el 30 de noviembre de 2026.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sesión: martes 25 de agosto · Metodología de riesgos y grado de riesgo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· LEXQUO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S01 · Identificación del cliente y expediente</dc:title>
  <dc:subject>PptxGenJS Presentation</dc:subject>
  <dc:creator>GMC360 · 360Educa</dc:creator>
  <cp:lastModifiedBy>GMC360 · 360Educa</cp:lastModifiedBy>
  <cp:revision>1</cp:revision>
  <dcterms:created xsi:type="dcterms:W3CDTF">2026-08-18T05:41:19Z</dcterms:created>
  <dcterms:modified xsi:type="dcterms:W3CDTF">2026-08-18T05:41:19Z</dcterms:modified>
</cp:coreProperties>
</file>