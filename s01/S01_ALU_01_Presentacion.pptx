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3444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SESIÓN 1 · TALLER ANTILAVADO 360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5727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Identificación del cliente y expediente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48716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único del núcleo del cliente que se vuelve exigible en 104 días.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38862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Martes 18 de agosto de 2026 · 16:00 a 18:00 h (CDMX) · Zoom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4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Maribel Vázquez · GMC360  |  ASONOC  |  360Educa  |  LEXQUO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PRIMERO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calendario definitivo: son siete sesiones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4736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GMC360 · 360Educa · ASONOC — Sesión 1 · 18 de agosto de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1207008"/>
            <a:ext cx="56692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207008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120700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18 ago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212848" y="12070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Identificación del cliente y expediente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56692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755648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87552" y="175564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25 ago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212848" y="175564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Metodología de riesgos y grado de riesgo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304288"/>
            <a:ext cx="56692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" y="2304288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87552" y="230428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1 sep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212848" y="230428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Manual, Representante y capacitación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2852928"/>
            <a:ext cx="56692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" y="2852928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87552" y="285292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8 sep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212848" y="285292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Monitoreo, aviso 24 h, BC y efectivo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401568"/>
            <a:ext cx="5669280" cy="457200"/>
          </a:xfrm>
          <a:prstGeom prst="roundRect">
            <a:avLst>
              <a:gd name="adj" fmla="val 12000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" y="3401568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5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87552" y="34015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 14 sep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212848" y="340156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sectores, uno por uno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3950208"/>
            <a:ext cx="56692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" y="3950208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87552" y="395020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22 sep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212848" y="39502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Autoridad, auditoría de efectividad y cierre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0" y="1207008"/>
            <a:ext cx="2240280" cy="1600200"/>
          </a:xfrm>
          <a:prstGeom prst="roundRect">
            <a:avLst>
              <a:gd name="adj" fmla="val 3429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37960" y="13258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14 DE SEPTIEMBRE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537960" y="159105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 LUNES</a:t>
            </a:r>
            <a:endParaRPr lang="en-US" sz="2300" dirty="0"/>
          </a:p>
        </p:txBody>
      </p:sp>
      <p:sp>
        <p:nvSpPr>
          <p:cNvPr id="32" name="Text 30"/>
          <p:cNvSpPr/>
          <p:nvPr/>
        </p:nvSpPr>
        <p:spPr>
          <a:xfrm>
            <a:off x="6537960" y="210312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el único cambio de día de todo el taller.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0" y="2944368"/>
            <a:ext cx="2240280" cy="1463040"/>
          </a:xfrm>
          <a:prstGeom prst="roundRect">
            <a:avLst>
              <a:gd name="adj" fmla="val 3750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37960" y="3054096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una buena noticia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537960" y="3310128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programa prometía seis sesiones. Se imparten siete, sin costo adicional.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HORAS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que vamos a hacer hoy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4736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GMC360 · 360Educa · ASONOC — Sesión 1 · 18 de agosto de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123444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16:00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23444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Calendario y encuadre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171907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71600" y="171907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Quién es tu cliente, y por qué identificar no es avisar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2203704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16:25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2203704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hay que identificar · primer ejercicio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02920" y="268833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16:45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371600" y="2688336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expediente: qué lleva y qué cambió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2920" y="317296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17:10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317296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Padrón, abstención y verificación anual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02920" y="36576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17:20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371600" y="365760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TALLER: llenas tu expediente con un cliente real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" y="414223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17:50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414223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expediente al riesgo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629400" y="1234440"/>
            <a:ext cx="2011680" cy="2103120"/>
          </a:xfrm>
          <a:prstGeom prst="roundRect">
            <a:avLst>
              <a:gd name="adj" fmla="val 2727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0" y="135331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 LLEVAS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766560" y="1627632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expediente armado con un cliente real, y tu lista de faltantes con nombre y apellido.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B30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48640" y="17830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 BLOQUE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205740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Quién es tu cliente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288036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identificar hay que saber a quién. Y hay que saber qué obligación se dispara, porque no es una sola.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minutos · 16:10 a 16:25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DEFINICIÓN QUE ABRE TODO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Cliente o Usuaria: los tres que caben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4736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GMC360 · 360Educa · ASONOC — Sesión 1 · 18 de agosto de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1298448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512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67512" y="1828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física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" y="212140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Nacional o extranjera, residente o visitante. El anexo cambia según cuál sea.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1298448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56432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456432" y="1828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moral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456432" y="212140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Mexicana, extranjera, de derecho público, o con régimen simplificado.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80760" y="1298448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45352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245352" y="1828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Fideicomiso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45352" y="212140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Adicionado en 2025. Deja de ser una duda: es cliente, y tiene su propio anexo.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3127248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F4F6FA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3273552"/>
            <a:ext cx="7726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«Cliente o Usuaria: cualquier persona física o moral, así como fideicomisos, que celebren actos u operaciones con quienes realicen Actividades Vulnerables.»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13232" y="3950208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E3E9F7"/>
          </a:solidFill>
          <a:ln w="12700">
            <a:solidFill>
              <a:srgbClr val="E3E9F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" y="395020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43000" y="3950208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Artículo 3, fracción III Bis · fracción adicionada el 16 de julio de 2025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ERROR MÁS FRECUENTE DEL GREMIO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Identificar no es avisar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4736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GMC360 · 360Educa · ASONOC — Sesión 1 · 18 de agosto de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397764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3716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B5E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13232" y="16916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Pedir, verificar y guardar quién es tu cliente.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13232" y="2084832"/>
            <a:ext cx="3566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la regla general. El artículo 17 dice que las Actividades Vulnerables son, por tanto, objeto de identificación. El umbral es la excepción que cada fracción fija — y seis fracciones no tienen ninguno.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13232" y="3200400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E3E9F7"/>
          </a:solidFill>
          <a:ln w="12700">
            <a:solidFill>
              <a:srgbClr val="E3E9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320040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43000" y="3200400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Artículo 18, fracción I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63440" y="1234440"/>
            <a:ext cx="397764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73752" y="13716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AVISAR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73752" y="16916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Reportar al SAT esa operación.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873752" y="2084832"/>
            <a:ext cx="3566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Sólo cuando se alcanza el umbral de aviso de tu propia fracción, que nunca es el mismo que el de identificación. A más tardar el día 17 del mes siguiente.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873752" y="3200400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E3E9F7"/>
          </a:solidFill>
          <a:ln w="12700">
            <a:solidFill>
              <a:srgbClr val="E3E9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73752" y="320040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303520" y="3200400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Artículo 17 · Artículo 18, fracción VI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370332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3822192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5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Puedes tener obligación de identificar sin tener obligación de avisar. Nunca al revés.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B30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48640" y="17830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SEGUNDO BLOQUE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205740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Cómo hay que identificar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288036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Directa, verificada y cruzada contra el RFC. Y sabiendo sumar en ventanas de seis meses.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minutos · 16:25 a 16:45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SIGNIFICA «DE MANERA DIRECTA»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 no puedes delegar la identificación sin control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4736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GMC360 · 360Educa · ASONOC — Sesión 1 · 18 de agosto de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1298448"/>
            <a:ext cx="53949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472184"/>
            <a:ext cx="384048" cy="384048"/>
          </a:xfrm>
          <a:prstGeom prst="ellipse">
            <a:avLst/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472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13898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Directa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170432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Tú identificas y conoces al cliente. No un tercero por ti, no el promotor, no la inmobiliaria aliada.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139696"/>
            <a:ext cx="53949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313432"/>
            <a:ext cx="384048" cy="384048"/>
          </a:xfrm>
          <a:prstGeom prst="ellipse">
            <a:avLst/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22311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Verificada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170432" y="24871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 documento oficial vigente, del que recabas copia legible y cotejada contra el original.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2920" y="2980944"/>
            <a:ext cx="53949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3154680"/>
            <a:ext cx="384048" cy="384048"/>
          </a:xfrm>
          <a:prstGeom prst="ellipse">
            <a:avLst/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70432" y="307238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Documentada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170432" y="332841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no quedó en el expediente, para efectos de una verificación, no ocurrió.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26480" y="1298448"/>
            <a:ext cx="2514600" cy="2103120"/>
          </a:xfrm>
          <a:prstGeom prst="roundRect">
            <a:avLst>
              <a:gd name="adj" fmla="val 2609"/>
            </a:avLst>
          </a:prstGeom>
          <a:solidFill>
            <a:srgbClr val="F4F6FA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09360" y="14173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ADMITEN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309360" y="169164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Medios electrónicos, ópticos o de cualquier otra tecnología — pero el expediente se integra PREVIAMENTE, no después.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309360" y="3017520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0" y="301752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C57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739128" y="3017520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Artículo 18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58368" y="3977640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E3E9F7"/>
          </a:solidFill>
          <a:ln w="12700">
            <a:solidFill>
              <a:srgbClr val="E3E9F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" y="397764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88136" y="3977640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Artículo 18, fracción I · reformada el 16 de julio de 2025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VERIFICACIÓN QUE CASI NADIE HACE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que el cliente dice que hace, contra lo que dice su RFC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4736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GMC360 · 360Educa · ASONOC — Sesión 1 · 18 de agosto de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389888"/>
            <a:ext cx="7726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«Para los casos en que se establezca una Relación de negocios, se solicitará a la Persona Cliente o Usuaria la información sobre su actividad u ocupación, basándose entre otros, en los avisos de inscripción y actualización de actividades presentados para efectos del Registro Federal de Contribuyentes.»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304288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E3E9F7"/>
          </a:solidFill>
          <a:ln w="12700">
            <a:solidFill>
              <a:srgbClr val="E3E9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30428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32688" y="2304288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Artículo 18, fracción II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2697480"/>
            <a:ext cx="260604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" y="28346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Sólo si hay Relación de negocios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67512" y="336499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operación aislada no la genera. Y la fe pública queda excluida por definición.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91840" y="2697480"/>
            <a:ext cx="260604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56432" y="28346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RFC es la vara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56432" y="336499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cliente dice que vende ropa y su RFC dice servicios de construcción, ahí hay algo que preguntar.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80760" y="2697480"/>
            <a:ext cx="2606040" cy="1691640"/>
          </a:xfrm>
          <a:prstGeom prst="roundRect">
            <a:avLst>
              <a:gd name="adj" fmla="val 3243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45352" y="28346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hay que dejar constancia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245352" y="336499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basta consultarlo: hay que poder demostrar que se consultó, cuándo y qué salió.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 1 · VEINTE MINUTOS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suma de seis meses: cuándo se dispara la obligación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4736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GMC360 · 360Educa · ASONOC — Sesión 1 · 18 de agosto de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A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353312"/>
            <a:ext cx="7726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«La acumulación deberá considerar un periodo de hasta seis meses, debiéndose presentar el Aviso al momento de realizar la última operación con la que se alcance o supere el umbral, aun cuando no se haya agotado el periodo referido.»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13232" y="2011680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E4F2EB"/>
          </a:solidFill>
          <a:ln w="12700">
            <a:solidFill>
              <a:srgbClr val="E4F2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201168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5C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43000" y="2011680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Artículo 7 · reformado el 27 de marzo de 2026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2487168"/>
            <a:ext cx="260604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" y="2606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esperas al día 180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67512" y="2907792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aviso va cuando se alcanza el umbral, no al cierre del periodo.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91840" y="2487168"/>
            <a:ext cx="260604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56432" y="2606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Sólo suman las que cuentan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56432" y="2907792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acumulan únicamente las operaciones que individualmente caen en supuesto de identificación.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80760" y="2487168"/>
            <a:ext cx="260604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45352" y="2606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umbral, todo acumula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245352" y="2907792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tu fracción no fija monto de identificación, todos los actos entran a la suma.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3950208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 tu control es que alguien se acuerde, no tienes control.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B30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48640" y="17830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TERCER BLOQUE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205740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expediente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288036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Nueve anexos, ciento once requisitos y cuatro cosas que cambiaron el 7 de agosto.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minutos · 16:45 a 17:12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REGLA MADRE DEL EXPEDIENTE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expediente por cliente, y el anexo depende de quién sea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4736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GMC360 · 360Educa · ASONOC — Sesión 1 · 18 de agosto de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397764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1481328"/>
            <a:ext cx="749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fr. I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380744" y="1481328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física mexicana o residente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520440" y="14813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Anexo 3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965960"/>
            <a:ext cx="397764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2648" y="1965960"/>
            <a:ext cx="749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fr. II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380744" y="196596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moral mexicana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520440" y="19659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Anexo 4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2450592"/>
            <a:ext cx="397764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" y="2450592"/>
            <a:ext cx="749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fr. II Bis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380744" y="2450592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moral de derecho público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520440" y="245059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Anexo 4 Bis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2935224"/>
            <a:ext cx="397764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" y="2935224"/>
            <a:ext cx="749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fr. III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380744" y="2935224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física extranjera visitante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520440" y="29352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Anexo 5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02920" y="3419856"/>
            <a:ext cx="397764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" y="3419856"/>
            <a:ext cx="749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fr. IV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380744" y="3419856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moral extranjera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520440" y="341985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Anexo 6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663440" y="1481328"/>
            <a:ext cx="397764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73168" y="1481328"/>
            <a:ext cx="749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fr. IV Bis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541264" y="1481328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Embajada, consulado, organismo int.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680960" y="14813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Anexo 6 Bis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1965960"/>
            <a:ext cx="397764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73168" y="1965960"/>
            <a:ext cx="749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fr. V / V Bis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541264" y="196596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Régimen simplificado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680960" y="19659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Anexo 7 / 7 Bis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663440" y="2450592"/>
            <a:ext cx="397764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73168" y="2450592"/>
            <a:ext cx="749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fr. VI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541264" y="2450592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Fideicomiso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680960" y="245059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Anexo 8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63440" y="2935224"/>
            <a:ext cx="3977640" cy="402336"/>
          </a:xfrm>
          <a:prstGeom prst="roundRect">
            <a:avLst>
              <a:gd name="adj" fmla="val 13636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73168" y="2935224"/>
            <a:ext cx="749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fr. VII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541264" y="2935224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Beneficiario Controlador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680960" y="29352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Anexos 3 a 8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02920" y="1207008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2920" y="120700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C57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932688" y="1207008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Artículo 12 · exigible el 30 de noviembre de 2026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663440" y="3913632"/>
            <a:ext cx="3977640" cy="566928"/>
          </a:xfrm>
          <a:prstGeom prst="roundRect">
            <a:avLst>
              <a:gd name="adj" fmla="val 9677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28032" y="3931920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expediente se integra ANTES o DURANTE la operación. Nunca después.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CAMBIÓ EL 7 DE AGOSTO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Cuatro cosas, y sólo cuatro, que sí mueven tu operación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4736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GMC360 · 360Educa · ASONOC — Sesión 1 · 18 de agosto de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39776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399032"/>
            <a:ext cx="292608" cy="292608"/>
          </a:xfrm>
          <a:prstGeom prst="ellipse">
            <a:avLst/>
          </a:prstGeom>
          <a:solidFill>
            <a:srgbClr val="B3261E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36245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acabó la cédula profesional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51560" y="1746504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Queda excluida expresamente del catálogo de identificaciones válidas, también para el apoderado.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051560" y="2386584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Anexos 3, 4, 4 Bis, 5, 6, 6 Bis y 8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28032" y="1399032"/>
            <a:ext cx="292608" cy="292608"/>
          </a:xfrm>
          <a:prstGeom prst="ellipse">
            <a:avLst/>
          </a:prstGeom>
          <a:solidFill>
            <a:srgbClr val="1B5E3F"/>
          </a:solidFill>
          <a:ln w="12700">
            <a:solidFill>
              <a:srgbClr val="1B5E3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12080" y="136245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cae la constancia de CURP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212080" y="1746504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 no se recaba cuando la CURP consta en otra identificación, como la credencial del INE.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212080" y="2386584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Anexo 3, inciso b) ii)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2920" y="2862072"/>
            <a:ext cx="39776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7512" y="3026664"/>
            <a:ext cx="292608" cy="292608"/>
          </a:xfrm>
          <a:prstGeom prst="ellipse">
            <a:avLst/>
          </a:prstGeom>
          <a:solidFill>
            <a:srgbClr val="B3261E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29900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declarar a identificar el BC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051560" y="3374136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persona moral desaparece la constancia declarativa. Ya no basta preguntar y guardar la respuesta firmada.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051560" y="401421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Anexos 4 y 6, inciso b) v)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63440" y="2862072"/>
            <a:ext cx="39776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28032" y="3026664"/>
            <a:ext cx="292608" cy="292608"/>
          </a:xfrm>
          <a:prstGeom prst="ellipse">
            <a:avLst/>
          </a:prstGeom>
          <a:solidFill>
            <a:srgbClr val="B3261E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12080" y="29900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fideicomiso también tiene BC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212080" y="3374136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Numeral nuevo: si tu cliente es un fideicomiso, hay que identificar a su Beneficiario Controlador.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212080" y="401421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Anexo 8, inciso b) iv)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LECTURA QUE HAY QUE CORREGIR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Beneficiario Controlador no es nuevo. Cambió qué te exige.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4736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GMC360 · 360Educa · ASONOC — Sesión 1 · 18 de agosto de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1298448"/>
            <a:ext cx="1920240" cy="25146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17320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 existía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9224" y="1874520"/>
            <a:ext cx="16276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Ley define al Beneficiario Controlador, y las Reglas vigentes ya obligan a integrarlo al expediente por la fracción VII del artículo 12.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9224" y="331012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3, fr. III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9464" y="1298448"/>
            <a:ext cx="1920240" cy="25146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15768" y="1417320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5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 jul 2025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715768" y="1874520"/>
            <a:ext cx="16276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del veinticinco por ciento del capital, control efectivo en última instancia, y equiparable a beneficiario final y propietario real.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15768" y="331012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3, fr. III reformada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636008" y="1298448"/>
            <a:ext cx="1920240" cy="2514600"/>
          </a:xfrm>
          <a:prstGeom prst="roundRect">
            <a:avLst>
              <a:gd name="adj" fmla="val 2857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82312" y="1417320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nov 2026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82312" y="1874520"/>
            <a:ext cx="16276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persona moral y fideicomiso deja de bastar que el cliente lo declare: hay que identificarlo.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82312" y="331012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12 fr. VII · Anexos 4, 6 y 8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702552" y="1298448"/>
            <a:ext cx="1920240" cy="25146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48856" y="1417320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mar 2027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848856" y="1874520"/>
            <a:ext cx="16276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se determina quién es: control efectivo, orden de prelación y cascada en fideicomisos.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48856" y="331012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Cap. III Quinquies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02920" y="3950208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4005072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5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que cambia no es que exista. Es que la constancia firmada por el cliente ya no te salva.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433425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es parejo: en persona física se conserva la constancia declarativa. El cambio es para persona moral y fideicomiso.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LÍNEA ENTRE HOY Y EL 8 DE SEPTIEMBRE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del Beneficiario Controlador va en tu expediente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4736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GMC360 · 360Educa · ASONOC — Sesión 1 · 18 de agosto de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2606040" cy="242316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85800" y="1609344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datos recabas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192024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moral y fideicomiso: primer y segundo apellido, nombre, fecha de nacimiento, país de nacionalidad, CURP y RFC. En todos los casos.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2852928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física: los datos de su propio anexo, y sólo si declara que existe y cuenta con la información.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85800" y="3456432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345643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C57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15568" y="345643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fr. VII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91840" y="1261872"/>
            <a:ext cx="2606040" cy="2423160"/>
          </a:xfrm>
          <a:prstGeom prst="roundRect">
            <a:avLst>
              <a:gd name="adj" fmla="val 2264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0" y="1371600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DOS EXCEPCIONES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474720" y="1609344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5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Cuándo NO lo recabas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474720" y="19202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Cliente que cotiza en una bolsa de valores, si te da su clave de pizarra o identificador.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474720" y="2633472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Personas morales de los Anexos 4 Bis, 6 Bis, 7-A y 7 Bis A — derecho público y régimen simplificado.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474720" y="3456432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74720" y="345643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C57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904488" y="345643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Quinquies 2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035040" y="1261872"/>
            <a:ext cx="2606040" cy="242316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0" y="1371600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8 DE SEPTIEMBRE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0" y="1609344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64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Cómo se determina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217920" y="19202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tres niveles de prelación, el control por otros medios, la cadena corporativa y la cascada en fideicomisos.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17920" y="272491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el registro de tu propio Beneficiario Controlador ante Economía, que es otra obligación distinta.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217920" y="3456432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0" y="345643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C57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47688" y="345643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Cap. III Quinquies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02920" y="3840480"/>
            <a:ext cx="8138160" cy="841248"/>
          </a:xfrm>
          <a:prstGeom prst="roundRect">
            <a:avLst>
              <a:gd name="adj" fmla="val 6522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389534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Ojo con el 25%: no es un solo número.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77240" y="4187952"/>
            <a:ext cx="7589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Ley dice MÁS DEL 25% de los derechos de voto (L 3, fr. III). La Regla dice 25% O MÁS de la composición accionaria (RCG 23 Quinquies, fr. I). No se contradicen: miden cosas distintas.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CASOS QUE ROMPEN EL EXPEDIENTE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Ocho situaciones reales, y dónde está la respuesta de cada una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4736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GMC360 · 360Educa · ASONOC — Sesión 1 · 18 de agosto de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397764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33502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cliente se niega a dar información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49224" y="1664208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E3E9F7"/>
          </a:solidFill>
          <a:ln w="12700">
            <a:solidFill>
              <a:srgbClr val="E3E9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" y="166420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78992" y="1664208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Artículo 21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397764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9744" y="133502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documento trae tachaduras o enmendaduras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809744" y="1664208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9744" y="166420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C57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239512" y="1664208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Artículo 12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2057400"/>
            <a:ext cx="397764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" y="211226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cliente actúa por cuenta de otro y no lo dijo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9224" y="2441448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" y="244144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C57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78992" y="2441448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Artículo 22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3440" y="2057400"/>
            <a:ext cx="397764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9744" y="211226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 lo identificó otra empresa de mi grupo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809744" y="2441448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9744" y="244144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C57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239512" y="2441448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Artículo 14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02920" y="2834640"/>
            <a:ext cx="397764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9224" y="288950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Opero a nombre de los trabajadores del cliente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9224" y="3218688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" y="321868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C57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78992" y="3218688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Artículo 16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663440" y="2834640"/>
            <a:ext cx="397764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9744" y="288950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es a distancia, nunca veo al cliente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809744" y="3218688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9744" y="321868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C57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239512" y="3218688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Artículo 18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02920" y="3611880"/>
            <a:ext cx="397764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9224" y="366674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 cliente es de bajo o de riesgo medio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49224" y="3995928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9224" y="399592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C57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78992" y="3995928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Artículo 17 y 17 Bis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663440" y="3611880"/>
            <a:ext cx="397764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09744" y="366674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Soy fedatario y no tengo Relación de negocios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4809744" y="3995928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09744" y="399592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C57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239512" y="3995928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Artículo 13 y 13 Bis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02920" y="4315968"/>
            <a:ext cx="813816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1520" y="431596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ocho vienen desarrollados en la hoja «Casos difíciles» del Instrumento que se llevan hoy.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OPERACIÓN COMPLETA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 expediente al acuse: la cadena que reconstruye una operación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4736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GMC360 · 360Educa · ASONOC — Sesión 1 · 18 de agosto de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1298448"/>
            <a:ext cx="26060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0936" y="1344168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30936" y="154533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Expediente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91840" y="1298448"/>
            <a:ext cx="26060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19856" y="1344168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19856" y="154533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Actividad y RFC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80760" y="1298448"/>
            <a:ext cx="26060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08776" y="1344168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208776" y="154533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Documento del acto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1956816"/>
            <a:ext cx="26060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002536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30936" y="22037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CFDI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91840" y="1956816"/>
            <a:ext cx="2606040" cy="566928"/>
          </a:xfrm>
          <a:prstGeom prst="roundRect">
            <a:avLst>
              <a:gd name="adj" fmla="val 9677"/>
            </a:avLst>
          </a:prstGeom>
          <a:solidFill>
            <a:srgbClr val="F4F6FA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19856" y="2002536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19856" y="22037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Pago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080760" y="1956816"/>
            <a:ext cx="2606040" cy="566928"/>
          </a:xfrm>
          <a:prstGeom prst="roundRect">
            <a:avLst>
              <a:gd name="adj" fmla="val 9677"/>
            </a:avLst>
          </a:prstGeom>
          <a:solidFill>
            <a:srgbClr val="F4F6FA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08776" y="2002536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208776" y="22037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Conciliación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02920" y="2615184"/>
            <a:ext cx="26060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" y="2660904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30936" y="2862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Acumulación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291840" y="2615184"/>
            <a:ext cx="26060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19856" y="2660904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419856" y="2862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 y acuse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080760" y="2615184"/>
            <a:ext cx="26060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08776" y="2660904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208776" y="2862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Resguardo 10 años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02920" y="3310128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331012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pasos 5 y 6 no son norma: son método nuestro. El resto sí tiene artículo, y cada uno está en la hoja «Trazabilidad» del Instrumento.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02920" y="4041648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2920" y="404164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C57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32688" y="404164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1463040" y="4041648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E3E9F7"/>
          </a:solidFill>
          <a:ln w="12700">
            <a:solidFill>
              <a:srgbClr val="E3E9F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463040" y="404164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892808" y="40416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fr. II y IV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657600" y="4041648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E4F2EB"/>
          </a:solidFill>
          <a:ln w="12700">
            <a:solidFill>
              <a:srgbClr val="E4F2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0" y="404164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5C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087368" y="40416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· 10 Bis · 20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577840" y="397764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 falta un eslabón, la operación no se puede reconstruir.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LA AUTORIDAD YA DA POR CIERTO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 CFDI juega en tu contra antes de que abras la boca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4736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GMC360 · 360Educa · ASONOC — Sesión 1 · 18 de agosto de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417320"/>
            <a:ext cx="7589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«El SAT presumirá como cierta la información contenida en los comprobantes fiscales digitales por internet y en las bases de datos que lleven o tengan en su poder o a las que tengan acceso.»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02920" y="2395728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E4F2EB"/>
          </a:solidFill>
          <a:ln w="12700">
            <a:solidFill>
              <a:srgbClr val="E4F2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39572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5C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32688" y="2395728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Artículo 10 Bis, párrafo final · adicionado el 27 de marzo de 2026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2788920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" y="29260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tiene que probarlo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67512" y="3456432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presume cierto. Quien tiene que desvirtuarlo eres tú.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91840" y="2788920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56432" y="29260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 decirte qué consultó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456432" y="3456432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está obligado a revelarte qué bases usó, cuando la información la generaste tú mismo.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80760" y="2788920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45352" y="29260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eso todo debe cuadrar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245352" y="3456432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monto del CFDI, el del aviso y el del expediente tienen que ser el mismo número.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CUÁNTO TIEMPO, DESDE CUÁNDO Y DÓNDE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Diez años, y el detalle que casi nadie leyó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4736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GMC360 · 360Educa · ASONOC — Sesión 1 · 18 de agosto de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137160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años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02920" y="197510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desde la realización de la Actividad Vulnerable, no desde el cierre del ejercicio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63240" y="137160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A5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salvo XIV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3063240" y="197510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única fracción exceptuada del plazo: comercio exterior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23560" y="137160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sistemas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623560" y="197510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domicilio registrado ante la Secretaría — que debe coincidir con el del RFC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" y="2834640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F4F6FA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926080"/>
            <a:ext cx="7726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«…deberá conservarse de manera física o electrónica, en el domicilio registrado ante la Secretaría para este efecto, excepto para la fracción XIV del artículo 17 de esta Ley, por al menos un plazo de diez años contado a partir de la fecha de la realización de la Actividad Vulnerable.»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822192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E3E9F7"/>
          </a:solidFill>
          <a:ln w="12700">
            <a:solidFill>
              <a:srgbClr val="E3E9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382219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32688" y="3822192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Artículo 18, párrafo posterior a las fracciones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206240" y="3822192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E4F2EB"/>
          </a:solidFill>
          <a:ln w="12700">
            <a:solidFill>
              <a:srgbClr val="E4F2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0" y="382219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5C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636008" y="3822192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Artículo 20 · avisos, soporte y acuses, diez años desde la presentación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2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B30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48640" y="17830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CUARTO BLOQUE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205740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Padrón, abstención y verificación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288036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obligaciones cortas que se olvidan justo porque son cortas.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minutos · 17:12 a 17:20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PADRÓN Y LA TRAMPA DE LOS DOS DOMICILIOS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RFC y SPPLD son dos sistemas distintos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4736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GMC360 · 360Educa · ASONOC — Sesión 1 · 18 de agosto de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397764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RFC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13232" y="18105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registro fiscal. Lo actualizas en el portal del SAT.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13232" y="228600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Actualizar éste NO actualiza el otro.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280160"/>
            <a:ext cx="397764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73752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SPPLD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873752" y="181051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alta, modificación y baja en el Padrón, por el Portal en Internet.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73752" y="228600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donde te van a buscar primero.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063240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E3E9F7"/>
          </a:solidFill>
          <a:ln w="12700">
            <a:solidFill>
              <a:srgbClr val="E3E9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306324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32688" y="3063240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Artículo 18, fracción IV Bis · fracción adicionada en 2025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342900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547872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5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 tarea de esta semana: entra a los dos y compara el domicilio, letra por letra.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7240" y="393192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de las pocas cosas de todo el taller que se resuelven en veinte minutos y que, si no las haces, te cuestan aunque hayas cumplido todo lo demás.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ARTÍCULOS 21 QUE NO SON EL MISMO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Uno te manda parar; el otro te manda revisar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4736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GMC360 · 360Educa · ASONOC — Sesión 1 · 18 de agosto de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397764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3232" y="1417320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E3E9F7"/>
          </a:solidFill>
          <a:ln w="12700">
            <a:solidFill>
              <a:srgbClr val="E3E9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41732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" y="1417320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Artículo 21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13232" y="16916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deber de abstenerse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13232" y="205740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cliente se niega a darte la información o la documentación que necesitas para cumplir, te abstienes de llevar a cabo el acto u operación.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13232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B5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«Sin responsabilidad alguna.»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3232" y="3200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 que puedas negarte: es que debes, y la Ley te cubre.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1280160"/>
            <a:ext cx="397764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73752" y="1417320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73752" y="141732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C57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303520" y="1417320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Artículo 21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73752" y="16916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verificación anual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873752" y="205740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menos una vez al año, verificas que los expedientes de tus clientes con Relación de negocios tengan todos los datos y documentos.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73752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8A5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 es obligatoria.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73752" y="3200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el Instrumento de hoy es, literalmente, el formato con el que se hace.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2920" y="3840480"/>
            <a:ext cx="8138160" cy="5486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3840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eso cada cita lleva su marca. El 21 de la Ley y el 21 de las Reglas no tienen nada que ver.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2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B30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48640" y="17830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QUINTO BLOQUE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205740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taller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288036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hora. Ustedes trabajan, yo resuelvo dudas.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minutos · 17:20 a 17:50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SE LLENA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Cinco pasos, treinta minutos, un número al final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4736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GMC360 · 360Educa · ASONOC — Sesión 1 · 18 de agosto de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25780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89888"/>
            <a:ext cx="310896" cy="310896"/>
          </a:xfrm>
          <a:prstGeom prst="ellipse">
            <a:avLst/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89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78992" y="13075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el Instrumento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926080" y="1307592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Hoja «Instrumento». Es el Excel que descargaste de la plataforma.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1920240"/>
            <a:ext cx="525780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048256"/>
            <a:ext cx="310896" cy="310896"/>
          </a:xfrm>
          <a:prstGeom prst="ellipse">
            <a:avLst/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048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78992" y="19659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Elige tu tipo de cliente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926080" y="196596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celda amarilla. Es la única que manda: el filtro se acomoda solo.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2578608"/>
            <a:ext cx="525780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06624"/>
            <a:ext cx="310896" cy="310896"/>
          </a:xfrm>
          <a:prstGeom prst="ellipse">
            <a:avLst/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066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789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Filtra por «Sí»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926080" y="262432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Sólo trabajas los renglones que te aplican. Los demás se apagan.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02920" y="3236976"/>
            <a:ext cx="525780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3364992"/>
            <a:ext cx="310896" cy="310896"/>
          </a:xfrm>
          <a:prstGeom prst="ellipse">
            <a:avLst/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364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78992" y="328269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Contesta «¿Lo tengo?»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926080" y="328269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Sí, Parcial, No o No aplica. Y anota dónde está cada cosa.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02920" y="3895344"/>
            <a:ext cx="525780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4023360"/>
            <a:ext cx="310896" cy="310896"/>
          </a:xfrm>
          <a:prstGeom prst="ellipse">
            <a:avLst/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023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78992" y="39410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 a «Mi brecha»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926080" y="3941064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Ahí sale tu número y tu semáforo.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989320" y="1261872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72200" y="13716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TRABAJAMOS JUNTOS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172200" y="16459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moral mexicana — Anexo 4, 20 requisitos con los del BC.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172200" y="2331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luego la variante: fideicomiso, Anexo 8.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989320" y="3090672"/>
            <a:ext cx="2651760" cy="1298448"/>
          </a:xfrm>
          <a:prstGeom prst="roundRect">
            <a:avLst>
              <a:gd name="adj" fmla="val 4225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72200" y="3218688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 tu cliente más complicado, no el más fácil. El fácil no te enseña nada.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2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B30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48640" y="17830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205740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 expediente al riesgo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288036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Tienes el instrumento. La semana que entra viene el método que lo sostiene.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minutos · 17:50 a 18:00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SIGUE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instrumento sin metodología no se defiende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4736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GMC360 · 360Educa · ASONOC — Sesión 1 · 18 de agosto de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39776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4173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13232" y="17373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Sabes qué documentos van en el expediente y cuáles te faltan.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13232" y="24688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sabes que es exigible el 30 de noviembre de 2026, en 104 días.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280160"/>
            <a:ext cx="3977640" cy="2103120"/>
          </a:xfrm>
          <a:prstGeom prst="roundRect">
            <a:avLst>
              <a:gd name="adj" fmla="val 2609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73752" y="14173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25 DE AGOSTO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873752" y="17373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Sabrás por qué ese cliente es de riesgo bajo, medio o alto — y podrás justificarlo.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873752" y="254203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Llega la Matriz de riesgo con su metodología. Instrumento y método el mismo día, a propósito.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56616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5661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5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 tarea: llena el Instrumento con dos clientes más antes del martes. Uno fácil y uno que te dé miedo.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2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00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Identifica. Documenta. Demuestra.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237744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expediente es el primer piso. Si está mal, todo lo que construyas encima se cae.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063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Quedan 104 días para el 30 de noviembre de 2026.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sesión: martes 25 de agosto · Metodología de riesgos y grado de riesgo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41148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4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GMC360 · 360Educa · ASONOC · LEXQUO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S01 · Identificación del cliente y expediente</dc:title>
  <dc:subject>PptxGenJS Presentation</dc:subject>
  <dc:creator>GMC360 · 360Educa</dc:creator>
  <cp:lastModifiedBy>GMC360 · 360Educa</cp:lastModifiedBy>
  <cp:revision>1</cp:revision>
  <dcterms:created xsi:type="dcterms:W3CDTF">2026-08-18T03:47:15Z</dcterms:created>
  <dcterms:modified xsi:type="dcterms:W3CDTF">2026-08-18T03:47:15Z</dcterms:modified>
</cp:coreProperties>
</file>